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Lst>
  <p:sldSz cy="6858000" cx="12192000"/>
  <p:notesSz cx="6858000" cy="9144000"/>
  <p:embeddedFontLst>
    <p:embeddedFont>
      <p:font typeface="Helvetica Neue"/>
      <p:regular r:id="rId20"/>
      <p:bold r:id="rId21"/>
      <p:italic r:id="rId22"/>
      <p:boldItalic r:id="rId2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D09011A5-49AC-419F-A634-65DB9785C07A}">
  <a:tblStyle styleId="{D09011A5-49AC-419F-A634-65DB9785C07A}"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20" Type="http://schemas.openxmlformats.org/officeDocument/2006/relationships/font" Target="fonts/HelveticaNeue-regular.fntdata"/><Relationship Id="rId11" Type="http://schemas.openxmlformats.org/officeDocument/2006/relationships/slide" Target="slides/slide6.xml"/><Relationship Id="rId22" Type="http://schemas.openxmlformats.org/officeDocument/2006/relationships/font" Target="fonts/HelveticaNeue-italic.fntdata"/><Relationship Id="rId10" Type="http://schemas.openxmlformats.org/officeDocument/2006/relationships/slide" Target="slides/slide5.xml"/><Relationship Id="rId21" Type="http://schemas.openxmlformats.org/officeDocument/2006/relationships/font" Target="fonts/HelveticaNeue-bold.fntdata"/><Relationship Id="rId13" Type="http://schemas.openxmlformats.org/officeDocument/2006/relationships/slide" Target="slides/slide8.xml"/><Relationship Id="rId12" Type="http://schemas.openxmlformats.org/officeDocument/2006/relationships/slide" Target="slides/slide7.xml"/><Relationship Id="rId23" Type="http://schemas.openxmlformats.org/officeDocument/2006/relationships/font" Target="fonts/HelveticaNeue-boldItalic.fntdata"/><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5" Type="http://schemas.openxmlformats.org/officeDocument/2006/relationships/notesMaster" Target="notesMasters/notesMaster1.xml"/><Relationship Id="rId19" Type="http://schemas.openxmlformats.org/officeDocument/2006/relationships/slide" Target="slides/slide14.xml"/><Relationship Id="rId6" Type="http://schemas.openxmlformats.org/officeDocument/2006/relationships/slide" Target="slides/slide1.xml"/><Relationship Id="rId18" Type="http://schemas.openxmlformats.org/officeDocument/2006/relationships/slide" Target="slides/slide13.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rgbClr val="000000"/>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 name="Google Shape;13;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Target: 0:20.</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Introduce the project as a controlled systems study of a compact two-layer neural network. The focus is not a new model: it is how locality, thread-level work, and MPI synchronization change training time.</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[Sources]</a:t>
            </a:r>
            <a:endParaRPr/>
          </a:p>
          <a:p>
            <a:pPr indent="0" lvl="0" marL="0" rtl="0" algn="l">
              <a:lnSpc>
                <a:spcPct val="100000"/>
              </a:lnSpc>
              <a:spcBef>
                <a:spcPts val="0"/>
              </a:spcBef>
              <a:spcAft>
                <a:spcPts val="0"/>
              </a:spcAft>
              <a:buSzPts val="1400"/>
              <a:buNone/>
            </a:pPr>
            <a:r>
              <a:rPr lang="en-US" sz="1200"/>
              <a:t>- /Users/rowantangalin/Desktop/parco_prep/Project report/p2d_report_conference_corrected.tex</a:t>
            </a:r>
            <a:endParaRPr/>
          </a:p>
          <a:p>
            <a:pPr indent="0" lvl="0" marL="0" rtl="0" algn="l">
              <a:lnSpc>
                <a:spcPct val="100000"/>
              </a:lnSpc>
              <a:spcBef>
                <a:spcPts val="0"/>
              </a:spcBef>
              <a:spcAft>
                <a:spcPts val="0"/>
              </a:spcAft>
              <a:buSzPts val="1400"/>
              <a:buNone/>
            </a:pPr>
            <a:r>
              <a:rPr lang="en-US" sz="1200"/>
              <a:t>- Cover visual generated with built-in ImageGen for this presentation; prompt recorded in .pptx_build/source-notes.txt</a:t>
            </a:r>
            <a:endParaRPr/>
          </a:p>
        </p:txBody>
      </p:sp>
      <p:sp>
        <p:nvSpPr>
          <p:cNvPr id="14" name="Google Shape;14;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 name="Shape 22"/>
        <p:cNvGrpSpPr/>
        <p:nvPr/>
      </p:nvGrpSpPr>
      <p:grpSpPr>
        <a:xfrm>
          <a:off x="0" y="0"/>
          <a:ext cx="0" cy="0"/>
          <a:chOff x="0" y="0"/>
          <a:chExt cx="0" cy="0"/>
        </a:xfrm>
      </p:grpSpPr>
      <p:sp>
        <p:nvSpPr>
          <p:cNvPr id="23" name="Google Shape;23;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 name="Google Shape;24;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Target: 1:10.</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The arithmetic and training loop remain the same across four implementations. The direct version is the reference. Tiling and transpose packing improve the local kernel. OpenMP adds shared-memory work sharing inside one mini-batch. MPI gives each process a data slice and a complete model, then synchronizes gradient sums.</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This structure lets the results answer three linked questions: how much locality helps, how the available work limits OpenMP, and how MPI synchronization changes the meaning of a batch.</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[Sources]</a:t>
            </a:r>
            <a:endParaRPr/>
          </a:p>
          <a:p>
            <a:pPr indent="0" lvl="0" marL="0" rtl="0" algn="l">
              <a:lnSpc>
                <a:spcPct val="100000"/>
              </a:lnSpc>
              <a:spcBef>
                <a:spcPts val="0"/>
              </a:spcBef>
              <a:spcAft>
                <a:spcPts val="0"/>
              </a:spcAft>
              <a:buSzPts val="1400"/>
              <a:buNone/>
            </a:pPr>
            <a:r>
              <a:rPr lang="en-US" sz="1200"/>
              <a:t>- /Users/rowantangalin/Desktop/parco_prep/Project report/p2d_report_conference_corrected.tex</a:t>
            </a:r>
            <a:endParaRPr/>
          </a:p>
          <a:p>
            <a:pPr indent="0" lvl="0" marL="0" rtl="0" algn="l">
              <a:lnSpc>
                <a:spcPct val="100000"/>
              </a:lnSpc>
              <a:spcBef>
                <a:spcPts val="0"/>
              </a:spcBef>
              <a:spcAft>
                <a:spcPts val="0"/>
              </a:spcAft>
              <a:buSzPts val="1400"/>
              <a:buNone/>
            </a:pPr>
            <a:r>
              <a:rPr lang="en-US" sz="1200"/>
              <a:t>- /Users/rowantangalin/Desktop/parco_prep/Project Code/README.md</a:t>
            </a:r>
            <a:endParaRPr/>
          </a:p>
        </p:txBody>
      </p:sp>
      <p:sp>
        <p:nvSpPr>
          <p:cNvPr id="25" name="Google Shape;25;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 name="Shape 37"/>
        <p:cNvGrpSpPr/>
        <p:nvPr/>
      </p:nvGrpSpPr>
      <p:grpSpPr>
        <a:xfrm>
          <a:off x="0" y="0"/>
          <a:ext cx="0" cy="0"/>
          <a:chOff x="0" y="0"/>
          <a:chExt cx="0" cy="0"/>
        </a:xfrm>
      </p:grpSpPr>
      <p:sp>
        <p:nvSpPr>
          <p:cNvPr id="38" name="Google Shape;38;g3f5ef52b553_0_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39" name="Google Shape;39;g3f5ef52b553_0_0: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0" name="Google Shape;40;g3f5ef52b553_0_0: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SzPts val="1800"/>
              <a:buFont typeface="Arial"/>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 name="Shape 44"/>
        <p:cNvGrpSpPr/>
        <p:nvPr/>
      </p:nvGrpSpPr>
      <p:grpSpPr>
        <a:xfrm>
          <a:off x="0" y="0"/>
          <a:ext cx="0" cy="0"/>
          <a:chOff x="0" y="0"/>
          <a:chExt cx="0" cy="0"/>
        </a:xfrm>
      </p:grpSpPr>
      <p:sp>
        <p:nvSpPr>
          <p:cNvPr id="45" name="Google Shape;45;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 name="Google Shape;46;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Target: 1:05.</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Define mini-batching in plain language. An epoch visits every sample. Instead of waiting until the whole dataset is finished, the program takes a small group, performs a forward pass, accumulates the backward gradients, and updates the weights once.</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The next mini-batch sees the updated weights, so batches are sequential. If the dataset does not divide evenly, the shorter final batch still produces one correctly normalized update.</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For 5,000 samples and batch 64, sequential and OpenMP perform 79 updates per epoch.</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[Sources]</a:t>
            </a:r>
            <a:endParaRPr/>
          </a:p>
          <a:p>
            <a:pPr indent="0" lvl="0" marL="0" rtl="0" algn="l">
              <a:lnSpc>
                <a:spcPct val="100000"/>
              </a:lnSpc>
              <a:spcBef>
                <a:spcPts val="0"/>
              </a:spcBef>
              <a:spcAft>
                <a:spcPts val="0"/>
              </a:spcAft>
              <a:buSzPts val="1400"/>
              <a:buNone/>
            </a:pPr>
            <a:r>
              <a:rPr lang="en-US" sz="1200"/>
              <a:t>- /Users/rowantangalin/Desktop/parco_prep/Project Code/src/train_seq.c</a:t>
            </a:r>
            <a:endParaRPr/>
          </a:p>
          <a:p>
            <a:pPr indent="0" lvl="0" marL="0" rtl="0" algn="l">
              <a:lnSpc>
                <a:spcPct val="100000"/>
              </a:lnSpc>
              <a:spcBef>
                <a:spcPts val="0"/>
              </a:spcBef>
              <a:spcAft>
                <a:spcPts val="0"/>
              </a:spcAft>
              <a:buSzPts val="1400"/>
              <a:buNone/>
            </a:pPr>
            <a:r>
              <a:rPr lang="en-US" sz="1200"/>
              <a:t>- /Users/rowantangalin/Desktop/parco_prep/Project Code/src/train_omp.c</a:t>
            </a:r>
            <a:endParaRPr/>
          </a:p>
          <a:p>
            <a:pPr indent="0" lvl="0" marL="0" rtl="0" algn="l">
              <a:lnSpc>
                <a:spcPct val="100000"/>
              </a:lnSpc>
              <a:spcBef>
                <a:spcPts val="0"/>
              </a:spcBef>
              <a:spcAft>
                <a:spcPts val="0"/>
              </a:spcAft>
              <a:buSzPts val="1400"/>
              <a:buNone/>
            </a:pPr>
            <a:r>
              <a:rPr lang="en-US" sz="1200"/>
              <a:t>- /Users/rowantangalin/Desktop/parco_prep/Project report/p2d_report_conference_corrected.tex</a:t>
            </a:r>
            <a:endParaRPr/>
          </a:p>
        </p:txBody>
      </p:sp>
      <p:sp>
        <p:nvSpPr>
          <p:cNvPr id="47" name="Google Shape;47;p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5" name="Google Shape;75;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Target: 1:15.</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The first optimization is local: tile the matrix operations and pack the required logical transposes so the innermost loops access contiguous data more effectively.</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OpenMP then divides output tiles among threads inside the current mini-batch. Each tile has exactly one owner, and that owner covers the full reduction dimension. This avoids atomics and private partial matrices.</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The amount of useful parallel work is therefore related to the shape and number of output tiles. A large reduction dimension alone does not guarantee that every thread has an output tile to own.</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[Sources]</a:t>
            </a:r>
            <a:endParaRPr/>
          </a:p>
          <a:p>
            <a:pPr indent="0" lvl="0" marL="0" rtl="0" algn="l">
              <a:lnSpc>
                <a:spcPct val="100000"/>
              </a:lnSpc>
              <a:spcBef>
                <a:spcPts val="0"/>
              </a:spcBef>
              <a:spcAft>
                <a:spcPts val="0"/>
              </a:spcAft>
              <a:buSzPts val="1400"/>
              <a:buNone/>
            </a:pPr>
            <a:r>
              <a:rPr lang="en-US" sz="1200"/>
              <a:t>- /Users/rowantangalin/Desktop/parco_prep/Project Code/src/math_omp.c</a:t>
            </a:r>
            <a:endParaRPr/>
          </a:p>
          <a:p>
            <a:pPr indent="0" lvl="0" marL="0" rtl="0" algn="l">
              <a:lnSpc>
                <a:spcPct val="100000"/>
              </a:lnSpc>
              <a:spcBef>
                <a:spcPts val="0"/>
              </a:spcBef>
              <a:spcAft>
                <a:spcPts val="0"/>
              </a:spcAft>
              <a:buSzPts val="1400"/>
              <a:buNone/>
            </a:pPr>
            <a:r>
              <a:rPr lang="en-US" sz="1200"/>
              <a:t>- /Users/rowantangalin/Desktop/parco_prep/Project Code/src/train_omp.c</a:t>
            </a:r>
            <a:endParaRPr/>
          </a:p>
          <a:p>
            <a:pPr indent="0" lvl="0" marL="0" rtl="0" algn="l">
              <a:lnSpc>
                <a:spcPct val="100000"/>
              </a:lnSpc>
              <a:spcBef>
                <a:spcPts val="0"/>
              </a:spcBef>
              <a:spcAft>
                <a:spcPts val="0"/>
              </a:spcAft>
              <a:buSzPts val="1400"/>
              <a:buNone/>
            </a:pPr>
            <a:r>
              <a:rPr lang="en-US" sz="1200"/>
              <a:t>- /Users/rowantangalin/Desktop/parco_prep/Project report/p2d_report_conference_corrected.tex</a:t>
            </a:r>
            <a:endParaRPr/>
          </a:p>
        </p:txBody>
      </p:sp>
      <p:sp>
        <p:nvSpPr>
          <p:cNvPr id="76" name="Google Shape;76;p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3" name="Google Shape;123;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Target: 1:35.</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Rank 0 creates the dataset and scatters a balanced contiguous slice to each rank. Every process holds a complete model initialized identically.</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In each synchronized round, every rank computes a gradient sum over one local mini-batch. One Allreduce sums the actual sample counts; four more Allreduces sum the hidden weights, hidden biases, output weights, and output biases. All ranks receive the same global sums and apply the same update, so the replicas stay synchronized.</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The command-line batch is local. With four ranks and local batch 64, one update uses up to 256 samples. This is the key semantic difference from sequential and OpenMP.</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[Sources]</a:t>
            </a:r>
            <a:endParaRPr/>
          </a:p>
          <a:p>
            <a:pPr indent="0" lvl="0" marL="0" rtl="0" algn="l">
              <a:lnSpc>
                <a:spcPct val="100000"/>
              </a:lnSpc>
              <a:spcBef>
                <a:spcPts val="0"/>
              </a:spcBef>
              <a:spcAft>
                <a:spcPts val="0"/>
              </a:spcAft>
              <a:buSzPts val="1400"/>
              <a:buNone/>
            </a:pPr>
            <a:r>
              <a:rPr lang="en-US" sz="1200"/>
              <a:t>- /Users/rowantangalin/Desktop/parco_prep/Project Code/src/main_mpi_train.c</a:t>
            </a:r>
            <a:endParaRPr/>
          </a:p>
          <a:p>
            <a:pPr indent="0" lvl="0" marL="0" rtl="0" algn="l">
              <a:lnSpc>
                <a:spcPct val="100000"/>
              </a:lnSpc>
              <a:spcBef>
                <a:spcPts val="0"/>
              </a:spcBef>
              <a:spcAft>
                <a:spcPts val="0"/>
              </a:spcAft>
              <a:buSzPts val="1400"/>
              <a:buNone/>
            </a:pPr>
            <a:r>
              <a:rPr lang="en-US" sz="1200"/>
              <a:t>- /Users/rowantangalin/Desktop/parco_prep/Project Code/src/train_mpi.c</a:t>
            </a:r>
            <a:endParaRPr/>
          </a:p>
          <a:p>
            <a:pPr indent="0" lvl="0" marL="0" rtl="0" algn="l">
              <a:lnSpc>
                <a:spcPct val="100000"/>
              </a:lnSpc>
              <a:spcBef>
                <a:spcPts val="0"/>
              </a:spcBef>
              <a:spcAft>
                <a:spcPts val="0"/>
              </a:spcAft>
              <a:buSzPts val="1400"/>
              <a:buNone/>
            </a:pPr>
            <a:r>
              <a:rPr lang="en-US" sz="1200"/>
              <a:t>- /Users/rowantangalin/Desktop/parco_prep/Project report/p2d_report_conference_corrected.tex</a:t>
            </a:r>
            <a:endParaRPr/>
          </a:p>
        </p:txBody>
      </p:sp>
      <p:sp>
        <p:nvSpPr>
          <p:cNvPr id="124" name="Google Shape;124;p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 name="Shape 142"/>
        <p:cNvGrpSpPr/>
        <p:nvPr/>
      </p:nvGrpSpPr>
      <p:grpSpPr>
        <a:xfrm>
          <a:off x="0" y="0"/>
          <a:ext cx="0" cy="0"/>
          <a:chOff x="0" y="0"/>
          <a:chExt cx="0" cy="0"/>
        </a:xfrm>
      </p:grpSpPr>
      <p:sp>
        <p:nvSpPr>
          <p:cNvPr id="143" name="Google Shape;143;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4" name="Google Shape;144;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Target: 1:10.</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The study uses two shapes: a canonical 1024–1536–10 network and a large-input 178608–448–10 network. Every configuration has two warmups followed by five timed repetitions, producing 525 measurements from 105 configurations.</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Training time is summarized by the median, with the interquartile range describing the middle half of the runs. Setup and the final evaluation are outside the training timer. MPI time is the maximum across ranks because the slowest process determines completion.</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All supplied MPI experiments run on one compute node; they are not multi-node scaling results.</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[Sources]</a:t>
            </a:r>
            <a:endParaRPr/>
          </a:p>
          <a:p>
            <a:pPr indent="0" lvl="0" marL="0" rtl="0" algn="l">
              <a:lnSpc>
                <a:spcPct val="100000"/>
              </a:lnSpc>
              <a:spcBef>
                <a:spcPts val="0"/>
              </a:spcBef>
              <a:spcAft>
                <a:spcPts val="0"/>
              </a:spcAft>
              <a:buSzPts val="1400"/>
              <a:buNone/>
            </a:pPr>
            <a:r>
              <a:rPr lang="en-US" sz="1200"/>
              <a:t>- /Users/rowantangalin/Desktop/parco_prep/Project report/p2d_report_conference_corrected.tex</a:t>
            </a:r>
            <a:endParaRPr/>
          </a:p>
          <a:p>
            <a:pPr indent="0" lvl="0" marL="0" rtl="0" algn="l">
              <a:lnSpc>
                <a:spcPct val="100000"/>
              </a:lnSpc>
              <a:spcBef>
                <a:spcPts val="0"/>
              </a:spcBef>
              <a:spcAft>
                <a:spcPts val="0"/>
              </a:spcAft>
              <a:buSzPts val="1400"/>
              <a:buNone/>
            </a:pPr>
            <a:r>
              <a:rPr lang="en-US" sz="1200"/>
              <a:t>- /Users/rowantangalin/Desktop/parco_prep/Project Code/results/</a:t>
            </a:r>
            <a:endParaRPr/>
          </a:p>
          <a:p>
            <a:pPr indent="0" lvl="0" marL="0" rtl="0" algn="l">
              <a:lnSpc>
                <a:spcPct val="100000"/>
              </a:lnSpc>
              <a:spcBef>
                <a:spcPts val="0"/>
              </a:spcBef>
              <a:spcAft>
                <a:spcPts val="0"/>
              </a:spcAft>
              <a:buSzPts val="1400"/>
              <a:buNone/>
            </a:pPr>
            <a:r>
              <a:rPr lang="en-US" sz="1200"/>
              <a:t>- /Users/rowantangalin/Desktop/parco_prep/Project Code/README.md</a:t>
            </a:r>
            <a:endParaRPr/>
          </a:p>
        </p:txBody>
      </p:sp>
      <p:sp>
        <p:nvSpPr>
          <p:cNvPr id="145" name="Google Shape;145;p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1" name="Google Shape;161;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Target: 1:10.</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Before adding threads or MPI processes, the cache-aware sequential path is already about three times faster.</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On the canonical workload, the median falls from 269.184 seconds to 87.423 seconds, a 3.08-times improvement. The large-input workload falls from 1114.349 seconds to 371.809 seconds, a 3.00-times improvement.</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Tiling and packed-transpose handling were added together, so the experiment does not attribute a separate gain to either technique.</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[Sources]</a:t>
            </a:r>
            <a:endParaRPr/>
          </a:p>
          <a:p>
            <a:pPr indent="0" lvl="0" marL="0" rtl="0" algn="l">
              <a:lnSpc>
                <a:spcPct val="100000"/>
              </a:lnSpc>
              <a:spcBef>
                <a:spcPts val="0"/>
              </a:spcBef>
              <a:spcAft>
                <a:spcPts val="0"/>
              </a:spcAft>
              <a:buSzPts val="1400"/>
              <a:buNone/>
            </a:pPr>
            <a:r>
              <a:rPr lang="en-US" sz="1200"/>
              <a:t>- /Users/rowantangalin/Desktop/parco_prep/Project Code/results/exp1_seq_baseline.csv</a:t>
            </a:r>
            <a:endParaRPr/>
          </a:p>
          <a:p>
            <a:pPr indent="0" lvl="0" marL="0" rtl="0" algn="l">
              <a:lnSpc>
                <a:spcPct val="100000"/>
              </a:lnSpc>
              <a:spcBef>
                <a:spcPts val="0"/>
              </a:spcBef>
              <a:spcAft>
                <a:spcPts val="0"/>
              </a:spcAft>
              <a:buSzPts val="1400"/>
              <a:buNone/>
            </a:pPr>
            <a:r>
              <a:rPr lang="en-US" sz="1200"/>
              <a:t>- /Users/rowantangalin/Desktop/parco_prep/Project report/p2d_report_conference_corrected.tex</a:t>
            </a:r>
            <a:endParaRPr/>
          </a:p>
        </p:txBody>
      </p:sp>
      <p:sp>
        <p:nvSpPr>
          <p:cNvPr id="162" name="Google Shape;162;p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5" name="Google Shape;175;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Target: 1:30.</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The canonical workload improves until 32 threads, reaching 4.647 seconds and a 10.58-times self-speedup. At 64 threads it becomes slightly slower.</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The large-input workload continues to improve through 64 threads, where it reaches 7.289 seconds and a 24.43-times self-speedup.</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The implementation assigns output tiles to threads. A small batch or narrow output matrix can expose too few tiles, leaving some threads with no tile even when the reduction dimension is large. The useful thread count therefore depends on the actual matrix shape.</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[Sources]</a:t>
            </a:r>
            <a:endParaRPr/>
          </a:p>
          <a:p>
            <a:pPr indent="0" lvl="0" marL="0" rtl="0" algn="l">
              <a:lnSpc>
                <a:spcPct val="100000"/>
              </a:lnSpc>
              <a:spcBef>
                <a:spcPts val="0"/>
              </a:spcBef>
              <a:spcAft>
                <a:spcPts val="0"/>
              </a:spcAft>
              <a:buSzPts val="1400"/>
              <a:buNone/>
            </a:pPr>
            <a:r>
              <a:rPr lang="en-US" sz="1200"/>
              <a:t>- /Users/rowantangalin/Desktop/parco_prep/Project Code/plots/cross_experiment/seq_vs_omp.png</a:t>
            </a:r>
            <a:endParaRPr/>
          </a:p>
          <a:p>
            <a:pPr indent="0" lvl="0" marL="0" rtl="0" algn="l">
              <a:lnSpc>
                <a:spcPct val="100000"/>
              </a:lnSpc>
              <a:spcBef>
                <a:spcPts val="0"/>
              </a:spcBef>
              <a:spcAft>
                <a:spcPts val="0"/>
              </a:spcAft>
              <a:buSzPts val="1400"/>
              <a:buNone/>
            </a:pPr>
            <a:r>
              <a:rPr lang="en-US" sz="1200"/>
              <a:t>- /Users/rowantangalin/Desktop/parco_prep/Project Code/results/exp2_omp_strong.csv</a:t>
            </a:r>
            <a:endParaRPr/>
          </a:p>
          <a:p>
            <a:pPr indent="0" lvl="0" marL="0" rtl="0" algn="l">
              <a:lnSpc>
                <a:spcPct val="100000"/>
              </a:lnSpc>
              <a:spcBef>
                <a:spcPts val="0"/>
              </a:spcBef>
              <a:spcAft>
                <a:spcPts val="0"/>
              </a:spcAft>
              <a:buSzPts val="1400"/>
              <a:buNone/>
            </a:pPr>
            <a:r>
              <a:rPr lang="en-US" sz="1200"/>
              <a:t>- /Users/rowantangalin/Desktop/parco_prep/Project report/p2d_report_conference_corrected.tex</a:t>
            </a:r>
            <a:endParaRPr/>
          </a:p>
        </p:txBody>
      </p:sp>
      <p:sp>
        <p:nvSpPr>
          <p:cNvPr id="176" name="Google Shape;176;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1" name="Google Shape;191;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Target: 1:10.</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This table explains the previous scaling result at operation level. The tile count is the number of independent output tiles produced by ceil(rows divided by 64) times ceil(columns divided by 64).</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In the canonical workload, several kernels expose only 24 tiles and the output forward pass exposes only one. The hidden-weight gradient is the most parallel operation, with 384 tiles.</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In the large-input workload, the narrow hidden layer gives only seven tiles in several batch-shaped operations, but the enormous 448 by 178608 hidden-weight gradient exposes 19,537 output tiles. That operation provides much more parallel work and helps amortize the overhead of 64 threads.</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The result should still be described as a combination of tile-level parallelism and overhead, not as proof that tile count alone determines runtime.</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[Sources]</a:t>
            </a:r>
            <a:endParaRPr/>
          </a:p>
          <a:p>
            <a:pPr indent="0" lvl="0" marL="0" rtl="0" algn="l">
              <a:lnSpc>
                <a:spcPct val="100000"/>
              </a:lnSpc>
              <a:spcBef>
                <a:spcPts val="0"/>
              </a:spcBef>
              <a:spcAft>
                <a:spcPts val="0"/>
              </a:spcAft>
              <a:buSzPts val="1400"/>
              <a:buNone/>
            </a:pPr>
            <a:r>
              <a:rPr lang="en-US" sz="1200"/>
              <a:t>- /Users/rowantangalin/Desktop/parco_prep/Project Code/src/train_omp.c</a:t>
            </a:r>
            <a:endParaRPr/>
          </a:p>
          <a:p>
            <a:pPr indent="0" lvl="0" marL="0" rtl="0" algn="l">
              <a:lnSpc>
                <a:spcPct val="100000"/>
              </a:lnSpc>
              <a:spcBef>
                <a:spcPts val="0"/>
              </a:spcBef>
              <a:spcAft>
                <a:spcPts val="0"/>
              </a:spcAft>
              <a:buSzPts val="1400"/>
              <a:buNone/>
            </a:pPr>
            <a:r>
              <a:rPr lang="en-US" sz="1200"/>
              <a:t>- /Users/rowantangalin/Desktop/parco_prep/Project Code/src/math_omp.c</a:t>
            </a:r>
            <a:endParaRPr/>
          </a:p>
          <a:p>
            <a:pPr indent="0" lvl="0" marL="0" rtl="0" algn="l">
              <a:lnSpc>
                <a:spcPct val="100000"/>
              </a:lnSpc>
              <a:spcBef>
                <a:spcPts val="0"/>
              </a:spcBef>
              <a:spcAft>
                <a:spcPts val="0"/>
              </a:spcAft>
              <a:buSzPts val="1400"/>
              <a:buNone/>
            </a:pPr>
            <a:r>
              <a:rPr lang="en-US" sz="1200"/>
              <a:t>- /Users/rowantangalin/Desktop/parco_prep/Project Code/results/exp2_omp_strong.csv</a:t>
            </a:r>
            <a:endParaRPr/>
          </a:p>
          <a:p>
            <a:pPr indent="0" lvl="0" marL="0" rtl="0" algn="l">
              <a:lnSpc>
                <a:spcPct val="100000"/>
              </a:lnSpc>
              <a:spcBef>
                <a:spcPts val="0"/>
              </a:spcBef>
              <a:spcAft>
                <a:spcPts val="0"/>
              </a:spcAft>
              <a:buSzPts val="1400"/>
              <a:buNone/>
            </a:pPr>
            <a:r>
              <a:rPr lang="en-US" sz="1200"/>
              <a:t>- /Users/rowantangalin/Desktop/parco_prep/Project report/p2d_report_conference_corrected.tex</a:t>
            </a:r>
            <a:endParaRPr/>
          </a:p>
        </p:txBody>
      </p:sp>
      <p:sp>
        <p:nvSpPr>
          <p:cNvPr id="192" name="Google Shape;192;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7" name="Google Shape;207;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Target: 1:35.</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MPI training time falls from 73.683 seconds at one rank to 3.586 seconds at 64 ranks, producing a 20.55-times self-speedup.</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But the local batch remains 64 per rank. The effective global batch therefore rises from 64 to 4096, while updates per epoch fall from 79 to 2.</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The entire dataset is still processed every epoch, but it is grouped into far fewer synchronized updates. The result is valid for the implemented configuration, yet it is not pure strong scaling of an unchanged training schedule and should not be read as a direct MPI-versus-OpenMP ranking.</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[Sources]</a:t>
            </a:r>
            <a:endParaRPr/>
          </a:p>
          <a:p>
            <a:pPr indent="0" lvl="0" marL="0" rtl="0" algn="l">
              <a:lnSpc>
                <a:spcPct val="100000"/>
              </a:lnSpc>
              <a:spcBef>
                <a:spcPts val="0"/>
              </a:spcBef>
              <a:spcAft>
                <a:spcPts val="0"/>
              </a:spcAft>
              <a:buSzPts val="1400"/>
              <a:buNone/>
            </a:pPr>
            <a:r>
              <a:rPr lang="en-US" sz="1200"/>
              <a:t>- /Users/rowantangalin/Desktop/parco_prep/Project Code/plots/cross_experiment/omp_vs_mpi_strong.png</a:t>
            </a:r>
            <a:endParaRPr/>
          </a:p>
          <a:p>
            <a:pPr indent="0" lvl="0" marL="0" rtl="0" algn="l">
              <a:lnSpc>
                <a:spcPct val="100000"/>
              </a:lnSpc>
              <a:spcBef>
                <a:spcPts val="0"/>
              </a:spcBef>
              <a:spcAft>
                <a:spcPts val="0"/>
              </a:spcAft>
              <a:buSzPts val="1400"/>
              <a:buNone/>
            </a:pPr>
            <a:r>
              <a:rPr lang="en-US" sz="1200"/>
              <a:t>- /Users/rowantangalin/Desktop/parco_prep/Project Code/results/exp3_mpi_strong.csv</a:t>
            </a:r>
            <a:endParaRPr/>
          </a:p>
          <a:p>
            <a:pPr indent="0" lvl="0" marL="0" rtl="0" algn="l">
              <a:lnSpc>
                <a:spcPct val="100000"/>
              </a:lnSpc>
              <a:spcBef>
                <a:spcPts val="0"/>
              </a:spcBef>
              <a:spcAft>
                <a:spcPts val="0"/>
              </a:spcAft>
              <a:buSzPts val="1400"/>
              <a:buNone/>
            </a:pPr>
            <a:r>
              <a:rPr lang="en-US" sz="1200"/>
              <a:t>- /Users/rowantangalin/Desktop/parco_prep/Project Code/src/train_mpi.c</a:t>
            </a:r>
            <a:endParaRPr/>
          </a:p>
          <a:p>
            <a:pPr indent="0" lvl="0" marL="0" rtl="0" algn="l">
              <a:lnSpc>
                <a:spcPct val="100000"/>
              </a:lnSpc>
              <a:spcBef>
                <a:spcPts val="0"/>
              </a:spcBef>
              <a:spcAft>
                <a:spcPts val="0"/>
              </a:spcAft>
              <a:buSzPts val="1400"/>
              <a:buNone/>
            </a:pPr>
            <a:r>
              <a:rPr lang="en-US" sz="1200"/>
              <a:t>- /Users/rowantangalin/Desktop/parco_prep/Project report/p2d_report_conference_corrected.tex</a:t>
            </a:r>
            <a:endParaRPr/>
          </a:p>
        </p:txBody>
      </p:sp>
      <p:sp>
        <p:nvSpPr>
          <p:cNvPr id="208" name="Google Shape;208;p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5" name="Google Shape;225;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Target: 1:20.</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Weak scaling asks whether runtime remains close to constant as workers and total work grow.</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The OpenMP experiment widens the hidden layer with the thread count. Runtime rises from 5.764 to 33.661 seconds, giving 17.12 percent endpoint efficiency.</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The MPI experiment keeps the model fixed and adds 500 samples per rank. Runtime rises from 7.458 to 18.294 seconds, giving 40.77 percent endpoint efficiency.</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These percentages answer different questions. Growing a model changes parameter count, matrix shapes, memory behavior, and arithmetic per sample. Growing a dataset keeps the model fixed but adds data and collective participants. They should not be used to rank OpenMP and MPI.</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[Sources]</a:t>
            </a:r>
            <a:endParaRPr/>
          </a:p>
          <a:p>
            <a:pPr indent="0" lvl="0" marL="0" rtl="0" algn="l">
              <a:lnSpc>
                <a:spcPct val="100000"/>
              </a:lnSpc>
              <a:spcBef>
                <a:spcPts val="0"/>
              </a:spcBef>
              <a:spcAft>
                <a:spcPts val="0"/>
              </a:spcAft>
              <a:buSzPts val="1400"/>
              <a:buNone/>
            </a:pPr>
            <a:r>
              <a:rPr lang="en-US" sz="1200"/>
              <a:t>- /Users/rowantangalin/Desktop/parco_prep/Project Code/results/exp4_omp_weak.csv</a:t>
            </a:r>
            <a:endParaRPr/>
          </a:p>
          <a:p>
            <a:pPr indent="0" lvl="0" marL="0" rtl="0" algn="l">
              <a:lnSpc>
                <a:spcPct val="100000"/>
              </a:lnSpc>
              <a:spcBef>
                <a:spcPts val="0"/>
              </a:spcBef>
              <a:spcAft>
                <a:spcPts val="0"/>
              </a:spcAft>
              <a:buSzPts val="1400"/>
              <a:buNone/>
            </a:pPr>
            <a:r>
              <a:rPr lang="en-US" sz="1200"/>
              <a:t>- /Users/rowantangalin/Desktop/parco_prep/Project Code/results/exp5_mpi_weak.csv</a:t>
            </a:r>
            <a:endParaRPr/>
          </a:p>
          <a:p>
            <a:pPr indent="0" lvl="0" marL="0" rtl="0" algn="l">
              <a:lnSpc>
                <a:spcPct val="100000"/>
              </a:lnSpc>
              <a:spcBef>
                <a:spcPts val="0"/>
              </a:spcBef>
              <a:spcAft>
                <a:spcPts val="0"/>
              </a:spcAft>
              <a:buSzPts val="1400"/>
              <a:buNone/>
            </a:pPr>
            <a:r>
              <a:rPr lang="en-US" sz="1200"/>
              <a:t>- /Users/rowantangalin/Desktop/parco_prep/Project report/p2d_report_conference_corrected.tex</a:t>
            </a:r>
            <a:endParaRPr/>
          </a:p>
        </p:txBody>
      </p:sp>
      <p:sp>
        <p:nvSpPr>
          <p:cNvPr id="226" name="Google Shape;226;p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9" name="Google Shape;299;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Target: 1:10.</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Across the tested 1-, 16-, and 64-rank cases, tile 256 is the fastest tested value. It improves training time by between 8.66 and 13.37 percent relative to tile 64.</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Larger mini-batches also often reduce runtime because they produce fewer updates and amortize fixed thread-team or collective costs. In MPI, remember that the batch argument is local, so increasing it also increases the effective global batch.</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The broader point is that tile size and batch convention are part of the experimental configuration. They must be stated when a speedup is interpreted.</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[Sources]</a:t>
            </a:r>
            <a:endParaRPr/>
          </a:p>
          <a:p>
            <a:pPr indent="0" lvl="0" marL="0" rtl="0" algn="l">
              <a:lnSpc>
                <a:spcPct val="100000"/>
              </a:lnSpc>
              <a:spcBef>
                <a:spcPts val="0"/>
              </a:spcBef>
              <a:spcAft>
                <a:spcPts val="0"/>
              </a:spcAft>
              <a:buSzPts val="1400"/>
              <a:buNone/>
            </a:pPr>
            <a:r>
              <a:rPr lang="en-US" sz="1200"/>
              <a:t>- /Users/rowantangalin/Desktop/parco_prep/Project Code/plots/cross_experiment/mpi_tile_tuning_impact.png</a:t>
            </a:r>
            <a:endParaRPr/>
          </a:p>
          <a:p>
            <a:pPr indent="0" lvl="0" marL="0" rtl="0" algn="l">
              <a:lnSpc>
                <a:spcPct val="100000"/>
              </a:lnSpc>
              <a:spcBef>
                <a:spcPts val="0"/>
              </a:spcBef>
              <a:spcAft>
                <a:spcPts val="0"/>
              </a:spcAft>
              <a:buSzPts val="1400"/>
              <a:buNone/>
            </a:pPr>
            <a:r>
              <a:rPr lang="en-US" sz="1200"/>
              <a:t>- /Users/rowantangalin/Desktop/parco_prep/Project Code/results/exp6_mpi_tile.csv</a:t>
            </a:r>
            <a:endParaRPr/>
          </a:p>
          <a:p>
            <a:pPr indent="0" lvl="0" marL="0" rtl="0" algn="l">
              <a:lnSpc>
                <a:spcPct val="100000"/>
              </a:lnSpc>
              <a:spcBef>
                <a:spcPts val="0"/>
              </a:spcBef>
              <a:spcAft>
                <a:spcPts val="0"/>
              </a:spcAft>
              <a:buSzPts val="1400"/>
              <a:buNone/>
            </a:pPr>
            <a:r>
              <a:rPr lang="en-US" sz="1200"/>
              <a:t>- /Users/rowantangalin/Desktop/parco_prep/Project Code/results/exp7_batch_seq_omp.csv</a:t>
            </a:r>
            <a:endParaRPr/>
          </a:p>
          <a:p>
            <a:pPr indent="0" lvl="0" marL="0" rtl="0" algn="l">
              <a:lnSpc>
                <a:spcPct val="100000"/>
              </a:lnSpc>
              <a:spcBef>
                <a:spcPts val="0"/>
              </a:spcBef>
              <a:spcAft>
                <a:spcPts val="0"/>
              </a:spcAft>
              <a:buSzPts val="1400"/>
              <a:buNone/>
            </a:pPr>
            <a:r>
              <a:rPr lang="en-US" sz="1200"/>
              <a:t>- /Users/rowantangalin/Desktop/parco_prep/Project Code/results/exp7_batch_mpi.csv</a:t>
            </a:r>
            <a:endParaRPr/>
          </a:p>
          <a:p>
            <a:pPr indent="0" lvl="0" marL="0" rtl="0" algn="l">
              <a:lnSpc>
                <a:spcPct val="100000"/>
              </a:lnSpc>
              <a:spcBef>
                <a:spcPts val="0"/>
              </a:spcBef>
              <a:spcAft>
                <a:spcPts val="0"/>
              </a:spcAft>
              <a:buSzPts val="1400"/>
              <a:buNone/>
            </a:pPr>
            <a:r>
              <a:rPr lang="en-US" sz="1200"/>
              <a:t>- /Users/rowantangalin/Desktop/parco_prep/Project report/p2d_report_conference_corrected.tex</a:t>
            </a:r>
            <a:endParaRPr/>
          </a:p>
        </p:txBody>
      </p:sp>
      <p:sp>
        <p:nvSpPr>
          <p:cNvPr id="300" name="Google Shape;300;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9" name="Google Shape;319;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Target: 1:20.</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Close with the methodological lesson. Locality produces the first major improvement before parallelism. OpenMP scaling depends on the amount and shape of work exposed inside a batch. MPI reduces elapsed time, but its local-batch convention also changes the effective global batch and the number of updates.</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A speedup becomes meaningful only after stating what stayed fixed, what grew, and how often synchronization occurred.</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A stricter next comparison would keep the global batch and updates per epoch fixed, use equal core counts and placement, collect hardware and communication profiles, and then compare pure OpenMP, pure MPI, and a hybrid design.</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[Sources]</a:t>
            </a:r>
            <a:endParaRPr/>
          </a:p>
          <a:p>
            <a:pPr indent="0" lvl="0" marL="0" rtl="0" algn="l">
              <a:lnSpc>
                <a:spcPct val="100000"/>
              </a:lnSpc>
              <a:spcBef>
                <a:spcPts val="0"/>
              </a:spcBef>
              <a:spcAft>
                <a:spcPts val="0"/>
              </a:spcAft>
              <a:buSzPts val="1400"/>
              <a:buNone/>
            </a:pPr>
            <a:r>
              <a:rPr lang="en-US" sz="1200"/>
              <a:t>- /Users/rowantangalin/Desktop/parco_prep/Project report/p2d_report_conference_corrected.tex</a:t>
            </a:r>
            <a:endParaRPr/>
          </a:p>
          <a:p>
            <a:pPr indent="0" lvl="0" marL="0" rtl="0" algn="l">
              <a:lnSpc>
                <a:spcPct val="100000"/>
              </a:lnSpc>
              <a:spcBef>
                <a:spcPts val="0"/>
              </a:spcBef>
              <a:spcAft>
                <a:spcPts val="0"/>
              </a:spcAft>
              <a:buSzPts val="1400"/>
              <a:buNone/>
            </a:pPr>
            <a:r>
              <a:rPr lang="en-US" sz="1200"/>
              <a:t>- /Users/rowantangalin/Desktop/parco_prep/Project Code/README.md</a:t>
            </a:r>
            <a:endParaRPr/>
          </a:p>
        </p:txBody>
      </p:sp>
      <p:sp>
        <p:nvSpPr>
          <p:cNvPr id="320" name="Google Shape;320;p1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hyperlink" Target="https://www.geeksforgeeks.org/deep-learning/feedforward-neural-network/"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hyperlink" Target="https://www.researchgate.net/figure/Tiled-matrix-multiplication-pseudocode-2_fig1_395338903"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sp>
        <p:nvSpPr>
          <p:cNvPr id="16" name="Google Shape;16;p3"/>
          <p:cNvSpPr/>
          <p:nvPr/>
        </p:nvSpPr>
        <p:spPr>
          <a:xfrm>
            <a:off x="11279315" y="6279261"/>
            <a:ext cx="518922" cy="241268"/>
          </a:xfrm>
          <a:prstGeom prst="rect">
            <a:avLst/>
          </a:prstGeom>
          <a:noFill/>
          <a:ln>
            <a:noFill/>
          </a:ln>
        </p:spPr>
        <p:txBody>
          <a:bodyPr anchorCtr="0" anchor="b"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t/>
            </a:r>
            <a:endParaRPr b="0" i="0" sz="1000" u="none" cap="none" strike="noStrike">
              <a:solidFill>
                <a:srgbClr val="000000"/>
              </a:solidFill>
              <a:latin typeface="Helvetica Neue"/>
              <a:ea typeface="Helvetica Neue"/>
              <a:cs typeface="Helvetica Neue"/>
              <a:sym typeface="Helvetica Neue"/>
            </a:endParaRPr>
          </a:p>
        </p:txBody>
      </p:sp>
      <p:sp>
        <p:nvSpPr>
          <p:cNvPr id="17" name="Google Shape;17;p3"/>
          <p:cNvSpPr/>
          <p:nvPr/>
        </p:nvSpPr>
        <p:spPr>
          <a:xfrm>
            <a:off x="393668" y="344043"/>
            <a:ext cx="11404568" cy="104746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B616B"/>
              </a:buClr>
              <a:buSzPts val="1350"/>
              <a:buFont typeface="Helvetica Neue"/>
              <a:buNone/>
            </a:pPr>
            <a:r>
              <a:rPr b="1" i="0" lang="en-US" sz="1350" u="none" cap="none" strike="noStrike">
                <a:solidFill>
                  <a:srgbClr val="5B616B"/>
                </a:solidFill>
                <a:latin typeface="Helvetica Neue"/>
                <a:ea typeface="Helvetica Neue"/>
                <a:cs typeface="Helvetica Neue"/>
                <a:sym typeface="Helvetica Neue"/>
              </a:rPr>
              <a:t>INTRODUCTION TO PARALLEL COMPUTING · 2025–2026</a:t>
            </a:r>
            <a:endParaRPr b="0" i="0" sz="1400" u="none" cap="none" strike="noStrike">
              <a:solidFill>
                <a:srgbClr val="000000"/>
              </a:solidFill>
              <a:latin typeface="Arial"/>
              <a:ea typeface="Arial"/>
              <a:cs typeface="Arial"/>
              <a:sym typeface="Arial"/>
            </a:endParaRPr>
          </a:p>
        </p:txBody>
      </p:sp>
      <p:sp>
        <p:nvSpPr>
          <p:cNvPr id="18" name="Google Shape;18;p3"/>
          <p:cNvSpPr/>
          <p:nvPr/>
        </p:nvSpPr>
        <p:spPr>
          <a:xfrm>
            <a:off x="6269069" y="396431"/>
            <a:ext cx="5539740" cy="5602034"/>
          </a:xfrm>
          <a:prstGeom prst="roundRect">
            <a:avLst>
              <a:gd fmla="val 1376" name="adj"/>
            </a:avLst>
          </a:prstGeom>
          <a:solidFill>
            <a:srgbClr val="EAF5FB"/>
          </a:solidFill>
          <a:ln cap="flat" cmpd="sng" w="9525">
            <a:solidFill>
              <a:srgbClr val="B8BCC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 name="Google Shape;19;p3"/>
          <p:cNvSpPr/>
          <p:nvPr/>
        </p:nvSpPr>
        <p:spPr>
          <a:xfrm>
            <a:off x="393668" y="2031968"/>
            <a:ext cx="5537168" cy="39624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4050"/>
              <a:buFont typeface="Helvetica Neue"/>
              <a:buNone/>
            </a:pPr>
            <a:r>
              <a:rPr b="1" i="0" lang="en-US" sz="4050" u="none" cap="none" strike="noStrike">
                <a:solidFill>
                  <a:srgbClr val="000000"/>
                </a:solidFill>
                <a:latin typeface="Helvetica Neue"/>
                <a:ea typeface="Helvetica Neue"/>
                <a:cs typeface="Helvetica Neue"/>
                <a:sym typeface="Helvetica Neue"/>
              </a:rPr>
              <a:t>Parallel Feedforward</a:t>
            </a:r>
            <a:br>
              <a:rPr b="1" i="0" lang="en-US" sz="4050" u="none" cap="none" strike="noStrike">
                <a:solidFill>
                  <a:srgbClr val="000000"/>
                </a:solidFill>
                <a:latin typeface="Helvetica Neue"/>
                <a:ea typeface="Helvetica Neue"/>
                <a:cs typeface="Helvetica Neue"/>
                <a:sym typeface="Helvetica Neue"/>
              </a:rPr>
            </a:br>
            <a:r>
              <a:rPr b="1" i="0" lang="en-US" sz="4050" u="none" cap="none" strike="noStrike">
                <a:solidFill>
                  <a:srgbClr val="000000"/>
                </a:solidFill>
                <a:latin typeface="Helvetica Neue"/>
                <a:ea typeface="Helvetica Neue"/>
                <a:cs typeface="Helvetica Neue"/>
                <a:sym typeface="Helvetica Neue"/>
              </a:rPr>
              <a:t>Neural Network</a:t>
            </a:r>
            <a:endParaRPr b="0" i="0" sz="1400" u="none" cap="none" strike="noStrike">
              <a:solidFill>
                <a:srgbClr val="000000"/>
              </a:solidFill>
              <a:latin typeface="Arial"/>
              <a:ea typeface="Arial"/>
              <a:cs typeface="Arial"/>
              <a:sym typeface="Arial"/>
            </a:endParaRPr>
          </a:p>
          <a:p>
            <a:pPr indent="0" lvl="0" marL="0" marR="0" rtl="0" algn="l">
              <a:lnSpc>
                <a:spcPct val="112000"/>
              </a:lnSpc>
              <a:spcBef>
                <a:spcPts val="1200"/>
              </a:spcBef>
              <a:spcAft>
                <a:spcPts val="0"/>
              </a:spcAft>
              <a:buClr>
                <a:srgbClr val="5B616B"/>
              </a:buClr>
              <a:buSzPts val="1650"/>
              <a:buFont typeface="Helvetica Neue"/>
              <a:buNone/>
            </a:pPr>
            <a:r>
              <a:rPr b="0" i="0" lang="en-US" sz="1650" u="none" cap="none" strike="noStrike">
                <a:solidFill>
                  <a:srgbClr val="5B616B"/>
                </a:solidFill>
                <a:latin typeface="Helvetica Neue"/>
                <a:ea typeface="Helvetica Neue"/>
                <a:cs typeface="Helvetica Neue"/>
                <a:sym typeface="Helvetica Neue"/>
              </a:rPr>
              <a:t>Locality, OpenMP and single-node MPI</a:t>
            </a:r>
            <a:br>
              <a:rPr b="0" i="0" lang="en-US" sz="1650" u="none" cap="none" strike="noStrike">
                <a:solidFill>
                  <a:srgbClr val="5B616B"/>
                </a:solidFill>
                <a:latin typeface="Helvetica Neue"/>
                <a:ea typeface="Helvetica Neue"/>
                <a:cs typeface="Helvetica Neue"/>
                <a:sym typeface="Helvetica Neue"/>
              </a:rPr>
            </a:br>
            <a:br>
              <a:rPr b="0" i="0" lang="en-US" sz="1650" u="none" cap="none" strike="noStrike">
                <a:solidFill>
                  <a:srgbClr val="5B616B"/>
                </a:solidFill>
                <a:latin typeface="Helvetica Neue"/>
                <a:ea typeface="Helvetica Neue"/>
                <a:cs typeface="Helvetica Neue"/>
                <a:sym typeface="Helvetica Neue"/>
              </a:rPr>
            </a:br>
            <a:r>
              <a:rPr b="0" i="0" lang="en-US" sz="1650" u="none" cap="none" strike="noStrike">
                <a:solidFill>
                  <a:srgbClr val="5B616B"/>
                </a:solidFill>
                <a:latin typeface="Helvetica Neue"/>
                <a:ea typeface="Helvetica Neue"/>
                <a:cs typeface="Helvetica Neue"/>
                <a:sym typeface="Helvetica Neue"/>
              </a:rPr>
              <a:t>Rowan Li Tangalin · ID 242920</a:t>
            </a:r>
            <a:endParaRPr b="0" i="0" sz="1400" u="none" cap="none" strike="noStrike">
              <a:solidFill>
                <a:srgbClr val="000000"/>
              </a:solidFill>
              <a:latin typeface="Arial"/>
              <a:ea typeface="Arial"/>
              <a:cs typeface="Arial"/>
              <a:sym typeface="Arial"/>
            </a:endParaRPr>
          </a:p>
        </p:txBody>
      </p:sp>
      <p:pic>
        <p:nvPicPr>
          <p:cNvPr id="20" name="Google Shape;20;p3"/>
          <p:cNvPicPr preferRelativeResize="0"/>
          <p:nvPr/>
        </p:nvPicPr>
        <p:blipFill rotWithShape="1">
          <a:blip r:embed="rId3">
            <a:alphaModFix/>
          </a:blip>
          <a:srcRect b="0" l="0" r="0" t="0"/>
          <a:stretch/>
        </p:blipFill>
        <p:spPr>
          <a:xfrm>
            <a:off x="6709863" y="2005620"/>
            <a:ext cx="4658150" cy="2383675"/>
          </a:xfrm>
          <a:prstGeom prst="rect">
            <a:avLst/>
          </a:prstGeom>
          <a:noFill/>
          <a:ln>
            <a:noFill/>
          </a:ln>
        </p:spPr>
      </p:pic>
      <p:sp>
        <p:nvSpPr>
          <p:cNvPr id="21" name="Google Shape;21;p3"/>
          <p:cNvSpPr txBox="1"/>
          <p:nvPr/>
        </p:nvSpPr>
        <p:spPr>
          <a:xfrm>
            <a:off x="7354000" y="4590875"/>
            <a:ext cx="3449700" cy="180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600"/>
              <a:buFont typeface="Arial"/>
              <a:buNone/>
            </a:pPr>
            <a:r>
              <a:rPr b="0" i="0" lang="en-US" sz="600" u="sng" cap="none" strike="noStrike">
                <a:solidFill>
                  <a:schemeClr val="hlink"/>
                </a:solidFill>
                <a:latin typeface="Arial"/>
                <a:ea typeface="Arial"/>
                <a:cs typeface="Arial"/>
                <a:sym typeface="Arial"/>
                <a:hlinkClick r:id="rId4"/>
              </a:rPr>
              <a:t>https://www.geeksforgeeks.org/deep-learning/feedforward-neural-network/</a:t>
            </a:r>
            <a:endParaRPr b="0" i="0" sz="6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 name="Shape 26"/>
        <p:cNvGrpSpPr/>
        <p:nvPr/>
      </p:nvGrpSpPr>
      <p:grpSpPr>
        <a:xfrm>
          <a:off x="0" y="0"/>
          <a:ext cx="0" cy="0"/>
          <a:chOff x="0" y="0"/>
          <a:chExt cx="0" cy="0"/>
        </a:xfrm>
      </p:grpSpPr>
      <p:sp>
        <p:nvSpPr>
          <p:cNvPr id="27" name="Google Shape;27;p4"/>
          <p:cNvSpPr/>
          <p:nvPr/>
        </p:nvSpPr>
        <p:spPr>
          <a:xfrm>
            <a:off x="11279219" y="6278594"/>
            <a:ext cx="519113" cy="241268"/>
          </a:xfrm>
          <a:prstGeom prst="rect">
            <a:avLst/>
          </a:prstGeom>
          <a:noFill/>
          <a:ln>
            <a:noFill/>
          </a:ln>
        </p:spPr>
        <p:txBody>
          <a:bodyPr anchorCtr="0" anchor="b"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US" sz="1000" u="none" cap="none" strike="noStrike">
                <a:solidFill>
                  <a:srgbClr val="000000"/>
                </a:solidFill>
                <a:latin typeface="Helvetica Neue"/>
                <a:ea typeface="Helvetica Neue"/>
                <a:cs typeface="Helvetica Neue"/>
                <a:sym typeface="Helvetica Neue"/>
              </a:rPr>
              <a:t>2</a:t>
            </a:r>
            <a:endParaRPr b="0" i="0" sz="1400" u="none" cap="none" strike="noStrike">
              <a:solidFill>
                <a:srgbClr val="000000"/>
              </a:solidFill>
              <a:latin typeface="Arial"/>
              <a:ea typeface="Arial"/>
              <a:cs typeface="Arial"/>
              <a:sym typeface="Arial"/>
            </a:endParaRPr>
          </a:p>
        </p:txBody>
      </p:sp>
      <p:sp>
        <p:nvSpPr>
          <p:cNvPr id="28" name="Google Shape;28;p4"/>
          <p:cNvSpPr/>
          <p:nvPr/>
        </p:nvSpPr>
        <p:spPr>
          <a:xfrm>
            <a:off x="393668" y="344043"/>
            <a:ext cx="11404568" cy="104746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3000"/>
              <a:buFont typeface="Helvetica Neue"/>
              <a:buNone/>
            </a:pPr>
            <a:r>
              <a:rPr b="0" i="0" lang="en-US" sz="3000" u="none" cap="none" strike="noStrike">
                <a:solidFill>
                  <a:srgbClr val="000000"/>
                </a:solidFill>
                <a:latin typeface="Helvetica Neue"/>
                <a:ea typeface="Helvetica Neue"/>
                <a:cs typeface="Helvetica Neue"/>
                <a:sym typeface="Helvetica Neue"/>
              </a:rPr>
              <a:t>The same training loop is implemented four ways</a:t>
            </a:r>
            <a:endParaRPr b="0" i="0" sz="1400" u="none" cap="none" strike="noStrike">
              <a:solidFill>
                <a:srgbClr val="000000"/>
              </a:solidFill>
              <a:latin typeface="Arial"/>
              <a:ea typeface="Arial"/>
              <a:cs typeface="Arial"/>
              <a:sym typeface="Arial"/>
            </a:endParaRPr>
          </a:p>
        </p:txBody>
      </p:sp>
      <p:sp>
        <p:nvSpPr>
          <p:cNvPr id="29" name="Google Shape;29;p4"/>
          <p:cNvSpPr/>
          <p:nvPr/>
        </p:nvSpPr>
        <p:spPr>
          <a:xfrm>
            <a:off x="393668" y="2031968"/>
            <a:ext cx="5537168" cy="1643063"/>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025"/>
              <a:buFont typeface="Helvetica Neue"/>
              <a:buNone/>
            </a:pPr>
            <a:r>
              <a:rPr b="1" i="0" lang="en-US" sz="2025" u="none" cap="none" strike="noStrike">
                <a:solidFill>
                  <a:srgbClr val="000000"/>
                </a:solidFill>
                <a:latin typeface="Helvetica Neue"/>
                <a:ea typeface="Helvetica Neue"/>
                <a:cs typeface="Helvetica Neue"/>
                <a:sym typeface="Helvetica Neue"/>
              </a:rPr>
              <a:t>Direct sequential</a:t>
            </a:r>
            <a:endParaRPr b="0" i="0" sz="1400" u="none" cap="none" strike="noStrike">
              <a:solidFill>
                <a:srgbClr val="000000"/>
              </a:solidFill>
              <a:latin typeface="Arial"/>
              <a:ea typeface="Arial"/>
              <a:cs typeface="Arial"/>
              <a:sym typeface="Arial"/>
            </a:endParaRPr>
          </a:p>
          <a:p>
            <a:pPr indent="0" lvl="0" marL="0" marR="0" rtl="0" algn="l">
              <a:lnSpc>
                <a:spcPct val="112000"/>
              </a:lnSpc>
              <a:spcBef>
                <a:spcPts val="850"/>
              </a:spcBef>
              <a:spcAft>
                <a:spcPts val="0"/>
              </a:spcAft>
              <a:buClr>
                <a:srgbClr val="5B616B"/>
              </a:buClr>
              <a:buSzPts val="1425"/>
              <a:buFont typeface="Helvetica Neue"/>
              <a:buNone/>
            </a:pPr>
            <a:r>
              <a:rPr b="0" i="0" lang="en-US" sz="1425" u="none" cap="none" strike="noStrike">
                <a:solidFill>
                  <a:srgbClr val="5B616B"/>
                </a:solidFill>
                <a:latin typeface="Helvetica Neue"/>
                <a:ea typeface="Helvetica Neue"/>
                <a:cs typeface="Helvetica Neue"/>
                <a:sym typeface="Helvetica Neue"/>
              </a:rPr>
              <a:t>Reference execution</a:t>
            </a:r>
            <a:endParaRPr b="0" i="0" sz="1400" u="none" cap="none" strike="noStrike">
              <a:solidFill>
                <a:srgbClr val="000000"/>
              </a:solidFill>
              <a:latin typeface="Arial"/>
              <a:ea typeface="Arial"/>
              <a:cs typeface="Arial"/>
              <a:sym typeface="Arial"/>
            </a:endParaRPr>
          </a:p>
        </p:txBody>
      </p:sp>
      <p:sp>
        <p:nvSpPr>
          <p:cNvPr id="30" name="Google Shape;30;p4"/>
          <p:cNvSpPr/>
          <p:nvPr/>
        </p:nvSpPr>
        <p:spPr>
          <a:xfrm>
            <a:off x="6256592" y="2031968"/>
            <a:ext cx="5537168" cy="1643063"/>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025"/>
              <a:buFont typeface="Helvetica Neue"/>
              <a:buNone/>
            </a:pPr>
            <a:r>
              <a:rPr b="1" i="0" lang="en-US" sz="2025" u="none" cap="none" strike="noStrike">
                <a:solidFill>
                  <a:srgbClr val="000000"/>
                </a:solidFill>
                <a:latin typeface="Helvetica Neue"/>
                <a:ea typeface="Helvetica Neue"/>
                <a:cs typeface="Helvetica Neue"/>
                <a:sym typeface="Helvetica Neue"/>
              </a:rPr>
              <a:t>Tiled sequential</a:t>
            </a:r>
            <a:endParaRPr b="0" i="0" sz="1400" u="none" cap="none" strike="noStrike">
              <a:solidFill>
                <a:srgbClr val="000000"/>
              </a:solidFill>
              <a:latin typeface="Arial"/>
              <a:ea typeface="Arial"/>
              <a:cs typeface="Arial"/>
              <a:sym typeface="Arial"/>
            </a:endParaRPr>
          </a:p>
          <a:p>
            <a:pPr indent="0" lvl="0" marL="0" marR="0" rtl="0" algn="l">
              <a:lnSpc>
                <a:spcPct val="112000"/>
              </a:lnSpc>
              <a:spcBef>
                <a:spcPts val="850"/>
              </a:spcBef>
              <a:spcAft>
                <a:spcPts val="0"/>
              </a:spcAft>
              <a:buClr>
                <a:srgbClr val="5B616B"/>
              </a:buClr>
              <a:buSzPts val="1425"/>
              <a:buFont typeface="Helvetica Neue"/>
              <a:buNone/>
            </a:pPr>
            <a:r>
              <a:rPr b="0" i="0" lang="en-US" sz="1425" u="none" cap="none" strike="noStrike">
                <a:solidFill>
                  <a:srgbClr val="5B616B"/>
                </a:solidFill>
                <a:latin typeface="Helvetica Neue"/>
                <a:ea typeface="Helvetica Neue"/>
                <a:cs typeface="Helvetica Neue"/>
                <a:sym typeface="Helvetica Neue"/>
              </a:rPr>
              <a:t>Cache-aware GEMM with packed logical transposes.</a:t>
            </a:r>
            <a:endParaRPr b="0" i="0" sz="1400" u="none" cap="none" strike="noStrike">
              <a:solidFill>
                <a:srgbClr val="000000"/>
              </a:solidFill>
              <a:latin typeface="Arial"/>
              <a:ea typeface="Arial"/>
              <a:cs typeface="Arial"/>
              <a:sym typeface="Arial"/>
            </a:endParaRPr>
          </a:p>
        </p:txBody>
      </p:sp>
      <p:sp>
        <p:nvSpPr>
          <p:cNvPr id="31" name="Google Shape;31;p4"/>
          <p:cNvSpPr/>
          <p:nvPr/>
        </p:nvSpPr>
        <p:spPr>
          <a:xfrm>
            <a:off x="393668" y="4016978"/>
            <a:ext cx="5537168" cy="164315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025"/>
              <a:buFont typeface="Helvetica Neue"/>
              <a:buNone/>
            </a:pPr>
            <a:r>
              <a:rPr b="1" i="0" lang="en-US" sz="2025" u="none" cap="none" strike="noStrike">
                <a:solidFill>
                  <a:srgbClr val="000000"/>
                </a:solidFill>
                <a:latin typeface="Helvetica Neue"/>
                <a:ea typeface="Helvetica Neue"/>
                <a:cs typeface="Helvetica Neue"/>
                <a:sym typeface="Helvetica Neue"/>
              </a:rPr>
              <a:t>OpenMP</a:t>
            </a:r>
            <a:endParaRPr b="0" i="0" sz="1400" u="none" cap="none" strike="noStrike">
              <a:solidFill>
                <a:srgbClr val="000000"/>
              </a:solidFill>
              <a:latin typeface="Arial"/>
              <a:ea typeface="Arial"/>
              <a:cs typeface="Arial"/>
              <a:sym typeface="Arial"/>
            </a:endParaRPr>
          </a:p>
          <a:p>
            <a:pPr indent="0" lvl="0" marL="0" marR="0" rtl="0" algn="l">
              <a:lnSpc>
                <a:spcPct val="112000"/>
              </a:lnSpc>
              <a:spcBef>
                <a:spcPts val="850"/>
              </a:spcBef>
              <a:spcAft>
                <a:spcPts val="0"/>
              </a:spcAft>
              <a:buClr>
                <a:srgbClr val="5B616B"/>
              </a:buClr>
              <a:buSzPts val="1425"/>
              <a:buFont typeface="Helvetica Neue"/>
              <a:buNone/>
            </a:pPr>
            <a:r>
              <a:rPr b="0" i="0" lang="en-US" sz="1425" u="none" cap="none" strike="noStrike">
                <a:solidFill>
                  <a:srgbClr val="5B616B"/>
                </a:solidFill>
                <a:latin typeface="Helvetica Neue"/>
                <a:ea typeface="Helvetica Neue"/>
                <a:cs typeface="Helvetica Neue"/>
                <a:sym typeface="Helvetica Neue"/>
              </a:rPr>
              <a:t>Threads divide regular work inside the current mini-batch.</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a:off x="6256592" y="4016978"/>
            <a:ext cx="5537168" cy="164315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025"/>
              <a:buFont typeface="Helvetica Neue"/>
              <a:buNone/>
            </a:pPr>
            <a:r>
              <a:rPr b="1" i="0" lang="en-US" sz="2025" u="none" cap="none" strike="noStrike">
                <a:solidFill>
                  <a:srgbClr val="000000"/>
                </a:solidFill>
                <a:latin typeface="Helvetica Neue"/>
                <a:ea typeface="Helvetica Neue"/>
                <a:cs typeface="Helvetica Neue"/>
                <a:sym typeface="Helvetica Neue"/>
              </a:rPr>
              <a:t>MPI</a:t>
            </a:r>
            <a:endParaRPr b="0" i="0" sz="1400" u="none" cap="none" strike="noStrike">
              <a:solidFill>
                <a:srgbClr val="000000"/>
              </a:solidFill>
              <a:latin typeface="Arial"/>
              <a:ea typeface="Arial"/>
              <a:cs typeface="Arial"/>
              <a:sym typeface="Arial"/>
            </a:endParaRPr>
          </a:p>
          <a:p>
            <a:pPr indent="0" lvl="0" marL="0" marR="0" rtl="0" algn="l">
              <a:lnSpc>
                <a:spcPct val="112000"/>
              </a:lnSpc>
              <a:spcBef>
                <a:spcPts val="850"/>
              </a:spcBef>
              <a:spcAft>
                <a:spcPts val="0"/>
              </a:spcAft>
              <a:buClr>
                <a:srgbClr val="5B616B"/>
              </a:buClr>
              <a:buSzPts val="1425"/>
              <a:buFont typeface="Helvetica Neue"/>
              <a:buNone/>
            </a:pPr>
            <a:r>
              <a:rPr b="0" i="0" lang="en-US" sz="1425" u="none" cap="none" strike="noStrike">
                <a:solidFill>
                  <a:srgbClr val="5B616B"/>
                </a:solidFill>
                <a:latin typeface="Helvetica Neue"/>
                <a:ea typeface="Helvetica Neue"/>
                <a:cs typeface="Helvetica Neue"/>
                <a:sym typeface="Helvetica Neue"/>
              </a:rPr>
              <a:t>Replicated models sum gradients across distinct data slices.</a:t>
            </a:r>
            <a:endParaRPr b="0" i="0" sz="1400" u="none" cap="none" strike="noStrike">
              <a:solidFill>
                <a:srgbClr val="000000"/>
              </a:solidFill>
              <a:latin typeface="Arial"/>
              <a:ea typeface="Arial"/>
              <a:cs typeface="Arial"/>
              <a:sym typeface="Arial"/>
            </a:endParaRPr>
          </a:p>
        </p:txBody>
      </p:sp>
      <p:sp>
        <p:nvSpPr>
          <p:cNvPr id="33" name="Google Shape;33;p4"/>
          <p:cNvSpPr/>
          <p:nvPr/>
        </p:nvSpPr>
        <p:spPr>
          <a:xfrm>
            <a:off x="266700" y="2070068"/>
            <a:ext cx="57150" cy="1123950"/>
          </a:xfrm>
          <a:prstGeom prst="rect">
            <a:avLst/>
          </a:prstGeom>
          <a:solidFill>
            <a:srgbClr val="B8BCC4"/>
          </a:solidFill>
          <a:ln cap="flat" cmpd="sng" w="9525">
            <a:solidFill>
              <a:srgbClr val="B8BCC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 name="Google Shape;34;p4"/>
          <p:cNvSpPr/>
          <p:nvPr/>
        </p:nvSpPr>
        <p:spPr>
          <a:xfrm>
            <a:off x="6134100" y="2070068"/>
            <a:ext cx="57150" cy="1123950"/>
          </a:xfrm>
          <a:prstGeom prst="rect">
            <a:avLst/>
          </a:prstGeom>
          <a:solidFill>
            <a:srgbClr val="6DCBF4"/>
          </a:solidFill>
          <a:ln cap="flat" cmpd="sng" w="9525">
            <a:solidFill>
              <a:srgbClr val="6DCBF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 name="Google Shape;35;p4"/>
          <p:cNvSpPr/>
          <p:nvPr/>
        </p:nvSpPr>
        <p:spPr>
          <a:xfrm>
            <a:off x="266700" y="4055078"/>
            <a:ext cx="57150" cy="1123950"/>
          </a:xfrm>
          <a:prstGeom prst="rect">
            <a:avLst/>
          </a:prstGeom>
          <a:solidFill>
            <a:srgbClr val="3D8DFF"/>
          </a:solidFill>
          <a:ln cap="flat" cmpd="sng" w="9525">
            <a:solidFill>
              <a:srgbClr val="3D8D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4"/>
          <p:cNvSpPr/>
          <p:nvPr/>
        </p:nvSpPr>
        <p:spPr>
          <a:xfrm>
            <a:off x="6134100" y="4055078"/>
            <a:ext cx="57150" cy="1123950"/>
          </a:xfrm>
          <a:prstGeom prst="rect">
            <a:avLst/>
          </a:prstGeom>
          <a:solidFill>
            <a:srgbClr val="3D8DFF"/>
          </a:solidFill>
          <a:ln cap="flat" cmpd="sng" w="9525">
            <a:solidFill>
              <a:srgbClr val="3D8D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 name="Shape 41"/>
        <p:cNvGrpSpPr/>
        <p:nvPr/>
      </p:nvGrpSpPr>
      <p:grpSpPr>
        <a:xfrm>
          <a:off x="0" y="0"/>
          <a:ext cx="0" cy="0"/>
          <a:chOff x="0" y="0"/>
          <a:chExt cx="0" cy="0"/>
        </a:xfrm>
      </p:grpSpPr>
      <p:pic>
        <p:nvPicPr>
          <p:cNvPr id="42" name="Google Shape;42;p5"/>
          <p:cNvPicPr preferRelativeResize="0"/>
          <p:nvPr/>
        </p:nvPicPr>
        <p:blipFill>
          <a:blip r:embed="rId3">
            <a:alphaModFix/>
          </a:blip>
          <a:stretch>
            <a:fillRect/>
          </a:stretch>
        </p:blipFill>
        <p:spPr>
          <a:xfrm>
            <a:off x="2047875" y="1676400"/>
            <a:ext cx="8096250" cy="3505200"/>
          </a:xfrm>
          <a:prstGeom prst="rect">
            <a:avLst/>
          </a:prstGeom>
          <a:noFill/>
          <a:ln>
            <a:noFill/>
          </a:ln>
        </p:spPr>
      </p:pic>
      <p:sp>
        <p:nvSpPr>
          <p:cNvPr id="43" name="Google Shape;43;p5"/>
          <p:cNvSpPr txBox="1"/>
          <p:nvPr/>
        </p:nvSpPr>
        <p:spPr>
          <a:xfrm>
            <a:off x="4040550" y="5181600"/>
            <a:ext cx="4110900" cy="615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u="sng">
                <a:solidFill>
                  <a:schemeClr val="hlink"/>
                </a:solidFill>
                <a:hlinkClick r:id="rId4"/>
              </a:rPr>
              <a:t>https://www.researchgate.net/figure/Tiled-matrix-multiplication-pseudocode-2_fig1_395338903</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 name="Shape 48"/>
        <p:cNvGrpSpPr/>
        <p:nvPr/>
      </p:nvGrpSpPr>
      <p:grpSpPr>
        <a:xfrm>
          <a:off x="0" y="0"/>
          <a:ext cx="0" cy="0"/>
          <a:chOff x="0" y="0"/>
          <a:chExt cx="0" cy="0"/>
        </a:xfrm>
      </p:grpSpPr>
      <p:sp>
        <p:nvSpPr>
          <p:cNvPr id="49" name="Google Shape;49;p6"/>
          <p:cNvSpPr/>
          <p:nvPr/>
        </p:nvSpPr>
        <p:spPr>
          <a:xfrm>
            <a:off x="11279315" y="6279261"/>
            <a:ext cx="518922" cy="241268"/>
          </a:xfrm>
          <a:prstGeom prst="rect">
            <a:avLst/>
          </a:prstGeom>
          <a:noFill/>
          <a:ln>
            <a:noFill/>
          </a:ln>
        </p:spPr>
        <p:txBody>
          <a:bodyPr anchorCtr="0" anchor="b"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US" sz="1000" u="none" cap="none" strike="noStrike">
                <a:solidFill>
                  <a:srgbClr val="000000"/>
                </a:solidFill>
                <a:latin typeface="Helvetica Neue"/>
                <a:ea typeface="Helvetica Neue"/>
                <a:cs typeface="Helvetica Neue"/>
                <a:sym typeface="Helvetica Neue"/>
              </a:rPr>
              <a:t>3</a:t>
            </a:r>
            <a:endParaRPr b="0" i="0" sz="1400" u="none" cap="none" strike="noStrike">
              <a:solidFill>
                <a:srgbClr val="000000"/>
              </a:solidFill>
              <a:latin typeface="Arial"/>
              <a:ea typeface="Arial"/>
              <a:cs typeface="Arial"/>
              <a:sym typeface="Arial"/>
            </a:endParaRPr>
          </a:p>
        </p:txBody>
      </p:sp>
      <p:sp>
        <p:nvSpPr>
          <p:cNvPr id="50" name="Google Shape;50;p6"/>
          <p:cNvSpPr/>
          <p:nvPr/>
        </p:nvSpPr>
        <p:spPr>
          <a:xfrm>
            <a:off x="393668" y="344043"/>
            <a:ext cx="11404568" cy="104746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3000"/>
              <a:buFont typeface="Helvetica Neue"/>
              <a:buNone/>
            </a:pPr>
            <a:r>
              <a:rPr b="0" i="0" lang="en-US" sz="3000" u="none" cap="none" strike="noStrike">
                <a:solidFill>
                  <a:srgbClr val="000000"/>
                </a:solidFill>
                <a:latin typeface="Helvetica Neue"/>
                <a:ea typeface="Helvetica Neue"/>
                <a:cs typeface="Helvetica Neue"/>
                <a:sym typeface="Helvetica Neue"/>
              </a:rPr>
              <a:t>Training advances one mini-batch at a time</a:t>
            </a:r>
            <a:endParaRPr b="0" i="0" sz="1400" u="none" cap="none" strike="noStrike">
              <a:solidFill>
                <a:srgbClr val="000000"/>
              </a:solidFill>
              <a:latin typeface="Arial"/>
              <a:ea typeface="Arial"/>
              <a:cs typeface="Arial"/>
              <a:sym typeface="Arial"/>
            </a:endParaRPr>
          </a:p>
        </p:txBody>
      </p:sp>
      <p:cxnSp>
        <p:nvCxnSpPr>
          <p:cNvPr id="51" name="Google Shape;51;p6"/>
          <p:cNvCxnSpPr/>
          <p:nvPr/>
        </p:nvCxnSpPr>
        <p:spPr>
          <a:xfrm>
            <a:off x="337757" y="3373755"/>
            <a:ext cx="12245435" cy="286"/>
          </a:xfrm>
          <a:prstGeom prst="straightConnector1">
            <a:avLst/>
          </a:prstGeom>
          <a:noFill/>
          <a:ln cap="flat" cmpd="sng" w="9525">
            <a:solidFill>
              <a:srgbClr val="000000"/>
            </a:solidFill>
            <a:prstDash val="solid"/>
            <a:round/>
            <a:headEnd len="sm" w="sm" type="none"/>
            <a:tailEnd len="sm" w="sm" type="none"/>
          </a:ln>
        </p:spPr>
      </p:cxnSp>
      <p:sp>
        <p:nvSpPr>
          <p:cNvPr id="52" name="Google Shape;52;p6"/>
          <p:cNvSpPr/>
          <p:nvPr/>
        </p:nvSpPr>
        <p:spPr>
          <a:xfrm>
            <a:off x="337757" y="3320225"/>
            <a:ext cx="107061" cy="107061"/>
          </a:xfrm>
          <a:prstGeom prst="ellipse">
            <a:avLst/>
          </a:prstGeom>
          <a:solidFill>
            <a:srgbClr val="0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 name="Google Shape;53;p6"/>
          <p:cNvSpPr/>
          <p:nvPr/>
        </p:nvSpPr>
        <p:spPr>
          <a:xfrm>
            <a:off x="4251770" y="3320225"/>
            <a:ext cx="107061" cy="107061"/>
          </a:xfrm>
          <a:prstGeom prst="ellipse">
            <a:avLst/>
          </a:prstGeom>
          <a:solidFill>
            <a:srgbClr val="0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 name="Google Shape;54;p6"/>
          <p:cNvSpPr/>
          <p:nvPr/>
        </p:nvSpPr>
        <p:spPr>
          <a:xfrm>
            <a:off x="8176070" y="3320225"/>
            <a:ext cx="107061" cy="107061"/>
          </a:xfrm>
          <a:prstGeom prst="ellipse">
            <a:avLst/>
          </a:prstGeom>
          <a:solidFill>
            <a:srgbClr val="0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 name="Google Shape;55;p6"/>
          <p:cNvSpPr/>
          <p:nvPr/>
        </p:nvSpPr>
        <p:spPr>
          <a:xfrm>
            <a:off x="393668" y="2843308"/>
            <a:ext cx="1612868" cy="26241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B616B"/>
              </a:buClr>
              <a:buSzPts val="1350"/>
              <a:buFont typeface="Helvetica Neue"/>
              <a:buNone/>
            </a:pPr>
            <a:r>
              <a:rPr b="1" i="0" lang="en-US" sz="1350" u="none" cap="none" strike="noStrike">
                <a:solidFill>
                  <a:srgbClr val="5B616B"/>
                </a:solidFill>
                <a:latin typeface="Helvetica Neue"/>
                <a:ea typeface="Helvetica Neue"/>
                <a:cs typeface="Helvetica Neue"/>
                <a:sym typeface="Helvetica Neue"/>
              </a:rPr>
              <a:t>1 · FORWARD</a:t>
            </a:r>
            <a:endParaRPr b="0" i="0" sz="1400" u="none" cap="none" strike="noStrike">
              <a:solidFill>
                <a:srgbClr val="000000"/>
              </a:solidFill>
              <a:latin typeface="Arial"/>
              <a:ea typeface="Arial"/>
              <a:cs typeface="Arial"/>
              <a:sym typeface="Arial"/>
            </a:endParaRPr>
          </a:p>
        </p:txBody>
      </p:sp>
      <p:sp>
        <p:nvSpPr>
          <p:cNvPr id="56" name="Google Shape;56;p6"/>
          <p:cNvSpPr/>
          <p:nvPr/>
        </p:nvSpPr>
        <p:spPr>
          <a:xfrm>
            <a:off x="4294156" y="2843308"/>
            <a:ext cx="1612868" cy="26241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B616B"/>
              </a:buClr>
              <a:buSzPts val="1350"/>
              <a:buFont typeface="Helvetica Neue"/>
              <a:buNone/>
            </a:pPr>
            <a:r>
              <a:rPr b="1" i="0" lang="en-US" sz="1350" u="none" cap="none" strike="noStrike">
                <a:solidFill>
                  <a:srgbClr val="5B616B"/>
                </a:solidFill>
                <a:latin typeface="Helvetica Neue"/>
                <a:ea typeface="Helvetica Neue"/>
                <a:cs typeface="Helvetica Neue"/>
                <a:sym typeface="Helvetica Neue"/>
              </a:rPr>
              <a:t>2 · BACKWARD</a:t>
            </a:r>
            <a:endParaRPr b="0" i="0" sz="1400" u="none" cap="none" strike="noStrike">
              <a:solidFill>
                <a:srgbClr val="000000"/>
              </a:solidFill>
              <a:latin typeface="Arial"/>
              <a:ea typeface="Arial"/>
              <a:cs typeface="Arial"/>
              <a:sym typeface="Arial"/>
            </a:endParaRPr>
          </a:p>
        </p:txBody>
      </p:sp>
      <p:sp>
        <p:nvSpPr>
          <p:cNvPr id="57" name="Google Shape;57;p6"/>
          <p:cNvSpPr/>
          <p:nvPr/>
        </p:nvSpPr>
        <p:spPr>
          <a:xfrm>
            <a:off x="8223218" y="2843308"/>
            <a:ext cx="1612868" cy="26241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B616B"/>
              </a:buClr>
              <a:buSzPts val="1350"/>
              <a:buFont typeface="Helvetica Neue"/>
              <a:buNone/>
            </a:pPr>
            <a:r>
              <a:rPr b="1" i="0" lang="en-US" sz="1350" u="none" cap="none" strike="noStrike">
                <a:solidFill>
                  <a:srgbClr val="5B616B"/>
                </a:solidFill>
                <a:latin typeface="Helvetica Neue"/>
                <a:ea typeface="Helvetica Neue"/>
                <a:cs typeface="Helvetica Neue"/>
                <a:sym typeface="Helvetica Neue"/>
              </a:rPr>
              <a:t>3 · UPDATE</a:t>
            </a:r>
            <a:endParaRPr b="0" i="0" sz="1400" u="none" cap="none" strike="noStrike">
              <a:solidFill>
                <a:srgbClr val="000000"/>
              </a:solidFill>
              <a:latin typeface="Arial"/>
              <a:ea typeface="Arial"/>
              <a:cs typeface="Arial"/>
              <a:sym typeface="Arial"/>
            </a:endParaRPr>
          </a:p>
        </p:txBody>
      </p:sp>
      <p:sp>
        <p:nvSpPr>
          <p:cNvPr id="58" name="Google Shape;58;p6"/>
          <p:cNvSpPr/>
          <p:nvPr/>
        </p:nvSpPr>
        <p:spPr>
          <a:xfrm>
            <a:off x="4317111" y="3822668"/>
            <a:ext cx="3156109" cy="158629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950"/>
              <a:buFont typeface="Helvetica Neue"/>
              <a:buNone/>
            </a:pPr>
            <a:r>
              <a:rPr b="1" i="0" lang="en-US" sz="1950" u="none" cap="none" strike="noStrike">
                <a:solidFill>
                  <a:srgbClr val="000000"/>
                </a:solidFill>
                <a:latin typeface="Helvetica Neue"/>
                <a:ea typeface="Helvetica Neue"/>
                <a:cs typeface="Helvetica Neue"/>
                <a:sym typeface="Helvetica Neue"/>
              </a:rPr>
              <a:t>Accumulate</a:t>
            </a:r>
            <a:endParaRPr b="0" i="0" sz="1400" u="none" cap="none" strike="noStrike">
              <a:solidFill>
                <a:srgbClr val="000000"/>
              </a:solidFill>
              <a:latin typeface="Arial"/>
              <a:ea typeface="Arial"/>
              <a:cs typeface="Arial"/>
              <a:sym typeface="Arial"/>
            </a:endParaRPr>
          </a:p>
          <a:p>
            <a:pPr indent="0" lvl="0" marL="0" marR="0" rtl="0" algn="l">
              <a:lnSpc>
                <a:spcPct val="112000"/>
              </a:lnSpc>
              <a:spcBef>
                <a:spcPts val="700"/>
              </a:spcBef>
              <a:spcAft>
                <a:spcPts val="0"/>
              </a:spcAft>
              <a:buClr>
                <a:srgbClr val="5B616B"/>
              </a:buClr>
              <a:buSzPts val="1350"/>
              <a:buFont typeface="Helvetica Neue"/>
              <a:buNone/>
            </a:pPr>
            <a:r>
              <a:rPr b="0" i="0" lang="en-US" sz="1350" u="none" cap="none" strike="noStrike">
                <a:solidFill>
                  <a:srgbClr val="5B616B"/>
                </a:solidFill>
                <a:latin typeface="Helvetica Neue"/>
                <a:ea typeface="Helvetica Neue"/>
                <a:cs typeface="Helvetica Neue"/>
                <a:sym typeface="Helvetica Neue"/>
              </a:rPr>
              <a:t>Sum sample contributions into one batch gradient.</a:t>
            </a:r>
            <a:endParaRPr b="0" i="0" sz="1400" u="none" cap="none" strike="noStrike">
              <a:solidFill>
                <a:srgbClr val="000000"/>
              </a:solidFill>
              <a:latin typeface="Arial"/>
              <a:ea typeface="Arial"/>
              <a:cs typeface="Arial"/>
              <a:sym typeface="Arial"/>
            </a:endParaRPr>
          </a:p>
        </p:txBody>
      </p:sp>
      <p:sp>
        <p:nvSpPr>
          <p:cNvPr id="59" name="Google Shape;59;p6"/>
          <p:cNvSpPr/>
          <p:nvPr/>
        </p:nvSpPr>
        <p:spPr>
          <a:xfrm>
            <a:off x="399859" y="3822668"/>
            <a:ext cx="3156109" cy="158629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950"/>
              <a:buFont typeface="Helvetica Neue"/>
              <a:buNone/>
            </a:pPr>
            <a:r>
              <a:rPr b="1" i="0" lang="en-US" sz="1950" u="none" cap="none" strike="noStrike">
                <a:solidFill>
                  <a:srgbClr val="000000"/>
                </a:solidFill>
                <a:latin typeface="Helvetica Neue"/>
                <a:ea typeface="Helvetica Neue"/>
                <a:cs typeface="Helvetica Neue"/>
                <a:sym typeface="Helvetica Neue"/>
              </a:rPr>
              <a:t>Predict</a:t>
            </a:r>
            <a:endParaRPr b="0" i="0" sz="1400" u="none" cap="none" strike="noStrike">
              <a:solidFill>
                <a:srgbClr val="000000"/>
              </a:solidFill>
              <a:latin typeface="Arial"/>
              <a:ea typeface="Arial"/>
              <a:cs typeface="Arial"/>
              <a:sym typeface="Arial"/>
            </a:endParaRPr>
          </a:p>
          <a:p>
            <a:pPr indent="0" lvl="0" marL="0" marR="0" rtl="0" algn="l">
              <a:lnSpc>
                <a:spcPct val="112000"/>
              </a:lnSpc>
              <a:spcBef>
                <a:spcPts val="700"/>
              </a:spcBef>
              <a:spcAft>
                <a:spcPts val="0"/>
              </a:spcAft>
              <a:buClr>
                <a:srgbClr val="5B616B"/>
              </a:buClr>
              <a:buSzPts val="1350"/>
              <a:buFont typeface="Helvetica Neue"/>
              <a:buNone/>
            </a:pPr>
            <a:r>
              <a:rPr b="0" i="0" lang="en-US" sz="1350" u="none" cap="none" strike="noStrike">
                <a:solidFill>
                  <a:srgbClr val="5B616B"/>
                </a:solidFill>
                <a:latin typeface="Helvetica Neue"/>
                <a:ea typeface="Helvetica Neue"/>
                <a:cs typeface="Helvetica Neue"/>
                <a:sym typeface="Helvetica Neue"/>
              </a:rPr>
              <a:t>Run the current batch through the two-layer network.</a:t>
            </a:r>
            <a:endParaRPr b="0" i="0" sz="1400" u="none" cap="none" strike="noStrike">
              <a:solidFill>
                <a:srgbClr val="000000"/>
              </a:solidFill>
              <a:latin typeface="Arial"/>
              <a:ea typeface="Arial"/>
              <a:cs typeface="Arial"/>
              <a:sym typeface="Arial"/>
            </a:endParaRPr>
          </a:p>
        </p:txBody>
      </p:sp>
      <p:sp>
        <p:nvSpPr>
          <p:cNvPr id="60" name="Google Shape;60;p6"/>
          <p:cNvSpPr/>
          <p:nvPr/>
        </p:nvSpPr>
        <p:spPr>
          <a:xfrm>
            <a:off x="8177879" y="3822668"/>
            <a:ext cx="3156109" cy="158629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950"/>
              <a:buFont typeface="Helvetica Neue"/>
              <a:buNone/>
            </a:pPr>
            <a:r>
              <a:rPr b="1" i="0" lang="en-US" sz="1950" u="none" cap="none" strike="noStrike">
                <a:solidFill>
                  <a:srgbClr val="000000"/>
                </a:solidFill>
                <a:latin typeface="Helvetica Neue"/>
                <a:ea typeface="Helvetica Neue"/>
                <a:cs typeface="Helvetica Neue"/>
                <a:sym typeface="Helvetica Neue"/>
              </a:rPr>
              <a:t>Change the model</a:t>
            </a:r>
            <a:endParaRPr b="0" i="0" sz="1400" u="none" cap="none" strike="noStrike">
              <a:solidFill>
                <a:srgbClr val="000000"/>
              </a:solidFill>
              <a:latin typeface="Arial"/>
              <a:ea typeface="Arial"/>
              <a:cs typeface="Arial"/>
              <a:sym typeface="Arial"/>
            </a:endParaRPr>
          </a:p>
          <a:p>
            <a:pPr indent="0" lvl="0" marL="0" marR="0" rtl="0" algn="l">
              <a:lnSpc>
                <a:spcPct val="112000"/>
              </a:lnSpc>
              <a:spcBef>
                <a:spcPts val="700"/>
              </a:spcBef>
              <a:spcAft>
                <a:spcPts val="0"/>
              </a:spcAft>
              <a:buClr>
                <a:srgbClr val="5B616B"/>
              </a:buClr>
              <a:buSzPts val="1350"/>
              <a:buFont typeface="Helvetica Neue"/>
              <a:buNone/>
            </a:pPr>
            <a:r>
              <a:rPr b="0" i="0" lang="en-US" sz="1350" u="none" cap="none" strike="noStrike">
                <a:solidFill>
                  <a:srgbClr val="5B616B"/>
                </a:solidFill>
                <a:latin typeface="Helvetica Neue"/>
                <a:ea typeface="Helvetica Neue"/>
                <a:cs typeface="Helvetica Neue"/>
                <a:sym typeface="Helvetica Neue"/>
              </a:rPr>
              <a:t>Apply one update, then move to the next batch.</a:t>
            </a:r>
            <a:endParaRPr b="0" i="0" sz="1400" u="none" cap="none" strike="noStrike">
              <a:solidFill>
                <a:srgbClr val="000000"/>
              </a:solidFill>
              <a:latin typeface="Arial"/>
              <a:ea typeface="Arial"/>
              <a:cs typeface="Arial"/>
              <a:sym typeface="Arial"/>
            </a:endParaRPr>
          </a:p>
        </p:txBody>
      </p:sp>
      <p:sp>
        <p:nvSpPr>
          <p:cNvPr id="61" name="Google Shape;61;p6"/>
          <p:cNvSpPr/>
          <p:nvPr/>
        </p:nvSpPr>
        <p:spPr>
          <a:xfrm>
            <a:off x="400050" y="1381125"/>
            <a:ext cx="1428750" cy="24765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rPr b="1" i="0" lang="en-US" sz="1350" u="none" cap="none" strike="noStrike">
                <a:solidFill>
                  <a:srgbClr val="5B616B"/>
                </a:solidFill>
                <a:latin typeface="Helvetica Neue"/>
                <a:ea typeface="Helvetica Neue"/>
                <a:cs typeface="Helvetica Neue"/>
                <a:sym typeface="Helvetica Neue"/>
              </a:rPr>
              <a:t>One epoch</a:t>
            </a:r>
            <a:endParaRPr b="0" i="0" sz="1400" u="none" cap="none" strike="noStrike">
              <a:solidFill>
                <a:srgbClr val="000000"/>
              </a:solidFill>
              <a:latin typeface="Arial"/>
              <a:ea typeface="Arial"/>
              <a:cs typeface="Arial"/>
              <a:sym typeface="Arial"/>
            </a:endParaRPr>
          </a:p>
        </p:txBody>
      </p:sp>
      <p:sp>
        <p:nvSpPr>
          <p:cNvPr id="62" name="Google Shape;62;p6"/>
          <p:cNvSpPr/>
          <p:nvPr/>
        </p:nvSpPr>
        <p:spPr>
          <a:xfrm>
            <a:off x="1733550" y="1352550"/>
            <a:ext cx="2076450" cy="552450"/>
          </a:xfrm>
          <a:prstGeom prst="roundRect">
            <a:avLst>
              <a:gd fmla="val 10345" name="adj"/>
            </a:avLst>
          </a:prstGeom>
          <a:solidFill>
            <a:srgbClr val="3D8DFF"/>
          </a:solidFill>
          <a:ln cap="flat" cmpd="sng" w="9525">
            <a:solidFill>
              <a:srgbClr val="3D8D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 name="Google Shape;63;p6"/>
          <p:cNvSpPr/>
          <p:nvPr/>
        </p:nvSpPr>
        <p:spPr>
          <a:xfrm>
            <a:off x="1809750" y="1524000"/>
            <a:ext cx="1924050" cy="228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75"/>
              <a:buFont typeface="Arial"/>
              <a:buNone/>
            </a:pPr>
            <a:r>
              <a:rPr b="1" i="0" lang="en-US" sz="1275" u="none" cap="none" strike="noStrike">
                <a:solidFill>
                  <a:srgbClr val="FFFFFF"/>
                </a:solidFill>
                <a:latin typeface="Helvetica Neue"/>
                <a:ea typeface="Helvetica Neue"/>
                <a:cs typeface="Helvetica Neue"/>
                <a:sym typeface="Helvetica Neue"/>
              </a:rPr>
              <a:t>64 samples</a:t>
            </a:r>
            <a:endParaRPr b="0" i="0" sz="1400" u="none" cap="none" strike="noStrike">
              <a:solidFill>
                <a:srgbClr val="000000"/>
              </a:solidFill>
              <a:latin typeface="Arial"/>
              <a:ea typeface="Arial"/>
              <a:cs typeface="Arial"/>
              <a:sym typeface="Arial"/>
            </a:endParaRPr>
          </a:p>
        </p:txBody>
      </p:sp>
      <p:sp>
        <p:nvSpPr>
          <p:cNvPr id="64" name="Google Shape;64;p6"/>
          <p:cNvSpPr/>
          <p:nvPr/>
        </p:nvSpPr>
        <p:spPr>
          <a:xfrm>
            <a:off x="3943350" y="1352550"/>
            <a:ext cx="2076450" cy="552450"/>
          </a:xfrm>
          <a:prstGeom prst="roundRect">
            <a:avLst>
              <a:gd fmla="val 10345" name="adj"/>
            </a:avLst>
          </a:prstGeom>
          <a:solidFill>
            <a:srgbClr val="6DCBF4"/>
          </a:solidFill>
          <a:ln cap="flat" cmpd="sng" w="9525">
            <a:solidFill>
              <a:srgbClr val="6DCBF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6"/>
          <p:cNvSpPr/>
          <p:nvPr/>
        </p:nvSpPr>
        <p:spPr>
          <a:xfrm>
            <a:off x="4019550" y="1524000"/>
            <a:ext cx="1924050" cy="228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75"/>
              <a:buFont typeface="Arial"/>
              <a:buNone/>
            </a:pPr>
            <a:r>
              <a:rPr b="0" i="0" lang="en-US" sz="1275" u="none" cap="none" strike="noStrike">
                <a:solidFill>
                  <a:srgbClr val="000000"/>
                </a:solidFill>
                <a:latin typeface="Helvetica Neue"/>
                <a:ea typeface="Helvetica Neue"/>
                <a:cs typeface="Helvetica Neue"/>
                <a:sym typeface="Helvetica Neue"/>
              </a:rPr>
              <a:t>64 samples</a:t>
            </a:r>
            <a:endParaRPr b="0" i="0" sz="1400" u="none" cap="none" strike="noStrike">
              <a:solidFill>
                <a:srgbClr val="000000"/>
              </a:solidFill>
              <a:latin typeface="Arial"/>
              <a:ea typeface="Arial"/>
              <a:cs typeface="Arial"/>
              <a:sym typeface="Arial"/>
            </a:endParaRPr>
          </a:p>
        </p:txBody>
      </p:sp>
      <p:sp>
        <p:nvSpPr>
          <p:cNvPr id="66" name="Google Shape;66;p6"/>
          <p:cNvSpPr/>
          <p:nvPr/>
        </p:nvSpPr>
        <p:spPr>
          <a:xfrm>
            <a:off x="6153150" y="1352550"/>
            <a:ext cx="2076450" cy="552450"/>
          </a:xfrm>
          <a:prstGeom prst="roundRect">
            <a:avLst>
              <a:gd fmla="val 10345" name="adj"/>
            </a:avLst>
          </a:prstGeom>
          <a:solidFill>
            <a:srgbClr val="D0EDFA"/>
          </a:solidFill>
          <a:ln cap="flat" cmpd="sng" w="9525">
            <a:solidFill>
              <a:srgbClr val="D0EDF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 name="Google Shape;67;p6"/>
          <p:cNvSpPr/>
          <p:nvPr/>
        </p:nvSpPr>
        <p:spPr>
          <a:xfrm>
            <a:off x="6229350" y="1524000"/>
            <a:ext cx="1924050" cy="228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75"/>
              <a:buFont typeface="Arial"/>
              <a:buNone/>
            </a:pPr>
            <a:r>
              <a:rPr b="0" i="0" lang="en-US" sz="1275" u="none" cap="none" strike="noStrike">
                <a:solidFill>
                  <a:srgbClr val="000000"/>
                </a:solidFill>
                <a:latin typeface="Helvetica Neue"/>
                <a:ea typeface="Helvetica Neue"/>
                <a:cs typeface="Helvetica Neue"/>
                <a:sym typeface="Helvetica Neue"/>
              </a:rPr>
              <a:t>64 samples</a:t>
            </a:r>
            <a:endParaRPr b="0" i="0" sz="1400" u="none" cap="none" strike="noStrike">
              <a:solidFill>
                <a:srgbClr val="000000"/>
              </a:solidFill>
              <a:latin typeface="Arial"/>
              <a:ea typeface="Arial"/>
              <a:cs typeface="Arial"/>
              <a:sym typeface="Arial"/>
            </a:endParaRPr>
          </a:p>
        </p:txBody>
      </p:sp>
      <p:sp>
        <p:nvSpPr>
          <p:cNvPr id="68" name="Google Shape;68;p6"/>
          <p:cNvSpPr/>
          <p:nvPr/>
        </p:nvSpPr>
        <p:spPr>
          <a:xfrm>
            <a:off x="8362950" y="1352550"/>
            <a:ext cx="704850" cy="552450"/>
          </a:xfrm>
          <a:prstGeom prst="roundRect">
            <a:avLst>
              <a:gd fmla="val 10345" name="adj"/>
            </a:avLst>
          </a:prstGeom>
          <a:solidFill>
            <a:srgbClr val="F2F2F2"/>
          </a:solidFill>
          <a:ln cap="flat" cmpd="sng" w="9525">
            <a:solidFill>
              <a:srgbClr val="B8BCC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 name="Google Shape;69;p6"/>
          <p:cNvSpPr/>
          <p:nvPr/>
        </p:nvSpPr>
        <p:spPr>
          <a:xfrm>
            <a:off x="8439150" y="1524000"/>
            <a:ext cx="552450" cy="228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75"/>
              <a:buFont typeface="Arial"/>
              <a:buNone/>
            </a:pPr>
            <a:r>
              <a:rPr b="0" i="0" lang="en-US" sz="1275" u="none" cap="none" strike="noStrike">
                <a:solidFill>
                  <a:srgbClr val="000000"/>
                </a:solidFill>
                <a:latin typeface="Helvetica Neue"/>
                <a:ea typeface="Helvetica Neue"/>
                <a:cs typeface="Helvetica Neue"/>
                <a:sym typeface="Helvetica Neue"/>
              </a:rPr>
              <a:t>…</a:t>
            </a:r>
            <a:endParaRPr b="0" i="0" sz="1400" u="none" cap="none" strike="noStrike">
              <a:solidFill>
                <a:srgbClr val="000000"/>
              </a:solidFill>
              <a:latin typeface="Arial"/>
              <a:ea typeface="Arial"/>
              <a:cs typeface="Arial"/>
              <a:sym typeface="Arial"/>
            </a:endParaRPr>
          </a:p>
        </p:txBody>
      </p:sp>
      <p:sp>
        <p:nvSpPr>
          <p:cNvPr id="70" name="Google Shape;70;p6"/>
          <p:cNvSpPr/>
          <p:nvPr/>
        </p:nvSpPr>
        <p:spPr>
          <a:xfrm>
            <a:off x="9201150" y="1352550"/>
            <a:ext cx="1619250" cy="552450"/>
          </a:xfrm>
          <a:prstGeom prst="roundRect">
            <a:avLst>
              <a:gd fmla="val 10345" name="adj"/>
            </a:avLst>
          </a:prstGeom>
          <a:solidFill>
            <a:srgbClr val="EAF5FB"/>
          </a:solidFill>
          <a:ln cap="flat" cmpd="sng" w="9525">
            <a:solidFill>
              <a:srgbClr val="EAF5FB"/>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 name="Google Shape;71;p6"/>
          <p:cNvSpPr/>
          <p:nvPr/>
        </p:nvSpPr>
        <p:spPr>
          <a:xfrm>
            <a:off x="9277350" y="1524000"/>
            <a:ext cx="1466850" cy="228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75"/>
              <a:buFont typeface="Arial"/>
              <a:buNone/>
            </a:pPr>
            <a:r>
              <a:rPr b="0" i="0" lang="en-US" sz="1275" u="none" cap="none" strike="noStrike">
                <a:solidFill>
                  <a:srgbClr val="000000"/>
                </a:solidFill>
                <a:latin typeface="Helvetica Neue"/>
                <a:ea typeface="Helvetica Neue"/>
                <a:cs typeface="Helvetica Neue"/>
                <a:sym typeface="Helvetica Neue"/>
              </a:rPr>
              <a:t>final batch</a:t>
            </a:r>
            <a:endParaRPr b="0" i="0" sz="1400" u="none" cap="none" strike="noStrike">
              <a:solidFill>
                <a:srgbClr val="000000"/>
              </a:solidFill>
              <a:latin typeface="Arial"/>
              <a:ea typeface="Arial"/>
              <a:cs typeface="Arial"/>
              <a:sym typeface="Arial"/>
            </a:endParaRPr>
          </a:p>
        </p:txBody>
      </p:sp>
      <p:sp>
        <p:nvSpPr>
          <p:cNvPr id="72" name="Google Shape;72;p6"/>
          <p:cNvSpPr/>
          <p:nvPr/>
        </p:nvSpPr>
        <p:spPr>
          <a:xfrm>
            <a:off x="1733550" y="2076450"/>
            <a:ext cx="9086850" cy="4191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500"/>
              <a:buFont typeface="Arial"/>
              <a:buNone/>
            </a:pPr>
            <a:r>
              <a:rPr b="0" i="0" lang="en-US" sz="1500" u="none" cap="none" strike="noStrike">
                <a:solidFill>
                  <a:srgbClr val="5B616B"/>
                </a:solidFill>
                <a:latin typeface="Helvetica Neue"/>
                <a:ea typeface="Helvetica Neue"/>
                <a:cs typeface="Helvetica Neue"/>
                <a:sym typeface="Helvetica Neue"/>
              </a:rPr>
              <a:t>Batches stay sequential because every update changes the weights used by the next batch.</a:t>
            </a:r>
            <a:endParaRPr b="0" i="0" sz="1500" u="none" cap="none" strike="noStrike">
              <a:solidFill>
                <a:srgbClr val="5B616B"/>
              </a:solidFill>
              <a:latin typeface="Helvetica Neue"/>
              <a:ea typeface="Helvetica Neue"/>
              <a:cs typeface="Helvetica Neue"/>
              <a:sym typeface="Helvetica Neue"/>
            </a:endParaRPr>
          </a:p>
          <a:p>
            <a:pPr indent="0" lvl="0" marL="0" marR="0" rtl="0" algn="ctr">
              <a:lnSpc>
                <a:spcPct val="100000"/>
              </a:lnSpc>
              <a:spcBef>
                <a:spcPts val="0"/>
              </a:spcBef>
              <a:spcAft>
                <a:spcPts val="0"/>
              </a:spcAft>
              <a:buClr>
                <a:srgbClr val="000000"/>
              </a:buClr>
              <a:buSzPts val="1500"/>
              <a:buFont typeface="Arial"/>
              <a:buNone/>
            </a:pPr>
            <a:r>
              <a:rPr lang="en-US" sz="1500">
                <a:solidFill>
                  <a:srgbClr val="5B616B"/>
                </a:solidFill>
                <a:latin typeface="Helvetica Neue"/>
                <a:ea typeface="Helvetica Neue"/>
                <a:cs typeface="Helvetica Neue"/>
                <a:sym typeface="Helvetica Neue"/>
              </a:rPr>
              <a:t>(Besides MPI)</a:t>
            </a:r>
            <a:endParaRPr sz="1500">
              <a:solidFill>
                <a:srgbClr val="5B616B"/>
              </a:solidFill>
              <a:latin typeface="Helvetica Neue"/>
              <a:ea typeface="Helvetica Neue"/>
              <a:cs typeface="Helvetica Neue"/>
              <a:sym typeface="Helvetica Neue"/>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 name="Shape 77"/>
        <p:cNvGrpSpPr/>
        <p:nvPr/>
      </p:nvGrpSpPr>
      <p:grpSpPr>
        <a:xfrm>
          <a:off x="0" y="0"/>
          <a:ext cx="0" cy="0"/>
          <a:chOff x="0" y="0"/>
          <a:chExt cx="0" cy="0"/>
        </a:xfrm>
      </p:grpSpPr>
      <p:sp>
        <p:nvSpPr>
          <p:cNvPr id="78" name="Google Shape;78;p7"/>
          <p:cNvSpPr/>
          <p:nvPr/>
        </p:nvSpPr>
        <p:spPr>
          <a:xfrm>
            <a:off x="393668" y="344043"/>
            <a:ext cx="11404568" cy="800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3000"/>
              <a:buFont typeface="Arial"/>
              <a:buNone/>
            </a:pPr>
            <a:r>
              <a:rPr b="0" i="0" lang="en-US" sz="3000" u="none" cap="none" strike="noStrike">
                <a:solidFill>
                  <a:srgbClr val="000000"/>
                </a:solidFill>
                <a:latin typeface="Helvetica Neue"/>
                <a:ea typeface="Helvetica Neue"/>
                <a:cs typeface="Helvetica Neue"/>
                <a:sym typeface="Helvetica Neue"/>
              </a:rPr>
              <a:t>Tiling improves locality; OpenMP divides work inside each batch</a:t>
            </a:r>
            <a:endParaRPr b="0" i="0" sz="1400" u="none" cap="none" strike="noStrike">
              <a:solidFill>
                <a:srgbClr val="000000"/>
              </a:solidFill>
              <a:latin typeface="Arial"/>
              <a:ea typeface="Arial"/>
              <a:cs typeface="Arial"/>
              <a:sym typeface="Arial"/>
            </a:endParaRPr>
          </a:p>
        </p:txBody>
      </p:sp>
      <p:sp>
        <p:nvSpPr>
          <p:cNvPr id="79" name="Google Shape;79;p7"/>
          <p:cNvSpPr/>
          <p:nvPr/>
        </p:nvSpPr>
        <p:spPr>
          <a:xfrm>
            <a:off x="11279315" y="6279261"/>
            <a:ext cx="518922" cy="241268"/>
          </a:xfrm>
          <a:prstGeom prst="rect">
            <a:avLst/>
          </a:prstGeom>
          <a:noFill/>
          <a:ln>
            <a:noFill/>
          </a:ln>
        </p:spPr>
        <p:txBody>
          <a:bodyPr anchorCtr="0" anchor="b"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US" sz="1000" u="none" cap="none" strike="noStrike">
                <a:solidFill>
                  <a:srgbClr val="000000"/>
                </a:solidFill>
                <a:latin typeface="Helvetica Neue"/>
                <a:ea typeface="Helvetica Neue"/>
                <a:cs typeface="Helvetica Neue"/>
                <a:sym typeface="Helvetica Neue"/>
              </a:rPr>
              <a:t>4</a:t>
            </a:r>
            <a:endParaRPr b="0" i="0" sz="1400" u="none" cap="none" strike="noStrike">
              <a:solidFill>
                <a:srgbClr val="000000"/>
              </a:solidFill>
              <a:latin typeface="Arial"/>
              <a:ea typeface="Arial"/>
              <a:cs typeface="Arial"/>
              <a:sym typeface="Arial"/>
            </a:endParaRPr>
          </a:p>
        </p:txBody>
      </p:sp>
      <p:sp>
        <p:nvSpPr>
          <p:cNvPr id="80" name="Google Shape;80;p7"/>
          <p:cNvSpPr/>
          <p:nvPr/>
        </p:nvSpPr>
        <p:spPr>
          <a:xfrm>
            <a:off x="400050" y="1581150"/>
            <a:ext cx="4667250" cy="74295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100"/>
              <a:buFont typeface="Arial"/>
              <a:buNone/>
            </a:pPr>
            <a:r>
              <a:rPr b="1" i="0" lang="en-US" sz="2100" u="none" cap="none" strike="noStrike">
                <a:solidFill>
                  <a:srgbClr val="000000"/>
                </a:solidFill>
                <a:latin typeface="Helvetica Neue"/>
                <a:ea typeface="Helvetica Neue"/>
                <a:cs typeface="Helvetica Neue"/>
                <a:sym typeface="Helvetica Neue"/>
              </a:rPr>
              <a:t>The optimized kernel assigns each output tile to one thread owner.</a:t>
            </a:r>
            <a:endParaRPr b="0" i="0" sz="1400" u="none" cap="none" strike="noStrike">
              <a:solidFill>
                <a:srgbClr val="000000"/>
              </a:solidFill>
              <a:latin typeface="Arial"/>
              <a:ea typeface="Arial"/>
              <a:cs typeface="Arial"/>
              <a:sym typeface="Arial"/>
            </a:endParaRPr>
          </a:p>
        </p:txBody>
      </p:sp>
      <p:sp>
        <p:nvSpPr>
          <p:cNvPr id="81" name="Google Shape;81;p7"/>
          <p:cNvSpPr/>
          <p:nvPr/>
        </p:nvSpPr>
        <p:spPr>
          <a:xfrm>
            <a:off x="400050" y="2686050"/>
            <a:ext cx="4762500" cy="238125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575"/>
              <a:buFont typeface="Arial"/>
              <a:buNone/>
            </a:pPr>
            <a:r>
              <a:rPr b="0" i="0" lang="en-US" sz="1575" u="none" cap="none" strike="noStrike">
                <a:solidFill>
                  <a:srgbClr val="5B616B"/>
                </a:solidFill>
                <a:latin typeface="Helvetica Neue"/>
                <a:ea typeface="Helvetica Neue"/>
                <a:cs typeface="Helvetica Neue"/>
                <a:sym typeface="Helvetica Neue"/>
              </a:rPr>
              <a:t>• Packed logical transposes improve contiguous access.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575"/>
              <a:buFont typeface="Arial"/>
              <a:buNone/>
            </a:pPr>
            <a:r>
              <a:t/>
            </a:r>
            <a:endParaRPr b="0" i="0" sz="1575" u="none" cap="none" strike="noStrike">
              <a:solidFill>
                <a:srgbClr val="5B616B"/>
              </a:solidFill>
              <a:latin typeface="Helvetica Neue"/>
              <a:ea typeface="Helvetica Neue"/>
              <a:cs typeface="Helvetica Neue"/>
              <a:sym typeface="Helvetica Neue"/>
            </a:endParaRPr>
          </a:p>
          <a:p>
            <a:pPr indent="0" lvl="0" marL="0" marR="0" rtl="0" algn="l">
              <a:lnSpc>
                <a:spcPct val="100000"/>
              </a:lnSpc>
              <a:spcBef>
                <a:spcPts val="0"/>
              </a:spcBef>
              <a:spcAft>
                <a:spcPts val="0"/>
              </a:spcAft>
              <a:buClr>
                <a:srgbClr val="000000"/>
              </a:buClr>
              <a:buSzPts val="1575"/>
              <a:buFont typeface="Arial"/>
              <a:buNone/>
            </a:pPr>
            <a:r>
              <a:rPr b="0" i="0" lang="en-US" sz="1575" u="none" cap="none" strike="noStrike">
                <a:solidFill>
                  <a:srgbClr val="5B616B"/>
                </a:solidFill>
                <a:latin typeface="Helvetica Neue"/>
                <a:ea typeface="Helvetica Neue"/>
                <a:cs typeface="Helvetica Neue"/>
                <a:sym typeface="Helvetica Neue"/>
              </a:rPr>
              <a:t>• Static scheduling distributes regular output tiles.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575"/>
              <a:buFont typeface="Arial"/>
              <a:buNone/>
            </a:pPr>
            <a:r>
              <a:t/>
            </a:r>
            <a:endParaRPr b="0" i="0" sz="1575" u="none" cap="none" strike="noStrike">
              <a:solidFill>
                <a:srgbClr val="5B616B"/>
              </a:solidFill>
              <a:latin typeface="Helvetica Neue"/>
              <a:ea typeface="Helvetica Neue"/>
              <a:cs typeface="Helvetica Neue"/>
              <a:sym typeface="Helvetica Neue"/>
            </a:endParaRPr>
          </a:p>
          <a:p>
            <a:pPr indent="0" lvl="0" marL="0" marR="0" rtl="0" algn="l">
              <a:lnSpc>
                <a:spcPct val="100000"/>
              </a:lnSpc>
              <a:spcBef>
                <a:spcPts val="0"/>
              </a:spcBef>
              <a:spcAft>
                <a:spcPts val="0"/>
              </a:spcAft>
              <a:buClr>
                <a:srgbClr val="000000"/>
              </a:buClr>
              <a:buSzPts val="1575"/>
              <a:buFont typeface="Arial"/>
              <a:buNone/>
            </a:pPr>
            <a:r>
              <a:rPr b="0" i="0" lang="en-US" sz="1575" u="none" cap="none" strike="noStrike">
                <a:solidFill>
                  <a:srgbClr val="5B616B"/>
                </a:solidFill>
                <a:latin typeface="Helvetica Neue"/>
                <a:ea typeface="Helvetica Neue"/>
                <a:cs typeface="Helvetica Neue"/>
                <a:sym typeface="Helvetica Neue"/>
              </a:rPr>
              <a:t>• The tile owner covers the full reduction dimension—no atomics are needed.</a:t>
            </a:r>
            <a:endParaRPr b="0" i="0" sz="1400" u="none" cap="none" strike="noStrike">
              <a:solidFill>
                <a:srgbClr val="000000"/>
              </a:solidFill>
              <a:latin typeface="Arial"/>
              <a:ea typeface="Arial"/>
              <a:cs typeface="Arial"/>
              <a:sym typeface="Arial"/>
            </a:endParaRPr>
          </a:p>
        </p:txBody>
      </p:sp>
      <p:sp>
        <p:nvSpPr>
          <p:cNvPr id="82" name="Google Shape;82;p7"/>
          <p:cNvSpPr/>
          <p:nvPr/>
        </p:nvSpPr>
        <p:spPr>
          <a:xfrm>
            <a:off x="400050" y="5334000"/>
            <a:ext cx="4762500" cy="666750"/>
          </a:xfrm>
          <a:prstGeom prst="roundRect">
            <a:avLst>
              <a:gd fmla="val 11429" name="adj"/>
            </a:avLst>
          </a:prstGeom>
          <a:solidFill>
            <a:srgbClr val="EAF5FB"/>
          </a:solidFill>
          <a:ln cap="flat" cmpd="sng" w="9525">
            <a:solidFill>
              <a:srgbClr val="6DCBF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 name="Google Shape;83;p7"/>
          <p:cNvSpPr/>
          <p:nvPr/>
        </p:nvSpPr>
        <p:spPr>
          <a:xfrm>
            <a:off x="609600" y="5534025"/>
            <a:ext cx="4343400" cy="32385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155"/>
              <a:buFont typeface="Arial"/>
              <a:buNone/>
            </a:pPr>
            <a:r>
              <a:rPr b="1" i="0" lang="en-US" sz="1155" u="none" cap="none" strike="noStrike">
                <a:solidFill>
                  <a:srgbClr val="3D8DFF"/>
                </a:solidFill>
                <a:latin typeface="Helvetica Neue"/>
                <a:ea typeface="Helvetica Neue"/>
                <a:cs typeface="Helvetica Neue"/>
                <a:sym typeface="Helvetica Neue"/>
              </a:rPr>
              <a:t>OpenMP parallelizes matrix work—not separate mini-batches.</a:t>
            </a:r>
            <a:endParaRPr b="0" i="0" sz="1400" u="none" cap="none" strike="noStrike">
              <a:solidFill>
                <a:srgbClr val="000000"/>
              </a:solidFill>
              <a:latin typeface="Arial"/>
              <a:ea typeface="Arial"/>
              <a:cs typeface="Arial"/>
              <a:sym typeface="Arial"/>
            </a:endParaRPr>
          </a:p>
        </p:txBody>
      </p:sp>
      <p:sp>
        <p:nvSpPr>
          <p:cNvPr id="84" name="Google Shape;84;p7"/>
          <p:cNvSpPr/>
          <p:nvPr/>
        </p:nvSpPr>
        <p:spPr>
          <a:xfrm>
            <a:off x="5638800" y="1381125"/>
            <a:ext cx="6153150" cy="4619625"/>
          </a:xfrm>
          <a:prstGeom prst="roundRect">
            <a:avLst>
              <a:gd fmla="val 1649" name="adj"/>
            </a:avLst>
          </a:prstGeom>
          <a:solidFill>
            <a:srgbClr val="FAFAFA"/>
          </a:solidFill>
          <a:ln cap="flat" cmpd="sng" w="9525">
            <a:solidFill>
              <a:srgbClr val="B8BCC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7"/>
          <p:cNvSpPr/>
          <p:nvPr/>
        </p:nvSpPr>
        <p:spPr>
          <a:xfrm>
            <a:off x="5905500" y="1581150"/>
            <a:ext cx="2190750" cy="32385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650"/>
              <a:buFont typeface="Arial"/>
              <a:buNone/>
            </a:pPr>
            <a:r>
              <a:rPr b="1" i="0" lang="en-US" sz="1650" u="none" cap="none" strike="noStrike">
                <a:solidFill>
                  <a:srgbClr val="000000"/>
                </a:solidFill>
                <a:latin typeface="Helvetica Neue"/>
                <a:ea typeface="Helvetica Neue"/>
                <a:cs typeface="Helvetica Neue"/>
                <a:sym typeface="Helvetica Neue"/>
              </a:rPr>
              <a:t>Output matrix C</a:t>
            </a:r>
            <a:endParaRPr b="0" i="0" sz="1400" u="none" cap="none" strike="noStrike">
              <a:solidFill>
                <a:srgbClr val="000000"/>
              </a:solidFill>
              <a:latin typeface="Arial"/>
              <a:ea typeface="Arial"/>
              <a:cs typeface="Arial"/>
              <a:sym typeface="Arial"/>
            </a:endParaRPr>
          </a:p>
        </p:txBody>
      </p:sp>
      <p:sp>
        <p:nvSpPr>
          <p:cNvPr id="86" name="Google Shape;86;p7"/>
          <p:cNvSpPr/>
          <p:nvPr/>
        </p:nvSpPr>
        <p:spPr>
          <a:xfrm>
            <a:off x="8763000" y="1600200"/>
            <a:ext cx="2571750" cy="28575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350"/>
              <a:buFont typeface="Arial"/>
              <a:buNone/>
            </a:pPr>
            <a:r>
              <a:rPr b="0" i="0" lang="en-US" sz="1350" u="none" cap="none" strike="noStrike">
                <a:solidFill>
                  <a:srgbClr val="5B616B"/>
                </a:solidFill>
                <a:latin typeface="Helvetica Neue"/>
                <a:ea typeface="Helvetica Neue"/>
                <a:cs typeface="Helvetica Neue"/>
                <a:sym typeface="Helvetica Neue"/>
              </a:rPr>
              <a:t>one tile → one owner</a:t>
            </a:r>
            <a:endParaRPr b="0" i="0" sz="1400" u="none" cap="none" strike="noStrike">
              <a:solidFill>
                <a:srgbClr val="000000"/>
              </a:solidFill>
              <a:latin typeface="Arial"/>
              <a:ea typeface="Arial"/>
              <a:cs typeface="Arial"/>
              <a:sym typeface="Arial"/>
            </a:endParaRPr>
          </a:p>
        </p:txBody>
      </p:sp>
      <p:sp>
        <p:nvSpPr>
          <p:cNvPr id="87" name="Google Shape;87;p7"/>
          <p:cNvSpPr/>
          <p:nvPr/>
        </p:nvSpPr>
        <p:spPr>
          <a:xfrm>
            <a:off x="6096000" y="2095500"/>
            <a:ext cx="781050" cy="590550"/>
          </a:xfrm>
          <a:prstGeom prst="roundRect">
            <a:avLst>
              <a:gd fmla="val 3226" name="adj"/>
            </a:avLst>
          </a:prstGeom>
          <a:solidFill>
            <a:srgbClr val="3D8D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 name="Google Shape;88;p7"/>
          <p:cNvSpPr/>
          <p:nvPr/>
        </p:nvSpPr>
        <p:spPr>
          <a:xfrm>
            <a:off x="6943725" y="2095500"/>
            <a:ext cx="781050" cy="590550"/>
          </a:xfrm>
          <a:prstGeom prst="roundRect">
            <a:avLst>
              <a:gd fmla="val 3226" name="adj"/>
            </a:avLst>
          </a:prstGeom>
          <a:solidFill>
            <a:srgbClr val="3D8D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 name="Google Shape;89;p7"/>
          <p:cNvSpPr/>
          <p:nvPr/>
        </p:nvSpPr>
        <p:spPr>
          <a:xfrm>
            <a:off x="7791450" y="2095500"/>
            <a:ext cx="781050" cy="590550"/>
          </a:xfrm>
          <a:prstGeom prst="roundRect">
            <a:avLst>
              <a:gd fmla="val 3226" name="adj"/>
            </a:avLst>
          </a:prstGeom>
          <a:solidFill>
            <a:srgbClr val="6DCBF4"/>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 name="Google Shape;90;p7"/>
          <p:cNvSpPr/>
          <p:nvPr/>
        </p:nvSpPr>
        <p:spPr>
          <a:xfrm>
            <a:off x="8639175" y="2095500"/>
            <a:ext cx="781050" cy="590550"/>
          </a:xfrm>
          <a:prstGeom prst="roundRect">
            <a:avLst>
              <a:gd fmla="val 3226" name="adj"/>
            </a:avLst>
          </a:prstGeom>
          <a:solidFill>
            <a:srgbClr val="6DCBF4"/>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 name="Google Shape;91;p7"/>
          <p:cNvSpPr/>
          <p:nvPr/>
        </p:nvSpPr>
        <p:spPr>
          <a:xfrm>
            <a:off x="9486900" y="2095500"/>
            <a:ext cx="781050" cy="590550"/>
          </a:xfrm>
          <a:prstGeom prst="roundRect">
            <a:avLst>
              <a:gd fmla="val 3226" name="adj"/>
            </a:avLst>
          </a:prstGeom>
          <a:solidFill>
            <a:srgbClr val="D0EDFA"/>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7"/>
          <p:cNvSpPr/>
          <p:nvPr/>
        </p:nvSpPr>
        <p:spPr>
          <a:xfrm>
            <a:off x="10334625" y="2095500"/>
            <a:ext cx="781050" cy="590550"/>
          </a:xfrm>
          <a:prstGeom prst="roundRect">
            <a:avLst>
              <a:gd fmla="val 3226" name="adj"/>
            </a:avLst>
          </a:prstGeom>
          <a:solidFill>
            <a:srgbClr val="D0EDFA"/>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 name="Google Shape;93;p7"/>
          <p:cNvSpPr/>
          <p:nvPr/>
        </p:nvSpPr>
        <p:spPr>
          <a:xfrm>
            <a:off x="6096000" y="2752725"/>
            <a:ext cx="781050" cy="590550"/>
          </a:xfrm>
          <a:prstGeom prst="roundRect">
            <a:avLst>
              <a:gd fmla="val 3226" name="adj"/>
            </a:avLst>
          </a:prstGeom>
          <a:solidFill>
            <a:srgbClr val="6DCBF4"/>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 name="Google Shape;94;p7"/>
          <p:cNvSpPr/>
          <p:nvPr/>
        </p:nvSpPr>
        <p:spPr>
          <a:xfrm>
            <a:off x="6943725" y="2752725"/>
            <a:ext cx="781050" cy="590550"/>
          </a:xfrm>
          <a:prstGeom prst="roundRect">
            <a:avLst>
              <a:gd fmla="val 3226" name="adj"/>
            </a:avLst>
          </a:prstGeom>
          <a:solidFill>
            <a:srgbClr val="6DCBF4"/>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 name="Google Shape;95;p7"/>
          <p:cNvSpPr/>
          <p:nvPr/>
        </p:nvSpPr>
        <p:spPr>
          <a:xfrm>
            <a:off x="7791450" y="2752725"/>
            <a:ext cx="781050" cy="590550"/>
          </a:xfrm>
          <a:prstGeom prst="roundRect">
            <a:avLst>
              <a:gd fmla="val 3226" name="adj"/>
            </a:avLst>
          </a:prstGeom>
          <a:solidFill>
            <a:srgbClr val="D0EDFA"/>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7"/>
          <p:cNvSpPr/>
          <p:nvPr/>
        </p:nvSpPr>
        <p:spPr>
          <a:xfrm>
            <a:off x="8639175" y="2752725"/>
            <a:ext cx="781050" cy="590550"/>
          </a:xfrm>
          <a:prstGeom prst="roundRect">
            <a:avLst>
              <a:gd fmla="val 3226" name="adj"/>
            </a:avLst>
          </a:prstGeom>
          <a:solidFill>
            <a:srgbClr val="D0EDFA"/>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7"/>
          <p:cNvSpPr/>
          <p:nvPr/>
        </p:nvSpPr>
        <p:spPr>
          <a:xfrm>
            <a:off x="9486900" y="2752725"/>
            <a:ext cx="781050" cy="590550"/>
          </a:xfrm>
          <a:prstGeom prst="roundRect">
            <a:avLst>
              <a:gd fmla="val 3226" name="adj"/>
            </a:avLst>
          </a:prstGeom>
          <a:solidFill>
            <a:srgbClr val="E4E7EB"/>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7"/>
          <p:cNvSpPr/>
          <p:nvPr/>
        </p:nvSpPr>
        <p:spPr>
          <a:xfrm>
            <a:off x="10334625" y="2752725"/>
            <a:ext cx="781050" cy="590550"/>
          </a:xfrm>
          <a:prstGeom prst="roundRect">
            <a:avLst>
              <a:gd fmla="val 3226" name="adj"/>
            </a:avLst>
          </a:prstGeom>
          <a:solidFill>
            <a:srgbClr val="E4E7EB"/>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7"/>
          <p:cNvSpPr/>
          <p:nvPr/>
        </p:nvSpPr>
        <p:spPr>
          <a:xfrm>
            <a:off x="6096000" y="3409950"/>
            <a:ext cx="781050" cy="590550"/>
          </a:xfrm>
          <a:prstGeom prst="roundRect">
            <a:avLst>
              <a:gd fmla="val 3226" name="adj"/>
            </a:avLst>
          </a:prstGeom>
          <a:solidFill>
            <a:srgbClr val="D0EDFA"/>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7"/>
          <p:cNvSpPr/>
          <p:nvPr/>
        </p:nvSpPr>
        <p:spPr>
          <a:xfrm>
            <a:off x="6943725" y="3409950"/>
            <a:ext cx="781050" cy="590550"/>
          </a:xfrm>
          <a:prstGeom prst="roundRect">
            <a:avLst>
              <a:gd fmla="val 3226" name="adj"/>
            </a:avLst>
          </a:prstGeom>
          <a:solidFill>
            <a:srgbClr val="D0EDFA"/>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 name="Google Shape;101;p7"/>
          <p:cNvSpPr/>
          <p:nvPr/>
        </p:nvSpPr>
        <p:spPr>
          <a:xfrm>
            <a:off x="7791450" y="3409950"/>
            <a:ext cx="781050" cy="590550"/>
          </a:xfrm>
          <a:prstGeom prst="roundRect">
            <a:avLst>
              <a:gd fmla="val 3226" name="adj"/>
            </a:avLst>
          </a:prstGeom>
          <a:solidFill>
            <a:srgbClr val="E4E7EB"/>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7"/>
          <p:cNvSpPr/>
          <p:nvPr/>
        </p:nvSpPr>
        <p:spPr>
          <a:xfrm>
            <a:off x="8639175" y="3409950"/>
            <a:ext cx="781050" cy="590550"/>
          </a:xfrm>
          <a:prstGeom prst="roundRect">
            <a:avLst>
              <a:gd fmla="val 3226" name="adj"/>
            </a:avLst>
          </a:prstGeom>
          <a:solidFill>
            <a:srgbClr val="E4E7EB"/>
          </a:solidFill>
          <a:ln cap="flat" cmpd="sng" w="285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7"/>
          <p:cNvSpPr/>
          <p:nvPr/>
        </p:nvSpPr>
        <p:spPr>
          <a:xfrm>
            <a:off x="9486900" y="3409950"/>
            <a:ext cx="781050" cy="590550"/>
          </a:xfrm>
          <a:prstGeom prst="roundRect">
            <a:avLst>
              <a:gd fmla="val 3226" name="adj"/>
            </a:avLst>
          </a:prstGeom>
          <a:solidFill>
            <a:srgbClr val="3D8D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7"/>
          <p:cNvSpPr/>
          <p:nvPr/>
        </p:nvSpPr>
        <p:spPr>
          <a:xfrm>
            <a:off x="10334625" y="3409950"/>
            <a:ext cx="781050" cy="590550"/>
          </a:xfrm>
          <a:prstGeom prst="roundRect">
            <a:avLst>
              <a:gd fmla="val 3226" name="adj"/>
            </a:avLst>
          </a:prstGeom>
          <a:solidFill>
            <a:srgbClr val="3D8D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 name="Google Shape;105;p7"/>
          <p:cNvSpPr/>
          <p:nvPr/>
        </p:nvSpPr>
        <p:spPr>
          <a:xfrm>
            <a:off x="6096000" y="4067175"/>
            <a:ext cx="781050" cy="590550"/>
          </a:xfrm>
          <a:prstGeom prst="roundRect">
            <a:avLst>
              <a:gd fmla="val 3226" name="adj"/>
            </a:avLst>
          </a:prstGeom>
          <a:solidFill>
            <a:srgbClr val="E4E7EB"/>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 name="Google Shape;106;p7"/>
          <p:cNvSpPr/>
          <p:nvPr/>
        </p:nvSpPr>
        <p:spPr>
          <a:xfrm>
            <a:off x="6943725" y="4067175"/>
            <a:ext cx="781050" cy="590550"/>
          </a:xfrm>
          <a:prstGeom prst="roundRect">
            <a:avLst>
              <a:gd fmla="val 3226" name="adj"/>
            </a:avLst>
          </a:prstGeom>
          <a:solidFill>
            <a:srgbClr val="E4E7EB"/>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 name="Google Shape;107;p7"/>
          <p:cNvSpPr/>
          <p:nvPr/>
        </p:nvSpPr>
        <p:spPr>
          <a:xfrm>
            <a:off x="7791450" y="4067175"/>
            <a:ext cx="781050" cy="590550"/>
          </a:xfrm>
          <a:prstGeom prst="roundRect">
            <a:avLst>
              <a:gd fmla="val 3226" name="adj"/>
            </a:avLst>
          </a:prstGeom>
          <a:solidFill>
            <a:srgbClr val="3D8D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 name="Google Shape;108;p7"/>
          <p:cNvSpPr/>
          <p:nvPr/>
        </p:nvSpPr>
        <p:spPr>
          <a:xfrm>
            <a:off x="8639175" y="4067175"/>
            <a:ext cx="781050" cy="590550"/>
          </a:xfrm>
          <a:prstGeom prst="roundRect">
            <a:avLst>
              <a:gd fmla="val 3226" name="adj"/>
            </a:avLst>
          </a:prstGeom>
          <a:solidFill>
            <a:srgbClr val="3D8D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7"/>
          <p:cNvSpPr/>
          <p:nvPr/>
        </p:nvSpPr>
        <p:spPr>
          <a:xfrm>
            <a:off x="9486900" y="4067175"/>
            <a:ext cx="781050" cy="590550"/>
          </a:xfrm>
          <a:prstGeom prst="roundRect">
            <a:avLst>
              <a:gd fmla="val 3226" name="adj"/>
            </a:avLst>
          </a:prstGeom>
          <a:solidFill>
            <a:srgbClr val="6DCBF4"/>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7"/>
          <p:cNvSpPr/>
          <p:nvPr/>
        </p:nvSpPr>
        <p:spPr>
          <a:xfrm>
            <a:off x="10334625" y="4067175"/>
            <a:ext cx="781050" cy="590550"/>
          </a:xfrm>
          <a:prstGeom prst="roundRect">
            <a:avLst>
              <a:gd fmla="val 3226" name="adj"/>
            </a:avLst>
          </a:prstGeom>
          <a:solidFill>
            <a:srgbClr val="6DCBF4"/>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 name="Google Shape;111;p7"/>
          <p:cNvSpPr/>
          <p:nvPr/>
        </p:nvSpPr>
        <p:spPr>
          <a:xfrm>
            <a:off x="6096000" y="4724400"/>
            <a:ext cx="781050" cy="590550"/>
          </a:xfrm>
          <a:prstGeom prst="roundRect">
            <a:avLst>
              <a:gd fmla="val 3226" name="adj"/>
            </a:avLst>
          </a:prstGeom>
          <a:solidFill>
            <a:srgbClr val="3D8D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 name="Google Shape;112;p7"/>
          <p:cNvSpPr/>
          <p:nvPr/>
        </p:nvSpPr>
        <p:spPr>
          <a:xfrm>
            <a:off x="6943725" y="4724400"/>
            <a:ext cx="781050" cy="590550"/>
          </a:xfrm>
          <a:prstGeom prst="roundRect">
            <a:avLst>
              <a:gd fmla="val 3226" name="adj"/>
            </a:avLst>
          </a:prstGeom>
          <a:solidFill>
            <a:srgbClr val="3D8D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7"/>
          <p:cNvSpPr/>
          <p:nvPr/>
        </p:nvSpPr>
        <p:spPr>
          <a:xfrm>
            <a:off x="7791450" y="4724400"/>
            <a:ext cx="781050" cy="590550"/>
          </a:xfrm>
          <a:prstGeom prst="roundRect">
            <a:avLst>
              <a:gd fmla="val 3226" name="adj"/>
            </a:avLst>
          </a:prstGeom>
          <a:solidFill>
            <a:srgbClr val="6DCBF4"/>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 name="Google Shape;114;p7"/>
          <p:cNvSpPr/>
          <p:nvPr/>
        </p:nvSpPr>
        <p:spPr>
          <a:xfrm>
            <a:off x="8639175" y="4724400"/>
            <a:ext cx="781050" cy="590550"/>
          </a:xfrm>
          <a:prstGeom prst="roundRect">
            <a:avLst>
              <a:gd fmla="val 3226" name="adj"/>
            </a:avLst>
          </a:prstGeom>
          <a:solidFill>
            <a:srgbClr val="6DCBF4"/>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 name="Google Shape;115;p7"/>
          <p:cNvSpPr/>
          <p:nvPr/>
        </p:nvSpPr>
        <p:spPr>
          <a:xfrm>
            <a:off x="9486900" y="4724400"/>
            <a:ext cx="781050" cy="590550"/>
          </a:xfrm>
          <a:prstGeom prst="roundRect">
            <a:avLst>
              <a:gd fmla="val 3226" name="adj"/>
            </a:avLst>
          </a:prstGeom>
          <a:solidFill>
            <a:srgbClr val="D0EDFA"/>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 name="Google Shape;116;p7"/>
          <p:cNvSpPr/>
          <p:nvPr/>
        </p:nvSpPr>
        <p:spPr>
          <a:xfrm>
            <a:off x="10334625" y="4724400"/>
            <a:ext cx="781050" cy="590550"/>
          </a:xfrm>
          <a:prstGeom prst="roundRect">
            <a:avLst>
              <a:gd fmla="val 3226" name="adj"/>
            </a:avLst>
          </a:prstGeom>
          <a:solidFill>
            <a:srgbClr val="D0EDFA"/>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7"/>
          <p:cNvSpPr/>
          <p:nvPr/>
        </p:nvSpPr>
        <p:spPr>
          <a:xfrm>
            <a:off x="6115050" y="5534025"/>
            <a:ext cx="85725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275"/>
              <a:buFont typeface="Arial"/>
              <a:buNone/>
            </a:pPr>
            <a:r>
              <a:rPr b="1" i="0" lang="en-US" sz="1275" u="none" cap="none" strike="noStrike">
                <a:solidFill>
                  <a:srgbClr val="3D8DFF"/>
                </a:solidFill>
                <a:latin typeface="Helvetica Neue"/>
                <a:ea typeface="Helvetica Neue"/>
                <a:cs typeface="Helvetica Neue"/>
                <a:sym typeface="Helvetica Neue"/>
              </a:rPr>
              <a:t>T0</a:t>
            </a:r>
            <a:endParaRPr b="0" i="0" sz="1400" u="none" cap="none" strike="noStrike">
              <a:solidFill>
                <a:srgbClr val="000000"/>
              </a:solidFill>
              <a:latin typeface="Arial"/>
              <a:ea typeface="Arial"/>
              <a:cs typeface="Arial"/>
              <a:sym typeface="Arial"/>
            </a:endParaRPr>
          </a:p>
        </p:txBody>
      </p:sp>
      <p:sp>
        <p:nvSpPr>
          <p:cNvPr id="118" name="Google Shape;118;p7"/>
          <p:cNvSpPr/>
          <p:nvPr/>
        </p:nvSpPr>
        <p:spPr>
          <a:xfrm>
            <a:off x="7258050" y="5534025"/>
            <a:ext cx="85725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275"/>
              <a:buFont typeface="Arial"/>
              <a:buNone/>
            </a:pPr>
            <a:r>
              <a:rPr b="1" i="0" lang="en-US" sz="1275" u="none" cap="none" strike="noStrike">
                <a:solidFill>
                  <a:srgbClr val="3D8DFF"/>
                </a:solidFill>
                <a:latin typeface="Helvetica Neue"/>
                <a:ea typeface="Helvetica Neue"/>
                <a:cs typeface="Helvetica Neue"/>
                <a:sym typeface="Helvetica Neue"/>
              </a:rPr>
              <a:t>T1</a:t>
            </a:r>
            <a:endParaRPr b="0" i="0" sz="1400" u="none" cap="none" strike="noStrike">
              <a:solidFill>
                <a:srgbClr val="000000"/>
              </a:solidFill>
              <a:latin typeface="Arial"/>
              <a:ea typeface="Arial"/>
              <a:cs typeface="Arial"/>
              <a:sym typeface="Arial"/>
            </a:endParaRPr>
          </a:p>
        </p:txBody>
      </p:sp>
      <p:sp>
        <p:nvSpPr>
          <p:cNvPr id="119" name="Google Shape;119;p7"/>
          <p:cNvSpPr/>
          <p:nvPr/>
        </p:nvSpPr>
        <p:spPr>
          <a:xfrm>
            <a:off x="8401050" y="5534025"/>
            <a:ext cx="85725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275"/>
              <a:buFont typeface="Arial"/>
              <a:buNone/>
            </a:pPr>
            <a:r>
              <a:rPr b="1" i="0" lang="en-US" sz="1275" u="none" cap="none" strike="noStrike">
                <a:solidFill>
                  <a:srgbClr val="3D8DFF"/>
                </a:solidFill>
                <a:latin typeface="Helvetica Neue"/>
                <a:ea typeface="Helvetica Neue"/>
                <a:cs typeface="Helvetica Neue"/>
                <a:sym typeface="Helvetica Neue"/>
              </a:rPr>
              <a:t>T2</a:t>
            </a:r>
            <a:endParaRPr b="0" i="0" sz="1400" u="none" cap="none" strike="noStrike">
              <a:solidFill>
                <a:srgbClr val="000000"/>
              </a:solidFill>
              <a:latin typeface="Arial"/>
              <a:ea typeface="Arial"/>
              <a:cs typeface="Arial"/>
              <a:sym typeface="Arial"/>
            </a:endParaRPr>
          </a:p>
        </p:txBody>
      </p:sp>
      <p:sp>
        <p:nvSpPr>
          <p:cNvPr id="120" name="Google Shape;120;p7"/>
          <p:cNvSpPr/>
          <p:nvPr/>
        </p:nvSpPr>
        <p:spPr>
          <a:xfrm>
            <a:off x="9544050" y="5534025"/>
            <a:ext cx="85725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275"/>
              <a:buFont typeface="Arial"/>
              <a:buNone/>
            </a:pPr>
            <a:r>
              <a:rPr b="1" i="0" lang="en-US" sz="1275" u="none" cap="none" strike="noStrike">
                <a:solidFill>
                  <a:srgbClr val="3D8DFF"/>
                </a:solidFill>
                <a:latin typeface="Helvetica Neue"/>
                <a:ea typeface="Helvetica Neue"/>
                <a:cs typeface="Helvetica Neue"/>
                <a:sym typeface="Helvetica Neue"/>
              </a:rPr>
              <a:t>T3</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 name="Shape 125"/>
        <p:cNvGrpSpPr/>
        <p:nvPr/>
      </p:nvGrpSpPr>
      <p:grpSpPr>
        <a:xfrm>
          <a:off x="0" y="0"/>
          <a:ext cx="0" cy="0"/>
          <a:chOff x="0" y="0"/>
          <a:chExt cx="0" cy="0"/>
        </a:xfrm>
      </p:grpSpPr>
      <p:sp>
        <p:nvSpPr>
          <p:cNvPr id="126" name="Google Shape;126;p8"/>
          <p:cNvSpPr/>
          <p:nvPr/>
        </p:nvSpPr>
        <p:spPr>
          <a:xfrm>
            <a:off x="11279315" y="6279261"/>
            <a:ext cx="518922" cy="241268"/>
          </a:xfrm>
          <a:prstGeom prst="rect">
            <a:avLst/>
          </a:prstGeom>
          <a:noFill/>
          <a:ln>
            <a:noFill/>
          </a:ln>
        </p:spPr>
        <p:txBody>
          <a:bodyPr anchorCtr="0" anchor="b"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US" sz="1000" u="none" cap="none" strike="noStrike">
                <a:solidFill>
                  <a:srgbClr val="000000"/>
                </a:solidFill>
                <a:latin typeface="Helvetica Neue"/>
                <a:ea typeface="Helvetica Neue"/>
                <a:cs typeface="Helvetica Neue"/>
                <a:sym typeface="Helvetica Neue"/>
              </a:rPr>
              <a:t>5</a:t>
            </a:r>
            <a:endParaRPr b="0" i="0" sz="1400" u="none" cap="none" strike="noStrike">
              <a:solidFill>
                <a:srgbClr val="000000"/>
              </a:solidFill>
              <a:latin typeface="Arial"/>
              <a:ea typeface="Arial"/>
              <a:cs typeface="Arial"/>
              <a:sym typeface="Arial"/>
            </a:endParaRPr>
          </a:p>
        </p:txBody>
      </p:sp>
      <p:sp>
        <p:nvSpPr>
          <p:cNvPr id="127" name="Google Shape;127;p8"/>
          <p:cNvSpPr/>
          <p:nvPr/>
        </p:nvSpPr>
        <p:spPr>
          <a:xfrm>
            <a:off x="393668" y="344043"/>
            <a:ext cx="11404568" cy="104746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3000"/>
              <a:buFont typeface="Helvetica Neue"/>
              <a:buNone/>
            </a:pPr>
            <a:r>
              <a:rPr b="0" i="0" lang="en-US" sz="3000" u="none" cap="none" strike="noStrike">
                <a:solidFill>
                  <a:srgbClr val="000000"/>
                </a:solidFill>
                <a:latin typeface="Helvetica Neue"/>
                <a:ea typeface="Helvetica Neue"/>
                <a:cs typeface="Helvetica Neue"/>
                <a:sym typeface="Helvetica Neue"/>
              </a:rPr>
              <a:t>MPI combines local mini-batches into one global update</a:t>
            </a:r>
            <a:endParaRPr b="0" i="0" sz="1400" u="none" cap="none" strike="noStrike">
              <a:solidFill>
                <a:srgbClr val="000000"/>
              </a:solidFill>
              <a:latin typeface="Arial"/>
              <a:ea typeface="Arial"/>
              <a:cs typeface="Arial"/>
              <a:sym typeface="Arial"/>
            </a:endParaRPr>
          </a:p>
        </p:txBody>
      </p:sp>
      <p:cxnSp>
        <p:nvCxnSpPr>
          <p:cNvPr id="128" name="Google Shape;128;p8"/>
          <p:cNvCxnSpPr/>
          <p:nvPr/>
        </p:nvCxnSpPr>
        <p:spPr>
          <a:xfrm>
            <a:off x="337757" y="5341620"/>
            <a:ext cx="12245435" cy="286"/>
          </a:xfrm>
          <a:prstGeom prst="straightConnector1">
            <a:avLst/>
          </a:prstGeom>
          <a:noFill/>
          <a:ln cap="flat" cmpd="sng" w="9525">
            <a:solidFill>
              <a:srgbClr val="000000"/>
            </a:solidFill>
            <a:prstDash val="solid"/>
            <a:round/>
            <a:headEnd len="sm" w="sm" type="none"/>
            <a:tailEnd len="sm" w="sm" type="none"/>
          </a:ln>
        </p:spPr>
      </p:cxnSp>
      <p:sp>
        <p:nvSpPr>
          <p:cNvPr id="129" name="Google Shape;129;p8"/>
          <p:cNvSpPr/>
          <p:nvPr/>
        </p:nvSpPr>
        <p:spPr>
          <a:xfrm>
            <a:off x="337757" y="5288089"/>
            <a:ext cx="107061" cy="107061"/>
          </a:xfrm>
          <a:prstGeom prst="ellipse">
            <a:avLst/>
          </a:prstGeom>
          <a:solidFill>
            <a:srgbClr val="0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 name="Google Shape;130;p8"/>
          <p:cNvSpPr/>
          <p:nvPr/>
        </p:nvSpPr>
        <p:spPr>
          <a:xfrm>
            <a:off x="4251770" y="5288089"/>
            <a:ext cx="107061" cy="107061"/>
          </a:xfrm>
          <a:prstGeom prst="ellipse">
            <a:avLst/>
          </a:prstGeom>
          <a:solidFill>
            <a:srgbClr val="0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 name="Google Shape;131;p8"/>
          <p:cNvSpPr/>
          <p:nvPr/>
        </p:nvSpPr>
        <p:spPr>
          <a:xfrm>
            <a:off x="8176070" y="5288089"/>
            <a:ext cx="107061" cy="107061"/>
          </a:xfrm>
          <a:prstGeom prst="ellipse">
            <a:avLst/>
          </a:prstGeom>
          <a:solidFill>
            <a:srgbClr val="0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 name="Google Shape;132;p8"/>
          <p:cNvSpPr/>
          <p:nvPr/>
        </p:nvSpPr>
        <p:spPr>
          <a:xfrm>
            <a:off x="393668" y="1401794"/>
            <a:ext cx="3568732" cy="3619500"/>
          </a:xfrm>
          <a:prstGeom prst="roundRect">
            <a:avLst>
              <a:gd fmla="val 2135"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 name="Google Shape;133;p8"/>
          <p:cNvSpPr/>
          <p:nvPr/>
        </p:nvSpPr>
        <p:spPr>
          <a:xfrm>
            <a:off x="703421" y="1806797"/>
            <a:ext cx="2949321" cy="2566797"/>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025"/>
              <a:buFont typeface="Helvetica Neue"/>
              <a:buNone/>
            </a:pPr>
            <a:r>
              <a:rPr b="1" i="0" lang="en-US" sz="2025" u="none" cap="none" strike="noStrike">
                <a:solidFill>
                  <a:srgbClr val="000000"/>
                </a:solidFill>
                <a:latin typeface="Helvetica Neue"/>
                <a:ea typeface="Helvetica Neue"/>
                <a:cs typeface="Helvetica Neue"/>
                <a:sym typeface="Helvetica Neue"/>
              </a:rPr>
              <a:t>Local compute</a:t>
            </a:r>
            <a:endParaRPr b="0" i="0" sz="1400" u="none" cap="none" strike="noStrike">
              <a:solidFill>
                <a:srgbClr val="000000"/>
              </a:solidFill>
              <a:latin typeface="Arial"/>
              <a:ea typeface="Arial"/>
              <a:cs typeface="Arial"/>
              <a:sym typeface="Arial"/>
            </a:endParaRPr>
          </a:p>
          <a:p>
            <a:pPr indent="0" lvl="0" marL="0" marR="0" rtl="0" algn="l">
              <a:lnSpc>
                <a:spcPct val="112000"/>
              </a:lnSpc>
              <a:spcBef>
                <a:spcPts val="850"/>
              </a:spcBef>
              <a:spcAft>
                <a:spcPts val="0"/>
              </a:spcAft>
              <a:buClr>
                <a:srgbClr val="5B616B"/>
              </a:buClr>
              <a:buSzPts val="1350"/>
              <a:buFont typeface="Helvetica Neue"/>
              <a:buNone/>
            </a:pPr>
            <a:r>
              <a:rPr b="0" i="0" lang="en-US" sz="1350" u="none" cap="none" strike="noStrike">
                <a:solidFill>
                  <a:srgbClr val="5B616B"/>
                </a:solidFill>
                <a:latin typeface="Helvetica Neue"/>
                <a:ea typeface="Helvetica Neue"/>
                <a:cs typeface="Helvetica Neue"/>
                <a:sym typeface="Helvetica Neue"/>
              </a:rPr>
              <a:t>Each rank owns a data slice and a complete model.</a:t>
            </a:r>
            <a:br>
              <a:rPr b="0" i="0" lang="en-US" sz="1350" u="none" cap="none" strike="noStrike">
                <a:solidFill>
                  <a:srgbClr val="5B616B"/>
                </a:solidFill>
                <a:latin typeface="Helvetica Neue"/>
                <a:ea typeface="Helvetica Neue"/>
                <a:cs typeface="Helvetica Neue"/>
                <a:sym typeface="Helvetica Neue"/>
              </a:rPr>
            </a:br>
            <a:br>
              <a:rPr b="0" i="0" lang="en-US" sz="1350" u="none" cap="none" strike="noStrike">
                <a:solidFill>
                  <a:srgbClr val="5B616B"/>
                </a:solidFill>
                <a:latin typeface="Helvetica Neue"/>
                <a:ea typeface="Helvetica Neue"/>
                <a:cs typeface="Helvetica Neue"/>
                <a:sym typeface="Helvetica Neue"/>
              </a:rPr>
            </a:br>
            <a:r>
              <a:rPr b="0" i="0" lang="en-US" sz="1350" u="none" cap="none" strike="noStrike">
                <a:solidFill>
                  <a:srgbClr val="5B616B"/>
                </a:solidFill>
                <a:latin typeface="Helvetica Neue"/>
                <a:ea typeface="Helvetica Neue"/>
                <a:cs typeface="Helvetica Neue"/>
                <a:sym typeface="Helvetica Neue"/>
              </a:rPr>
              <a:t>Forward and backward produce local gradient sums.</a:t>
            </a:r>
            <a:endParaRPr b="0" i="0" sz="1400" u="none" cap="none" strike="noStrike">
              <a:solidFill>
                <a:srgbClr val="000000"/>
              </a:solidFill>
              <a:latin typeface="Arial"/>
              <a:ea typeface="Arial"/>
              <a:cs typeface="Arial"/>
              <a:sym typeface="Arial"/>
            </a:endParaRPr>
          </a:p>
        </p:txBody>
      </p:sp>
      <p:sp>
        <p:nvSpPr>
          <p:cNvPr id="134" name="Google Shape;134;p8"/>
          <p:cNvSpPr/>
          <p:nvPr/>
        </p:nvSpPr>
        <p:spPr>
          <a:xfrm>
            <a:off x="4308443" y="1401794"/>
            <a:ext cx="3568732" cy="3619500"/>
          </a:xfrm>
          <a:prstGeom prst="roundRect">
            <a:avLst>
              <a:gd fmla="val 2135"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8"/>
          <p:cNvSpPr/>
          <p:nvPr/>
        </p:nvSpPr>
        <p:spPr>
          <a:xfrm>
            <a:off x="4618196" y="1806797"/>
            <a:ext cx="2949321" cy="2566797"/>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025"/>
              <a:buFont typeface="Helvetica Neue"/>
              <a:buNone/>
            </a:pPr>
            <a:r>
              <a:rPr b="1" i="0" lang="en-US" sz="2025" u="none" cap="none" strike="noStrike">
                <a:solidFill>
                  <a:srgbClr val="000000"/>
                </a:solidFill>
                <a:latin typeface="Helvetica Neue"/>
                <a:ea typeface="Helvetica Neue"/>
                <a:cs typeface="Helvetica Neue"/>
                <a:sym typeface="Helvetica Neue"/>
              </a:rPr>
              <a:t>Allreduce</a:t>
            </a:r>
            <a:endParaRPr b="0" i="0" sz="1400" u="none" cap="none" strike="noStrike">
              <a:solidFill>
                <a:srgbClr val="000000"/>
              </a:solidFill>
              <a:latin typeface="Arial"/>
              <a:ea typeface="Arial"/>
              <a:cs typeface="Arial"/>
              <a:sym typeface="Arial"/>
            </a:endParaRPr>
          </a:p>
          <a:p>
            <a:pPr indent="0" lvl="0" marL="0" marR="0" rtl="0" algn="l">
              <a:lnSpc>
                <a:spcPct val="112000"/>
              </a:lnSpc>
              <a:spcBef>
                <a:spcPts val="850"/>
              </a:spcBef>
              <a:spcAft>
                <a:spcPts val="0"/>
              </a:spcAft>
              <a:buClr>
                <a:srgbClr val="5B616B"/>
              </a:buClr>
              <a:buSzPts val="1350"/>
              <a:buFont typeface="Helvetica Neue"/>
              <a:buNone/>
            </a:pPr>
            <a:r>
              <a:rPr b="0" i="0" lang="en-US" sz="1350" u="none" cap="none" strike="noStrike">
                <a:solidFill>
                  <a:srgbClr val="5B616B"/>
                </a:solidFill>
                <a:latin typeface="Helvetica Neue"/>
                <a:ea typeface="Helvetica Neue"/>
                <a:cs typeface="Helvetica Neue"/>
                <a:sym typeface="Helvetica Neue"/>
              </a:rPr>
              <a:t>Sum the sample count and four gradient arrays.</a:t>
            </a:r>
            <a:br>
              <a:rPr b="0" i="0" lang="en-US" sz="1350" u="none" cap="none" strike="noStrike">
                <a:solidFill>
                  <a:srgbClr val="5B616B"/>
                </a:solidFill>
                <a:latin typeface="Helvetica Neue"/>
                <a:ea typeface="Helvetica Neue"/>
                <a:cs typeface="Helvetica Neue"/>
                <a:sym typeface="Helvetica Neue"/>
              </a:rPr>
            </a:br>
            <a:br>
              <a:rPr b="0" i="0" lang="en-US" sz="1350" u="none" cap="none" strike="noStrike">
                <a:solidFill>
                  <a:srgbClr val="5B616B"/>
                </a:solidFill>
                <a:latin typeface="Helvetica Neue"/>
                <a:ea typeface="Helvetica Neue"/>
                <a:cs typeface="Helvetica Neue"/>
                <a:sym typeface="Helvetica Neue"/>
              </a:rPr>
            </a:br>
            <a:r>
              <a:rPr b="0" i="0" lang="en-US" sz="1350" u="none" cap="none" strike="noStrike">
                <a:solidFill>
                  <a:srgbClr val="5B616B"/>
                </a:solidFill>
                <a:latin typeface="Helvetica Neue"/>
                <a:ea typeface="Helvetica Neue"/>
                <a:cs typeface="Helvetica Neue"/>
                <a:sym typeface="Helvetica Neue"/>
              </a:rPr>
              <a:t>Every rank receives the same global results.</a:t>
            </a:r>
            <a:endParaRPr b="0" i="0" sz="1400" u="none" cap="none" strike="noStrike">
              <a:solidFill>
                <a:srgbClr val="000000"/>
              </a:solidFill>
              <a:latin typeface="Arial"/>
              <a:ea typeface="Arial"/>
              <a:cs typeface="Arial"/>
              <a:sym typeface="Arial"/>
            </a:endParaRPr>
          </a:p>
        </p:txBody>
      </p:sp>
      <p:sp>
        <p:nvSpPr>
          <p:cNvPr id="136" name="Google Shape;136;p8"/>
          <p:cNvSpPr/>
          <p:nvPr/>
        </p:nvSpPr>
        <p:spPr>
          <a:xfrm>
            <a:off x="8237506" y="1401794"/>
            <a:ext cx="3568732" cy="3619500"/>
          </a:xfrm>
          <a:prstGeom prst="roundRect">
            <a:avLst>
              <a:gd fmla="val 2135"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 name="Google Shape;137;p8"/>
          <p:cNvSpPr/>
          <p:nvPr/>
        </p:nvSpPr>
        <p:spPr>
          <a:xfrm>
            <a:off x="8547259" y="1806797"/>
            <a:ext cx="2949321" cy="2566797"/>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025"/>
              <a:buFont typeface="Helvetica Neue"/>
              <a:buNone/>
            </a:pPr>
            <a:r>
              <a:rPr b="1" i="0" lang="en-US" sz="2025" u="none" cap="none" strike="noStrike">
                <a:solidFill>
                  <a:srgbClr val="000000"/>
                </a:solidFill>
                <a:latin typeface="Helvetica Neue"/>
                <a:ea typeface="Helvetica Neue"/>
                <a:cs typeface="Helvetica Neue"/>
                <a:sym typeface="Helvetica Neue"/>
              </a:rPr>
              <a:t>Identical update</a:t>
            </a:r>
            <a:endParaRPr b="0" i="0" sz="1400" u="none" cap="none" strike="noStrike">
              <a:solidFill>
                <a:srgbClr val="000000"/>
              </a:solidFill>
              <a:latin typeface="Arial"/>
              <a:ea typeface="Arial"/>
              <a:cs typeface="Arial"/>
              <a:sym typeface="Arial"/>
            </a:endParaRPr>
          </a:p>
          <a:p>
            <a:pPr indent="0" lvl="0" marL="0" marR="0" rtl="0" algn="l">
              <a:lnSpc>
                <a:spcPct val="112000"/>
              </a:lnSpc>
              <a:spcBef>
                <a:spcPts val="850"/>
              </a:spcBef>
              <a:spcAft>
                <a:spcPts val="0"/>
              </a:spcAft>
              <a:buClr>
                <a:srgbClr val="5B616B"/>
              </a:buClr>
              <a:buSzPts val="1350"/>
              <a:buFont typeface="Helvetica Neue"/>
              <a:buNone/>
            </a:pPr>
            <a:r>
              <a:rPr b="0" i="0" lang="en-US" sz="1350" u="none" cap="none" strike="noStrike">
                <a:solidFill>
                  <a:srgbClr val="5B616B"/>
                </a:solidFill>
                <a:latin typeface="Helvetica Neue"/>
                <a:ea typeface="Helvetica Neue"/>
                <a:cs typeface="Helvetica Neue"/>
                <a:sym typeface="Helvetica Neue"/>
              </a:rPr>
              <a:t>Apply 0.5 / Bglobal × G.</a:t>
            </a:r>
            <a:br>
              <a:rPr b="0" i="0" lang="en-US" sz="1350" u="none" cap="none" strike="noStrike">
                <a:solidFill>
                  <a:srgbClr val="5B616B"/>
                </a:solidFill>
                <a:latin typeface="Helvetica Neue"/>
                <a:ea typeface="Helvetica Neue"/>
                <a:cs typeface="Helvetica Neue"/>
                <a:sym typeface="Helvetica Neue"/>
              </a:rPr>
            </a:br>
            <a:br>
              <a:rPr b="0" i="0" lang="en-US" sz="1350" u="none" cap="none" strike="noStrike">
                <a:solidFill>
                  <a:srgbClr val="5B616B"/>
                </a:solidFill>
                <a:latin typeface="Helvetica Neue"/>
                <a:ea typeface="Helvetica Neue"/>
                <a:cs typeface="Helvetica Neue"/>
                <a:sym typeface="Helvetica Neue"/>
              </a:rPr>
            </a:br>
            <a:r>
              <a:rPr b="0" i="0" lang="en-US" sz="1350" u="none" cap="none" strike="noStrike">
                <a:solidFill>
                  <a:srgbClr val="5B616B"/>
                </a:solidFill>
                <a:latin typeface="Helvetica Neue"/>
                <a:ea typeface="Helvetica Neue"/>
                <a:cs typeface="Helvetica Neue"/>
                <a:sym typeface="Helvetica Neue"/>
              </a:rPr>
              <a:t>The model replicas remain synchronized.</a:t>
            </a:r>
            <a:endParaRPr b="0" i="0" sz="1400" u="none" cap="none" strike="noStrike">
              <a:solidFill>
                <a:srgbClr val="000000"/>
              </a:solidFill>
              <a:latin typeface="Arial"/>
              <a:ea typeface="Arial"/>
              <a:cs typeface="Arial"/>
              <a:sym typeface="Arial"/>
            </a:endParaRPr>
          </a:p>
        </p:txBody>
      </p:sp>
      <p:sp>
        <p:nvSpPr>
          <p:cNvPr id="138" name="Google Shape;138;p8"/>
          <p:cNvSpPr/>
          <p:nvPr/>
        </p:nvSpPr>
        <p:spPr>
          <a:xfrm>
            <a:off x="4251770" y="5602414"/>
            <a:ext cx="2595944" cy="39195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B616B"/>
              </a:buClr>
              <a:buSzPts val="1350"/>
              <a:buFont typeface="Helvetica Neue"/>
              <a:buNone/>
            </a:pPr>
            <a:r>
              <a:rPr b="1" i="0" lang="en-US" sz="1350" u="none" cap="none" strike="noStrike">
                <a:solidFill>
                  <a:srgbClr val="5B616B"/>
                </a:solidFill>
                <a:latin typeface="Helvetica Neue"/>
                <a:ea typeface="Helvetica Neue"/>
                <a:cs typeface="Helvetica Neue"/>
                <a:sym typeface="Helvetica Neue"/>
              </a:rPr>
              <a:t>2 · SYNCHRONIZE</a:t>
            </a:r>
            <a:endParaRPr b="0" i="0" sz="1400" u="none" cap="none" strike="noStrike">
              <a:solidFill>
                <a:srgbClr val="000000"/>
              </a:solidFill>
              <a:latin typeface="Arial"/>
              <a:ea typeface="Arial"/>
              <a:cs typeface="Arial"/>
              <a:sym typeface="Arial"/>
            </a:endParaRPr>
          </a:p>
        </p:txBody>
      </p:sp>
      <p:sp>
        <p:nvSpPr>
          <p:cNvPr id="139" name="Google Shape;139;p8"/>
          <p:cNvSpPr/>
          <p:nvPr/>
        </p:nvSpPr>
        <p:spPr>
          <a:xfrm>
            <a:off x="390906" y="5602414"/>
            <a:ext cx="2595944" cy="39195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B616B"/>
              </a:buClr>
              <a:buSzPts val="1350"/>
              <a:buFont typeface="Helvetica Neue"/>
              <a:buNone/>
            </a:pPr>
            <a:r>
              <a:rPr b="1" i="0" lang="en-US" sz="1350" u="none" cap="none" strike="noStrike">
                <a:solidFill>
                  <a:srgbClr val="5B616B"/>
                </a:solidFill>
                <a:latin typeface="Helvetica Neue"/>
                <a:ea typeface="Helvetica Neue"/>
                <a:cs typeface="Helvetica Neue"/>
                <a:sym typeface="Helvetica Neue"/>
              </a:rPr>
              <a:t>1 · LOCAL BATCH</a:t>
            </a:r>
            <a:endParaRPr b="0" i="0" sz="1400" u="none" cap="none" strike="noStrike">
              <a:solidFill>
                <a:srgbClr val="000000"/>
              </a:solidFill>
              <a:latin typeface="Arial"/>
              <a:ea typeface="Arial"/>
              <a:cs typeface="Arial"/>
              <a:sym typeface="Arial"/>
            </a:endParaRPr>
          </a:p>
        </p:txBody>
      </p:sp>
      <p:sp>
        <p:nvSpPr>
          <p:cNvPr id="140" name="Google Shape;140;p8"/>
          <p:cNvSpPr/>
          <p:nvPr/>
        </p:nvSpPr>
        <p:spPr>
          <a:xfrm>
            <a:off x="8225409" y="5602414"/>
            <a:ext cx="2595944" cy="39195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B616B"/>
              </a:buClr>
              <a:buSzPts val="1350"/>
              <a:buFont typeface="Helvetica Neue"/>
              <a:buNone/>
            </a:pPr>
            <a:r>
              <a:rPr b="1" i="0" lang="en-US" sz="1350" u="none" cap="none" strike="noStrike">
                <a:solidFill>
                  <a:srgbClr val="5B616B"/>
                </a:solidFill>
                <a:latin typeface="Helvetica Neue"/>
                <a:ea typeface="Helvetica Neue"/>
                <a:cs typeface="Helvetica Neue"/>
                <a:sym typeface="Helvetica Neue"/>
              </a:rPr>
              <a:t>3 · UPDATE</a:t>
            </a:r>
            <a:endParaRPr b="0" i="0" sz="1400" u="none" cap="none" strike="noStrike">
              <a:solidFill>
                <a:srgbClr val="000000"/>
              </a:solidFill>
              <a:latin typeface="Arial"/>
              <a:ea typeface="Arial"/>
              <a:cs typeface="Arial"/>
              <a:sym typeface="Arial"/>
            </a:endParaRPr>
          </a:p>
        </p:txBody>
      </p:sp>
      <p:sp>
        <p:nvSpPr>
          <p:cNvPr id="141" name="Google Shape;141;p8"/>
          <p:cNvSpPr/>
          <p:nvPr/>
        </p:nvSpPr>
        <p:spPr>
          <a:xfrm>
            <a:off x="6191250" y="1066800"/>
            <a:ext cx="5524500" cy="266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350"/>
              <a:buFont typeface="Arial"/>
              <a:buNone/>
            </a:pPr>
            <a:r>
              <a:rPr b="1" i="0" lang="en-US" sz="1350" u="none" cap="none" strike="noStrike">
                <a:solidFill>
                  <a:srgbClr val="3D8DFF"/>
                </a:solidFill>
                <a:latin typeface="Helvetica Neue"/>
                <a:ea typeface="Helvetica Neue"/>
                <a:cs typeface="Helvetica Neue"/>
                <a:sym typeface="Helvetica Neue"/>
              </a:rPr>
              <a:t>4 ranks × local batch 64 = global batch 256</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6" name="Shape 146"/>
        <p:cNvGrpSpPr/>
        <p:nvPr/>
      </p:nvGrpSpPr>
      <p:grpSpPr>
        <a:xfrm>
          <a:off x="0" y="0"/>
          <a:ext cx="0" cy="0"/>
          <a:chOff x="0" y="0"/>
          <a:chExt cx="0" cy="0"/>
        </a:xfrm>
      </p:grpSpPr>
      <p:sp>
        <p:nvSpPr>
          <p:cNvPr id="147" name="Google Shape;147;p9"/>
          <p:cNvSpPr/>
          <p:nvPr/>
        </p:nvSpPr>
        <p:spPr>
          <a:xfrm>
            <a:off x="393668" y="3022568"/>
            <a:ext cx="3568732" cy="2971800"/>
          </a:xfrm>
          <a:prstGeom prst="roundRect">
            <a:avLst>
              <a:gd fmla="val 2564"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 name="Google Shape;148;p9"/>
          <p:cNvSpPr/>
          <p:nvPr/>
        </p:nvSpPr>
        <p:spPr>
          <a:xfrm>
            <a:off x="4311682" y="3022568"/>
            <a:ext cx="3568732" cy="2971800"/>
          </a:xfrm>
          <a:prstGeom prst="roundRect">
            <a:avLst>
              <a:gd fmla="val 2564"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 name="Google Shape;149;p9"/>
          <p:cNvSpPr/>
          <p:nvPr/>
        </p:nvSpPr>
        <p:spPr>
          <a:xfrm>
            <a:off x="8232267" y="3022568"/>
            <a:ext cx="3568732" cy="2971800"/>
          </a:xfrm>
          <a:prstGeom prst="roundRect">
            <a:avLst>
              <a:gd fmla="val 2564"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 name="Google Shape;150;p9"/>
          <p:cNvSpPr/>
          <p:nvPr/>
        </p:nvSpPr>
        <p:spPr>
          <a:xfrm>
            <a:off x="11279315" y="6279261"/>
            <a:ext cx="518922" cy="241268"/>
          </a:xfrm>
          <a:prstGeom prst="rect">
            <a:avLst/>
          </a:prstGeom>
          <a:noFill/>
          <a:ln>
            <a:noFill/>
          </a:ln>
        </p:spPr>
        <p:txBody>
          <a:bodyPr anchorCtr="0" anchor="b"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US" sz="1000" u="none" cap="none" strike="noStrike">
                <a:solidFill>
                  <a:srgbClr val="000000"/>
                </a:solidFill>
                <a:latin typeface="Helvetica Neue"/>
                <a:ea typeface="Helvetica Neue"/>
                <a:cs typeface="Helvetica Neue"/>
                <a:sym typeface="Helvetica Neue"/>
              </a:rPr>
              <a:t>6</a:t>
            </a:r>
            <a:endParaRPr b="0" i="0" sz="1400" u="none" cap="none" strike="noStrike">
              <a:solidFill>
                <a:srgbClr val="000000"/>
              </a:solidFill>
              <a:latin typeface="Arial"/>
              <a:ea typeface="Arial"/>
              <a:cs typeface="Arial"/>
              <a:sym typeface="Arial"/>
            </a:endParaRPr>
          </a:p>
        </p:txBody>
      </p:sp>
      <p:sp>
        <p:nvSpPr>
          <p:cNvPr id="151" name="Google Shape;151;p9"/>
          <p:cNvSpPr/>
          <p:nvPr/>
        </p:nvSpPr>
        <p:spPr>
          <a:xfrm>
            <a:off x="393668" y="344043"/>
            <a:ext cx="11404568" cy="104746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3000"/>
              <a:buFont typeface="Helvetica Neue"/>
              <a:buNone/>
            </a:pPr>
            <a:r>
              <a:rPr b="0" i="0" lang="en-US" sz="3000" u="none" cap="none" strike="noStrike">
                <a:solidFill>
                  <a:srgbClr val="000000"/>
                </a:solidFill>
                <a:latin typeface="Helvetica Neue"/>
                <a:ea typeface="Helvetica Neue"/>
                <a:cs typeface="Helvetica Neue"/>
                <a:sym typeface="Helvetica Neue"/>
              </a:rPr>
              <a:t>525 runs test optimization, scaling and configuration choices</a:t>
            </a:r>
            <a:endParaRPr b="0" i="0" sz="1400" u="none" cap="none" strike="noStrike">
              <a:solidFill>
                <a:srgbClr val="000000"/>
              </a:solidFill>
              <a:latin typeface="Arial"/>
              <a:ea typeface="Arial"/>
              <a:cs typeface="Arial"/>
              <a:sym typeface="Arial"/>
            </a:endParaRPr>
          </a:p>
        </p:txBody>
      </p:sp>
      <p:sp>
        <p:nvSpPr>
          <p:cNvPr id="152" name="Google Shape;152;p9"/>
          <p:cNvSpPr/>
          <p:nvPr/>
        </p:nvSpPr>
        <p:spPr>
          <a:xfrm>
            <a:off x="702374" y="4900613"/>
            <a:ext cx="2949607" cy="8191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B616B"/>
              </a:buClr>
              <a:buSzPts val="1500"/>
              <a:buFont typeface="Helvetica Neue"/>
              <a:buNone/>
            </a:pPr>
            <a:r>
              <a:rPr b="0" i="0" lang="en-US" sz="1500" u="none" cap="none" strike="noStrike">
                <a:solidFill>
                  <a:srgbClr val="5B616B"/>
                </a:solidFill>
                <a:latin typeface="Helvetica Neue"/>
                <a:ea typeface="Helvetica Neue"/>
                <a:cs typeface="Helvetica Neue"/>
                <a:sym typeface="Helvetica Neue"/>
              </a:rPr>
              <a:t>timed runs</a:t>
            </a:r>
            <a:endParaRPr b="0" i="0" sz="1400" u="none" cap="none" strike="noStrike">
              <a:solidFill>
                <a:srgbClr val="000000"/>
              </a:solidFill>
              <a:latin typeface="Arial"/>
              <a:ea typeface="Arial"/>
              <a:cs typeface="Arial"/>
              <a:sym typeface="Arial"/>
            </a:endParaRPr>
          </a:p>
        </p:txBody>
      </p:sp>
      <p:sp>
        <p:nvSpPr>
          <p:cNvPr id="153" name="Google Shape;153;p9"/>
          <p:cNvSpPr/>
          <p:nvPr/>
        </p:nvSpPr>
        <p:spPr>
          <a:xfrm>
            <a:off x="8541830" y="4900613"/>
            <a:ext cx="2949607" cy="8191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B616B"/>
              </a:buClr>
              <a:buSzPts val="1500"/>
              <a:buFont typeface="Helvetica Neue"/>
              <a:buNone/>
            </a:pPr>
            <a:r>
              <a:rPr b="0" i="0" lang="en-US" sz="1500" u="none" cap="none" strike="noStrike">
                <a:solidFill>
                  <a:srgbClr val="5B616B"/>
                </a:solidFill>
                <a:latin typeface="Helvetica Neue"/>
                <a:ea typeface="Helvetica Neue"/>
                <a:cs typeface="Helvetica Neue"/>
                <a:sym typeface="Helvetica Neue"/>
              </a:rPr>
              <a:t>repeats each</a:t>
            </a:r>
            <a:endParaRPr b="0" i="0" sz="1400" u="none" cap="none" strike="noStrike">
              <a:solidFill>
                <a:srgbClr val="000000"/>
              </a:solidFill>
              <a:latin typeface="Arial"/>
              <a:ea typeface="Arial"/>
              <a:cs typeface="Arial"/>
              <a:sym typeface="Arial"/>
            </a:endParaRPr>
          </a:p>
        </p:txBody>
      </p:sp>
      <p:sp>
        <p:nvSpPr>
          <p:cNvPr id="154" name="Google Shape;154;p9"/>
          <p:cNvSpPr/>
          <p:nvPr/>
        </p:nvSpPr>
        <p:spPr>
          <a:xfrm>
            <a:off x="4621244" y="4900613"/>
            <a:ext cx="2949607" cy="8191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B616B"/>
              </a:buClr>
              <a:buSzPts val="1500"/>
              <a:buFont typeface="Helvetica Neue"/>
              <a:buNone/>
            </a:pPr>
            <a:r>
              <a:rPr b="0" i="0" lang="en-US" sz="1500" u="none" cap="none" strike="noStrike">
                <a:solidFill>
                  <a:srgbClr val="5B616B"/>
                </a:solidFill>
                <a:latin typeface="Helvetica Neue"/>
                <a:ea typeface="Helvetica Neue"/>
                <a:cs typeface="Helvetica Neue"/>
                <a:sym typeface="Helvetica Neue"/>
              </a:rPr>
              <a:t>configurations</a:t>
            </a:r>
            <a:endParaRPr b="0" i="0" sz="1400" u="none" cap="none" strike="noStrike">
              <a:solidFill>
                <a:srgbClr val="000000"/>
              </a:solidFill>
              <a:latin typeface="Arial"/>
              <a:ea typeface="Arial"/>
              <a:cs typeface="Arial"/>
              <a:sym typeface="Arial"/>
            </a:endParaRPr>
          </a:p>
        </p:txBody>
      </p:sp>
      <p:sp>
        <p:nvSpPr>
          <p:cNvPr id="155" name="Google Shape;155;p9"/>
          <p:cNvSpPr/>
          <p:nvPr/>
        </p:nvSpPr>
        <p:spPr>
          <a:xfrm>
            <a:off x="702374" y="3429000"/>
            <a:ext cx="2940082" cy="1359313"/>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3D8DFF"/>
              </a:buClr>
              <a:buSzPts val="4950"/>
              <a:buFont typeface="Helvetica Neue"/>
              <a:buNone/>
            </a:pPr>
            <a:r>
              <a:rPr b="1" i="0" lang="en-US" sz="4950" u="none" cap="none" strike="noStrike">
                <a:solidFill>
                  <a:srgbClr val="3D8DFF"/>
                </a:solidFill>
                <a:latin typeface="Helvetica Neue"/>
                <a:ea typeface="Helvetica Neue"/>
                <a:cs typeface="Helvetica Neue"/>
                <a:sym typeface="Helvetica Neue"/>
              </a:rPr>
              <a:t>525</a:t>
            </a:r>
            <a:endParaRPr b="0" i="0" sz="1400" u="none" cap="none" strike="noStrike">
              <a:solidFill>
                <a:srgbClr val="000000"/>
              </a:solidFill>
              <a:latin typeface="Arial"/>
              <a:ea typeface="Arial"/>
              <a:cs typeface="Arial"/>
              <a:sym typeface="Arial"/>
            </a:endParaRPr>
          </a:p>
        </p:txBody>
      </p:sp>
      <p:sp>
        <p:nvSpPr>
          <p:cNvPr id="156" name="Google Shape;156;p9"/>
          <p:cNvSpPr/>
          <p:nvPr/>
        </p:nvSpPr>
        <p:spPr>
          <a:xfrm>
            <a:off x="4612958" y="3429000"/>
            <a:ext cx="2940082" cy="1359313"/>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000000"/>
              </a:buClr>
              <a:buSzPts val="4950"/>
              <a:buFont typeface="Helvetica Neue"/>
              <a:buNone/>
            </a:pPr>
            <a:r>
              <a:rPr b="1" i="0" lang="en-US" sz="4950" u="none" cap="none" strike="noStrike">
                <a:solidFill>
                  <a:srgbClr val="000000"/>
                </a:solidFill>
                <a:latin typeface="Helvetica Neue"/>
                <a:ea typeface="Helvetica Neue"/>
                <a:cs typeface="Helvetica Neue"/>
                <a:sym typeface="Helvetica Neue"/>
              </a:rPr>
              <a:t>105</a:t>
            </a:r>
            <a:endParaRPr b="0" i="0" sz="1400" u="none" cap="none" strike="noStrike">
              <a:solidFill>
                <a:srgbClr val="000000"/>
              </a:solidFill>
              <a:latin typeface="Arial"/>
              <a:ea typeface="Arial"/>
              <a:cs typeface="Arial"/>
              <a:sym typeface="Arial"/>
            </a:endParaRPr>
          </a:p>
        </p:txBody>
      </p:sp>
      <p:sp>
        <p:nvSpPr>
          <p:cNvPr id="157" name="Google Shape;157;p9"/>
          <p:cNvSpPr/>
          <p:nvPr/>
        </p:nvSpPr>
        <p:spPr>
          <a:xfrm>
            <a:off x="8562404" y="3429000"/>
            <a:ext cx="2940082" cy="1359313"/>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000000"/>
              </a:buClr>
              <a:buSzPts val="4950"/>
              <a:buFont typeface="Helvetica Neue"/>
              <a:buNone/>
            </a:pPr>
            <a:r>
              <a:rPr b="1" i="0" lang="en-US" sz="4950" u="none" cap="none" strike="noStrike">
                <a:solidFill>
                  <a:srgbClr val="000000"/>
                </a:solidFill>
                <a:latin typeface="Helvetica Neue"/>
                <a:ea typeface="Helvetica Neue"/>
                <a:cs typeface="Helvetica Neue"/>
                <a:sym typeface="Helvetica Neue"/>
              </a:rPr>
              <a:t>5</a:t>
            </a:r>
            <a:endParaRPr b="0" i="0" sz="1400" u="none" cap="none" strike="noStrike">
              <a:solidFill>
                <a:srgbClr val="000000"/>
              </a:solidFill>
              <a:latin typeface="Arial"/>
              <a:ea typeface="Arial"/>
              <a:cs typeface="Arial"/>
              <a:sym typeface="Arial"/>
            </a:endParaRPr>
          </a:p>
        </p:txBody>
      </p:sp>
      <p:sp>
        <p:nvSpPr>
          <p:cNvPr id="158" name="Google Shape;158;p9"/>
          <p:cNvSpPr/>
          <p:nvPr/>
        </p:nvSpPr>
        <p:spPr>
          <a:xfrm>
            <a:off x="393668" y="1138333"/>
            <a:ext cx="11404568" cy="159943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650"/>
              <a:buFont typeface="Helvetica Neue"/>
              <a:buNone/>
            </a:pPr>
            <a:r>
              <a:rPr b="1" i="0" lang="en-US" sz="1650" u="none" cap="none" strike="noStrike">
                <a:solidFill>
                  <a:srgbClr val="000000"/>
                </a:solidFill>
                <a:latin typeface="Helvetica Neue"/>
                <a:ea typeface="Helvetica Neue"/>
                <a:cs typeface="Helvetica Neue"/>
                <a:sym typeface="Helvetica Neue"/>
              </a:rPr>
              <a:t>Experimental design</a:t>
            </a:r>
            <a:endParaRPr b="0" i="0" sz="1400" u="none" cap="none" strike="noStrike">
              <a:solidFill>
                <a:srgbClr val="000000"/>
              </a:solidFill>
              <a:latin typeface="Arial"/>
              <a:ea typeface="Arial"/>
              <a:cs typeface="Arial"/>
              <a:sym typeface="Arial"/>
            </a:endParaRPr>
          </a:p>
          <a:p>
            <a:pPr indent="0" lvl="0" marL="0" marR="0" rtl="0" algn="l">
              <a:lnSpc>
                <a:spcPct val="112000"/>
              </a:lnSpc>
              <a:spcBef>
                <a:spcPts val="650"/>
              </a:spcBef>
              <a:spcAft>
                <a:spcPts val="0"/>
              </a:spcAft>
              <a:buClr>
                <a:srgbClr val="5B616B"/>
              </a:buClr>
              <a:buSzPts val="1500"/>
              <a:buFont typeface="Helvetica Neue"/>
              <a:buNone/>
            </a:pPr>
            <a:r>
              <a:rPr b="0" i="0" lang="en-US" sz="1500" u="none" cap="none" strike="noStrike">
                <a:solidFill>
                  <a:srgbClr val="5B616B"/>
                </a:solidFill>
                <a:latin typeface="Helvetica Neue"/>
                <a:ea typeface="Helvetica Neue"/>
                <a:cs typeface="Helvetica Neue"/>
                <a:sym typeface="Helvetica Neue"/>
              </a:rPr>
              <a:t>Two network shapes on individual HPC3 compute nodes. The seven experiments cover sequential optimization, fixed-problem scaling, two weak-scaling rules, tile sensitivity and batch sensitivity.</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3" name="Shape 163"/>
        <p:cNvGrpSpPr/>
        <p:nvPr/>
      </p:nvGrpSpPr>
      <p:grpSpPr>
        <a:xfrm>
          <a:off x="0" y="0"/>
          <a:ext cx="0" cy="0"/>
          <a:chOff x="0" y="0"/>
          <a:chExt cx="0" cy="0"/>
        </a:xfrm>
      </p:grpSpPr>
      <p:sp>
        <p:nvSpPr>
          <p:cNvPr id="164" name="Google Shape;164;p10"/>
          <p:cNvSpPr/>
          <p:nvPr/>
        </p:nvSpPr>
        <p:spPr>
          <a:xfrm>
            <a:off x="11279315" y="6279261"/>
            <a:ext cx="518922" cy="241268"/>
          </a:xfrm>
          <a:prstGeom prst="rect">
            <a:avLst/>
          </a:prstGeom>
          <a:noFill/>
          <a:ln>
            <a:noFill/>
          </a:ln>
        </p:spPr>
        <p:txBody>
          <a:bodyPr anchorCtr="0" anchor="b"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US" sz="1000" u="none" cap="none" strike="noStrike">
                <a:solidFill>
                  <a:srgbClr val="000000"/>
                </a:solidFill>
                <a:latin typeface="Helvetica Neue"/>
                <a:ea typeface="Helvetica Neue"/>
                <a:cs typeface="Helvetica Neue"/>
                <a:sym typeface="Helvetica Neue"/>
              </a:rPr>
              <a:t>7</a:t>
            </a:r>
            <a:endParaRPr b="0" i="0" sz="1400" u="none" cap="none" strike="noStrike">
              <a:solidFill>
                <a:srgbClr val="000000"/>
              </a:solidFill>
              <a:latin typeface="Arial"/>
              <a:ea typeface="Arial"/>
              <a:cs typeface="Arial"/>
              <a:sym typeface="Arial"/>
            </a:endParaRPr>
          </a:p>
        </p:txBody>
      </p:sp>
      <p:sp>
        <p:nvSpPr>
          <p:cNvPr id="165" name="Google Shape;165;p10"/>
          <p:cNvSpPr/>
          <p:nvPr/>
        </p:nvSpPr>
        <p:spPr>
          <a:xfrm>
            <a:off x="393668" y="344519"/>
            <a:ext cx="11404568" cy="64427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3000"/>
              <a:buFont typeface="Helvetica Neue"/>
              <a:buNone/>
            </a:pPr>
            <a:r>
              <a:rPr b="0" i="0" lang="en-US" sz="3000" u="none" cap="none" strike="noStrike">
                <a:solidFill>
                  <a:srgbClr val="000000"/>
                </a:solidFill>
                <a:latin typeface="Helvetica Neue"/>
                <a:ea typeface="Helvetica Neue"/>
                <a:cs typeface="Helvetica Neue"/>
                <a:sym typeface="Helvetica Neue"/>
              </a:rPr>
              <a:t>Locality produces roughly 3× improvement before parallelism</a:t>
            </a:r>
            <a:endParaRPr b="0" i="0" sz="1400" u="none" cap="none" strike="noStrike">
              <a:solidFill>
                <a:srgbClr val="000000"/>
              </a:solidFill>
              <a:latin typeface="Arial"/>
              <a:ea typeface="Arial"/>
              <a:cs typeface="Arial"/>
              <a:sym typeface="Arial"/>
            </a:endParaRPr>
          </a:p>
        </p:txBody>
      </p:sp>
      <p:sp>
        <p:nvSpPr>
          <p:cNvPr id="166" name="Google Shape;166;p10"/>
          <p:cNvSpPr/>
          <p:nvPr/>
        </p:nvSpPr>
        <p:spPr>
          <a:xfrm>
            <a:off x="397002" y="3339084"/>
            <a:ext cx="5533930" cy="1320832"/>
          </a:xfrm>
          <a:prstGeom prst="roundRect">
            <a:avLst>
              <a:gd fmla="val 5769"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10"/>
          <p:cNvSpPr/>
          <p:nvPr/>
        </p:nvSpPr>
        <p:spPr>
          <a:xfrm>
            <a:off x="694277" y="3587972"/>
            <a:ext cx="4986909" cy="87782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3D8DFF"/>
              </a:buClr>
              <a:buSzPts val="3900"/>
              <a:buFont typeface="Helvetica Neue"/>
              <a:buNone/>
            </a:pPr>
            <a:r>
              <a:rPr b="1" i="0" lang="en-US" sz="3900" u="none" cap="none" strike="noStrike">
                <a:solidFill>
                  <a:srgbClr val="3D8DFF"/>
                </a:solidFill>
                <a:latin typeface="Helvetica Neue"/>
                <a:ea typeface="Helvetica Neue"/>
                <a:cs typeface="Helvetica Neue"/>
                <a:sym typeface="Helvetica Neue"/>
              </a:rPr>
              <a:t>3.08×</a:t>
            </a:r>
            <a:endParaRPr b="0" i="0" sz="1400" u="none" cap="none" strike="noStrike">
              <a:solidFill>
                <a:srgbClr val="000000"/>
              </a:solidFill>
              <a:latin typeface="Arial"/>
              <a:ea typeface="Arial"/>
              <a:cs typeface="Arial"/>
              <a:sym typeface="Arial"/>
            </a:endParaRPr>
          </a:p>
        </p:txBody>
      </p:sp>
      <p:sp>
        <p:nvSpPr>
          <p:cNvPr id="168" name="Google Shape;168;p10"/>
          <p:cNvSpPr/>
          <p:nvPr/>
        </p:nvSpPr>
        <p:spPr>
          <a:xfrm>
            <a:off x="694277" y="4828604"/>
            <a:ext cx="5236655" cy="97793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Helvetica Neue"/>
              <a:buNone/>
            </a:pPr>
            <a:r>
              <a:rPr b="1" i="0" lang="en-US" sz="1500" u="none" cap="none" strike="noStrike">
                <a:solidFill>
                  <a:srgbClr val="000000"/>
                </a:solidFill>
                <a:latin typeface="Helvetica Neue"/>
                <a:ea typeface="Helvetica Neue"/>
                <a:cs typeface="Helvetica Neue"/>
                <a:sym typeface="Helvetica Neue"/>
              </a:rPr>
              <a:t>Canonical workload</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5B616B"/>
              </a:buClr>
              <a:buSzPts val="1500"/>
              <a:buFont typeface="Helvetica Neue"/>
              <a:buNone/>
            </a:pPr>
            <a:r>
              <a:rPr b="0" i="0" lang="en-US" sz="1500" u="none" cap="none" strike="noStrike">
                <a:solidFill>
                  <a:srgbClr val="5B616B"/>
                </a:solidFill>
                <a:latin typeface="Helvetica Neue"/>
                <a:ea typeface="Helvetica Neue"/>
                <a:cs typeface="Helvetica Neue"/>
                <a:sym typeface="Helvetica Neue"/>
              </a:rPr>
              <a:t>269.184 s → 87.423 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5B616B"/>
              </a:buClr>
              <a:buSzPts val="1275"/>
              <a:buFont typeface="Helvetica Neue"/>
              <a:buNone/>
            </a:pPr>
            <a:r>
              <a:rPr b="0" i="0" lang="en-US" sz="1275" u="none" cap="none" strike="noStrike">
                <a:solidFill>
                  <a:srgbClr val="5B616B"/>
                </a:solidFill>
                <a:latin typeface="Helvetica Neue"/>
                <a:ea typeface="Helvetica Neue"/>
                <a:cs typeface="Helvetica Neue"/>
                <a:sym typeface="Helvetica Neue"/>
              </a:rPr>
              <a:t>direct → tiled sequential</a:t>
            </a:r>
            <a:endParaRPr b="0" i="0" sz="1400" u="none" cap="none" strike="noStrike">
              <a:solidFill>
                <a:srgbClr val="000000"/>
              </a:solidFill>
              <a:latin typeface="Arial"/>
              <a:ea typeface="Arial"/>
              <a:cs typeface="Arial"/>
              <a:sym typeface="Arial"/>
            </a:endParaRPr>
          </a:p>
        </p:txBody>
      </p:sp>
      <p:sp>
        <p:nvSpPr>
          <p:cNvPr id="169" name="Google Shape;169;p10"/>
          <p:cNvSpPr/>
          <p:nvPr/>
        </p:nvSpPr>
        <p:spPr>
          <a:xfrm>
            <a:off x="6260783" y="3339084"/>
            <a:ext cx="5533930" cy="1320832"/>
          </a:xfrm>
          <a:prstGeom prst="roundRect">
            <a:avLst>
              <a:gd fmla="val 5769"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10"/>
          <p:cNvSpPr/>
          <p:nvPr/>
        </p:nvSpPr>
        <p:spPr>
          <a:xfrm>
            <a:off x="6558058" y="3587972"/>
            <a:ext cx="4986909" cy="87782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3D8DFF"/>
              </a:buClr>
              <a:buSzPts val="3900"/>
              <a:buFont typeface="Helvetica Neue"/>
              <a:buNone/>
            </a:pPr>
            <a:r>
              <a:rPr b="1" i="0" lang="en-US" sz="3900" u="none" cap="none" strike="noStrike">
                <a:solidFill>
                  <a:srgbClr val="3D8DFF"/>
                </a:solidFill>
                <a:latin typeface="Helvetica Neue"/>
                <a:ea typeface="Helvetica Neue"/>
                <a:cs typeface="Helvetica Neue"/>
                <a:sym typeface="Helvetica Neue"/>
              </a:rPr>
              <a:t>3.00×</a:t>
            </a:r>
            <a:endParaRPr b="0" i="0" sz="1400" u="none" cap="none" strike="noStrike">
              <a:solidFill>
                <a:srgbClr val="000000"/>
              </a:solidFill>
              <a:latin typeface="Arial"/>
              <a:ea typeface="Arial"/>
              <a:cs typeface="Arial"/>
              <a:sym typeface="Arial"/>
            </a:endParaRPr>
          </a:p>
        </p:txBody>
      </p:sp>
      <p:sp>
        <p:nvSpPr>
          <p:cNvPr id="171" name="Google Shape;171;p10"/>
          <p:cNvSpPr/>
          <p:nvPr/>
        </p:nvSpPr>
        <p:spPr>
          <a:xfrm>
            <a:off x="6558058" y="4828604"/>
            <a:ext cx="5236655" cy="97793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Helvetica Neue"/>
              <a:buNone/>
            </a:pPr>
            <a:r>
              <a:rPr b="1" i="0" lang="en-US" sz="1500" u="none" cap="none" strike="noStrike">
                <a:solidFill>
                  <a:srgbClr val="000000"/>
                </a:solidFill>
                <a:latin typeface="Helvetica Neue"/>
                <a:ea typeface="Helvetica Neue"/>
                <a:cs typeface="Helvetica Neue"/>
                <a:sym typeface="Helvetica Neue"/>
              </a:rPr>
              <a:t>Large-input workload</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5B616B"/>
              </a:buClr>
              <a:buSzPts val="1500"/>
              <a:buFont typeface="Helvetica Neue"/>
              <a:buNone/>
            </a:pPr>
            <a:r>
              <a:rPr b="0" i="0" lang="en-US" sz="1500" u="none" cap="none" strike="noStrike">
                <a:solidFill>
                  <a:srgbClr val="5B616B"/>
                </a:solidFill>
                <a:latin typeface="Helvetica Neue"/>
                <a:ea typeface="Helvetica Neue"/>
                <a:cs typeface="Helvetica Neue"/>
                <a:sym typeface="Helvetica Neue"/>
              </a:rPr>
              <a:t>1114.349 s → 371.809 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5B616B"/>
              </a:buClr>
              <a:buSzPts val="1275"/>
              <a:buFont typeface="Helvetica Neue"/>
              <a:buNone/>
            </a:pPr>
            <a:r>
              <a:rPr b="0" i="0" lang="en-US" sz="1275" u="none" cap="none" strike="noStrike">
                <a:solidFill>
                  <a:srgbClr val="5B616B"/>
                </a:solidFill>
                <a:latin typeface="Helvetica Neue"/>
                <a:ea typeface="Helvetica Neue"/>
                <a:cs typeface="Helvetica Neue"/>
                <a:sym typeface="Helvetica Neue"/>
              </a:rPr>
              <a:t>direct → tiled sequential</a:t>
            </a:r>
            <a:endParaRPr b="0" i="0" sz="1400" u="none" cap="none" strike="noStrike">
              <a:solidFill>
                <a:srgbClr val="000000"/>
              </a:solidFill>
              <a:latin typeface="Arial"/>
              <a:ea typeface="Arial"/>
              <a:cs typeface="Arial"/>
              <a:sym typeface="Arial"/>
            </a:endParaRPr>
          </a:p>
        </p:txBody>
      </p:sp>
      <p:sp>
        <p:nvSpPr>
          <p:cNvPr id="172" name="Google Shape;172;p10"/>
          <p:cNvSpPr/>
          <p:nvPr/>
        </p:nvSpPr>
        <p:spPr>
          <a:xfrm>
            <a:off x="400907" y="1157478"/>
            <a:ext cx="11404568" cy="16292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75"/>
              <a:buFont typeface="Helvetica Neue"/>
              <a:buNone/>
            </a:pPr>
            <a:r>
              <a:rPr b="1" i="0" lang="en-US" sz="1875" u="none" cap="none" strike="noStrike">
                <a:solidFill>
                  <a:srgbClr val="000000"/>
                </a:solidFill>
                <a:latin typeface="Helvetica Neue"/>
                <a:ea typeface="Helvetica Neue"/>
                <a:cs typeface="Helvetica Neue"/>
                <a:sym typeface="Helvetica Neue"/>
              </a:rPr>
              <a:t>The optimized local kernel lowers the cost inherited by every parallel backend.</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650"/>
              </a:spcBef>
              <a:spcAft>
                <a:spcPts val="0"/>
              </a:spcAft>
              <a:buClr>
                <a:srgbClr val="5B616B"/>
              </a:buClr>
              <a:buSzPts val="1425"/>
              <a:buFont typeface="Helvetica Neue"/>
              <a:buNone/>
            </a:pPr>
            <a:r>
              <a:rPr b="0" i="0" lang="en-US" sz="1425" u="none" cap="none" strike="noStrike">
                <a:solidFill>
                  <a:srgbClr val="5B616B"/>
                </a:solidFill>
                <a:latin typeface="Helvetica Neue"/>
                <a:ea typeface="Helvetica Neue"/>
                <a:cs typeface="Helvetica Neue"/>
                <a:sym typeface="Helvetica Neue"/>
              </a:rPr>
              <a:t>Tiling and packed-transpose handling were introduced together, so this experiment measures their combined effect.</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25"/>
              <a:buFont typeface="Helvetica Neue"/>
              <a:buNone/>
            </a:pPr>
            <a:r>
              <a:t/>
            </a:r>
            <a:endParaRPr b="0" i="0" sz="1425" u="none" cap="none" strike="noStrike">
              <a:solidFill>
                <a:srgbClr val="5B616B"/>
              </a:solidFill>
              <a:latin typeface="Helvetica Neue"/>
              <a:ea typeface="Helvetica Neue"/>
              <a:cs typeface="Helvetica Neue"/>
              <a:sym typeface="Helvetica Neue"/>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7" name="Shape 177"/>
        <p:cNvGrpSpPr/>
        <p:nvPr/>
      </p:nvGrpSpPr>
      <p:grpSpPr>
        <a:xfrm>
          <a:off x="0" y="0"/>
          <a:ext cx="0" cy="0"/>
          <a:chOff x="0" y="0"/>
          <a:chExt cx="0" cy="0"/>
        </a:xfrm>
      </p:grpSpPr>
      <p:sp>
        <p:nvSpPr>
          <p:cNvPr id="178" name="Google Shape;178;p11"/>
          <p:cNvSpPr/>
          <p:nvPr/>
        </p:nvSpPr>
        <p:spPr>
          <a:xfrm>
            <a:off x="393668" y="344043"/>
            <a:ext cx="11404568" cy="800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3000"/>
              <a:buFont typeface="Arial"/>
              <a:buNone/>
            </a:pPr>
            <a:r>
              <a:rPr b="0" i="0" lang="en-US" sz="3000" u="none" cap="none" strike="noStrike">
                <a:solidFill>
                  <a:srgbClr val="000000"/>
                </a:solidFill>
                <a:latin typeface="Helvetica Neue"/>
                <a:ea typeface="Helvetica Neue"/>
                <a:cs typeface="Helvetica Neue"/>
                <a:sym typeface="Helvetica Neue"/>
              </a:rPr>
              <a:t>OpenMP’s best thread count depends on matrix shape</a:t>
            </a:r>
            <a:endParaRPr b="0" i="0" sz="1400" u="none" cap="none" strike="noStrike">
              <a:solidFill>
                <a:srgbClr val="000000"/>
              </a:solidFill>
              <a:latin typeface="Arial"/>
              <a:ea typeface="Arial"/>
              <a:cs typeface="Arial"/>
              <a:sym typeface="Arial"/>
            </a:endParaRPr>
          </a:p>
        </p:txBody>
      </p:sp>
      <p:sp>
        <p:nvSpPr>
          <p:cNvPr id="179" name="Google Shape;179;p11"/>
          <p:cNvSpPr/>
          <p:nvPr/>
        </p:nvSpPr>
        <p:spPr>
          <a:xfrm>
            <a:off x="11279315" y="6279261"/>
            <a:ext cx="518922" cy="241268"/>
          </a:xfrm>
          <a:prstGeom prst="rect">
            <a:avLst/>
          </a:prstGeom>
          <a:noFill/>
          <a:ln>
            <a:noFill/>
          </a:ln>
        </p:spPr>
        <p:txBody>
          <a:bodyPr anchorCtr="0" anchor="b"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US" sz="1000" u="none" cap="none" strike="noStrike">
                <a:solidFill>
                  <a:srgbClr val="000000"/>
                </a:solidFill>
                <a:latin typeface="Helvetica Neue"/>
                <a:ea typeface="Helvetica Neue"/>
                <a:cs typeface="Helvetica Neue"/>
                <a:sym typeface="Helvetica Neue"/>
              </a:rPr>
              <a:t>8</a:t>
            </a:r>
            <a:endParaRPr b="0" i="0" sz="1400" u="none" cap="none" strike="noStrike">
              <a:solidFill>
                <a:srgbClr val="000000"/>
              </a:solidFill>
              <a:latin typeface="Arial"/>
              <a:ea typeface="Arial"/>
              <a:cs typeface="Arial"/>
              <a:sym typeface="Arial"/>
            </a:endParaRPr>
          </a:p>
        </p:txBody>
      </p:sp>
      <p:sp>
        <p:nvSpPr>
          <p:cNvPr id="180" name="Google Shape;180;p11"/>
          <p:cNvSpPr/>
          <p:nvPr/>
        </p:nvSpPr>
        <p:spPr>
          <a:xfrm>
            <a:off x="323850" y="1181100"/>
            <a:ext cx="8343900" cy="4819650"/>
          </a:xfrm>
          <a:prstGeom prst="roundRect">
            <a:avLst>
              <a:gd fmla="val 1581" name="adj"/>
            </a:avLst>
          </a:prstGeom>
          <a:solidFill>
            <a:srgbClr val="FFFFFF"/>
          </a:solidFill>
          <a:ln cap="flat" cmpd="sng" w="9525">
            <a:solidFill>
              <a:srgbClr val="B8BCC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81" name="Google Shape;181;p11"/>
          <p:cNvPicPr preferRelativeResize="0"/>
          <p:nvPr/>
        </p:nvPicPr>
        <p:blipFill rotWithShape="1">
          <a:blip r:embed="rId3">
            <a:alphaModFix/>
          </a:blip>
          <a:srcRect b="0" l="0" r="0" t="0"/>
          <a:stretch/>
        </p:blipFill>
        <p:spPr>
          <a:xfrm>
            <a:off x="400050" y="2000201"/>
            <a:ext cx="8191500" cy="3181448"/>
          </a:xfrm>
          <a:prstGeom prst="rect">
            <a:avLst/>
          </a:prstGeom>
          <a:noFill/>
          <a:ln>
            <a:noFill/>
          </a:ln>
        </p:spPr>
      </p:pic>
      <p:sp>
        <p:nvSpPr>
          <p:cNvPr id="182" name="Google Shape;182;p11"/>
          <p:cNvSpPr/>
          <p:nvPr/>
        </p:nvSpPr>
        <p:spPr>
          <a:xfrm>
            <a:off x="8953500" y="1428750"/>
            <a:ext cx="2838450" cy="1809750"/>
          </a:xfrm>
          <a:prstGeom prst="roundRect">
            <a:avLst>
              <a:gd fmla="val 4211"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 name="Google Shape;183;p11"/>
          <p:cNvSpPr/>
          <p:nvPr/>
        </p:nvSpPr>
        <p:spPr>
          <a:xfrm>
            <a:off x="9182100" y="1600200"/>
            <a:ext cx="2381250" cy="59055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000000"/>
              </a:buClr>
              <a:buSzPts val="3000"/>
              <a:buFont typeface="Arial"/>
              <a:buNone/>
            </a:pPr>
            <a:r>
              <a:rPr b="1" i="0" lang="en-US" sz="3000" u="none" cap="none" strike="noStrike">
                <a:solidFill>
                  <a:srgbClr val="3D8DFF"/>
                </a:solidFill>
                <a:latin typeface="Helvetica Neue"/>
                <a:ea typeface="Helvetica Neue"/>
                <a:cs typeface="Helvetica Neue"/>
                <a:sym typeface="Helvetica Neue"/>
              </a:rPr>
              <a:t>10.58×</a:t>
            </a:r>
            <a:endParaRPr b="0" i="0" sz="1400" u="none" cap="none" strike="noStrike">
              <a:solidFill>
                <a:srgbClr val="000000"/>
              </a:solidFill>
              <a:latin typeface="Arial"/>
              <a:ea typeface="Arial"/>
              <a:cs typeface="Arial"/>
              <a:sym typeface="Arial"/>
            </a:endParaRPr>
          </a:p>
        </p:txBody>
      </p:sp>
      <p:sp>
        <p:nvSpPr>
          <p:cNvPr id="184" name="Google Shape;184;p11"/>
          <p:cNvSpPr/>
          <p:nvPr/>
        </p:nvSpPr>
        <p:spPr>
          <a:xfrm>
            <a:off x="9182100" y="2266950"/>
            <a:ext cx="2381250" cy="800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rPr b="0" i="0" lang="en-US" sz="1350" u="none" cap="none" strike="noStrike">
                <a:solidFill>
                  <a:srgbClr val="5B616B"/>
                </a:solidFill>
                <a:latin typeface="Helvetica Neue"/>
                <a:ea typeface="Helvetica Neue"/>
                <a:cs typeface="Helvetica Neue"/>
                <a:sym typeface="Helvetica Neue"/>
              </a:rPr>
              <a:t>Canonical workload</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350"/>
              <a:buFont typeface="Arial"/>
              <a:buNone/>
            </a:pPr>
            <a:r>
              <a:rPr b="0" i="0" lang="en-US" sz="1350" u="none" cap="none" strike="noStrike">
                <a:solidFill>
                  <a:srgbClr val="5B616B"/>
                </a:solidFill>
                <a:latin typeface="Helvetica Neue"/>
                <a:ea typeface="Helvetica Neue"/>
                <a:cs typeface="Helvetica Neue"/>
                <a:sym typeface="Helvetica Neue"/>
              </a:rPr>
              <a:t>best at 32 threads</a:t>
            </a:r>
            <a:endParaRPr b="0" i="0" sz="1400" u="none" cap="none" strike="noStrike">
              <a:solidFill>
                <a:srgbClr val="000000"/>
              </a:solidFill>
              <a:latin typeface="Arial"/>
              <a:ea typeface="Arial"/>
              <a:cs typeface="Arial"/>
              <a:sym typeface="Arial"/>
            </a:endParaRPr>
          </a:p>
        </p:txBody>
      </p:sp>
      <p:sp>
        <p:nvSpPr>
          <p:cNvPr id="185" name="Google Shape;185;p11"/>
          <p:cNvSpPr/>
          <p:nvPr/>
        </p:nvSpPr>
        <p:spPr>
          <a:xfrm>
            <a:off x="8953500" y="3486150"/>
            <a:ext cx="2838450" cy="1809750"/>
          </a:xfrm>
          <a:prstGeom prst="roundRect">
            <a:avLst>
              <a:gd fmla="val 4211"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 name="Google Shape;186;p11"/>
          <p:cNvSpPr/>
          <p:nvPr/>
        </p:nvSpPr>
        <p:spPr>
          <a:xfrm>
            <a:off x="9182100" y="3657600"/>
            <a:ext cx="2381250" cy="59055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000000"/>
              </a:buClr>
              <a:buSzPts val="3000"/>
              <a:buFont typeface="Arial"/>
              <a:buNone/>
            </a:pPr>
            <a:r>
              <a:rPr b="1" i="0" lang="en-US" sz="3000" u="none" cap="none" strike="noStrike">
                <a:solidFill>
                  <a:srgbClr val="3D8DFF"/>
                </a:solidFill>
                <a:latin typeface="Helvetica Neue"/>
                <a:ea typeface="Helvetica Neue"/>
                <a:cs typeface="Helvetica Neue"/>
                <a:sym typeface="Helvetica Neue"/>
              </a:rPr>
              <a:t>24.43×</a:t>
            </a:r>
            <a:endParaRPr b="0" i="0" sz="1400" u="none" cap="none" strike="noStrike">
              <a:solidFill>
                <a:srgbClr val="000000"/>
              </a:solidFill>
              <a:latin typeface="Arial"/>
              <a:ea typeface="Arial"/>
              <a:cs typeface="Arial"/>
              <a:sym typeface="Arial"/>
            </a:endParaRPr>
          </a:p>
        </p:txBody>
      </p:sp>
      <p:sp>
        <p:nvSpPr>
          <p:cNvPr id="187" name="Google Shape;187;p11"/>
          <p:cNvSpPr/>
          <p:nvPr/>
        </p:nvSpPr>
        <p:spPr>
          <a:xfrm>
            <a:off x="9182100" y="4324350"/>
            <a:ext cx="2381250" cy="800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rPr b="0" i="0" lang="en-US" sz="1350" u="none" cap="none" strike="noStrike">
                <a:solidFill>
                  <a:srgbClr val="5B616B"/>
                </a:solidFill>
                <a:latin typeface="Helvetica Neue"/>
                <a:ea typeface="Helvetica Neue"/>
                <a:cs typeface="Helvetica Neue"/>
                <a:sym typeface="Helvetica Neue"/>
              </a:rPr>
              <a:t>Large-input workload</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350"/>
              <a:buFont typeface="Arial"/>
              <a:buNone/>
            </a:pPr>
            <a:r>
              <a:rPr b="0" i="0" lang="en-US" sz="1350" u="none" cap="none" strike="noStrike">
                <a:solidFill>
                  <a:srgbClr val="5B616B"/>
                </a:solidFill>
                <a:latin typeface="Helvetica Neue"/>
                <a:ea typeface="Helvetica Neue"/>
                <a:cs typeface="Helvetica Neue"/>
                <a:sym typeface="Helvetica Neue"/>
              </a:rPr>
              <a:t>continues through 64 threads</a:t>
            </a:r>
            <a:endParaRPr b="0" i="0" sz="1400" u="none" cap="none" strike="noStrike">
              <a:solidFill>
                <a:srgbClr val="000000"/>
              </a:solidFill>
              <a:latin typeface="Arial"/>
              <a:ea typeface="Arial"/>
              <a:cs typeface="Arial"/>
              <a:sym typeface="Arial"/>
            </a:endParaRPr>
          </a:p>
        </p:txBody>
      </p:sp>
      <p:sp>
        <p:nvSpPr>
          <p:cNvPr id="188" name="Google Shape;188;p11"/>
          <p:cNvSpPr/>
          <p:nvPr/>
        </p:nvSpPr>
        <p:spPr>
          <a:xfrm>
            <a:off x="8953500" y="5543550"/>
            <a:ext cx="2838450" cy="51435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350"/>
              <a:buFont typeface="Arial"/>
              <a:buNone/>
            </a:pPr>
            <a:r>
              <a:rPr b="0" i="0" lang="en-US" sz="1350" u="none" cap="none" strike="noStrike">
                <a:solidFill>
                  <a:srgbClr val="5B616B"/>
                </a:solidFill>
                <a:latin typeface="Helvetica Neue"/>
                <a:ea typeface="Helvetica Neue"/>
                <a:cs typeface="Helvetica Neue"/>
                <a:sym typeface="Helvetica Neue"/>
              </a:rPr>
              <a:t>Output-tile shape determines how much useful work can be shared.</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3" name="Shape 193"/>
        <p:cNvGrpSpPr/>
        <p:nvPr/>
      </p:nvGrpSpPr>
      <p:grpSpPr>
        <a:xfrm>
          <a:off x="0" y="0"/>
          <a:ext cx="0" cy="0"/>
          <a:chOff x="0" y="0"/>
          <a:chExt cx="0" cy="0"/>
        </a:xfrm>
      </p:grpSpPr>
      <p:sp>
        <p:nvSpPr>
          <p:cNvPr id="194" name="Google Shape;194;p12"/>
          <p:cNvSpPr/>
          <p:nvPr/>
        </p:nvSpPr>
        <p:spPr>
          <a:xfrm>
            <a:off x="393668" y="344043"/>
            <a:ext cx="11404568" cy="800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3000"/>
              <a:buFont typeface="Arial"/>
              <a:buNone/>
            </a:pPr>
            <a:r>
              <a:rPr b="0" i="0" lang="en-US" sz="3000" u="none" cap="none" strike="noStrike">
                <a:solidFill>
                  <a:srgbClr val="000000"/>
                </a:solidFill>
                <a:latin typeface="Helvetica Neue"/>
                <a:ea typeface="Helvetica Neue"/>
                <a:cs typeface="Helvetica Neue"/>
                <a:sym typeface="Helvetica Neue"/>
              </a:rPr>
              <a:t>The two network shapes expose radically different tile counts</a:t>
            </a:r>
            <a:endParaRPr b="0" i="0" sz="1400" u="none" cap="none" strike="noStrike">
              <a:solidFill>
                <a:srgbClr val="000000"/>
              </a:solidFill>
              <a:latin typeface="Arial"/>
              <a:ea typeface="Arial"/>
              <a:cs typeface="Arial"/>
              <a:sym typeface="Arial"/>
            </a:endParaRPr>
          </a:p>
        </p:txBody>
      </p:sp>
      <p:sp>
        <p:nvSpPr>
          <p:cNvPr id="195" name="Google Shape;195;p12"/>
          <p:cNvSpPr/>
          <p:nvPr/>
        </p:nvSpPr>
        <p:spPr>
          <a:xfrm>
            <a:off x="11279315" y="6279261"/>
            <a:ext cx="518922" cy="241268"/>
          </a:xfrm>
          <a:prstGeom prst="rect">
            <a:avLst/>
          </a:prstGeom>
          <a:noFill/>
          <a:ln>
            <a:noFill/>
          </a:ln>
        </p:spPr>
        <p:txBody>
          <a:bodyPr anchorCtr="0" anchor="b"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US" sz="1000" u="none" cap="none" strike="noStrike">
                <a:solidFill>
                  <a:srgbClr val="000000"/>
                </a:solidFill>
                <a:latin typeface="Helvetica Neue"/>
                <a:ea typeface="Helvetica Neue"/>
                <a:cs typeface="Helvetica Neue"/>
                <a:sym typeface="Helvetica Neue"/>
              </a:rPr>
              <a:t>9</a:t>
            </a:r>
            <a:endParaRPr b="0" i="0" sz="1400" u="none" cap="none" strike="noStrike">
              <a:solidFill>
                <a:srgbClr val="000000"/>
              </a:solidFill>
              <a:latin typeface="Arial"/>
              <a:ea typeface="Arial"/>
              <a:cs typeface="Arial"/>
              <a:sym typeface="Arial"/>
            </a:endParaRPr>
          </a:p>
        </p:txBody>
      </p:sp>
      <p:sp>
        <p:nvSpPr>
          <p:cNvPr id="196" name="Google Shape;196;p12"/>
          <p:cNvSpPr/>
          <p:nvPr/>
        </p:nvSpPr>
        <p:spPr>
          <a:xfrm>
            <a:off x="7905750" y="1066800"/>
            <a:ext cx="3886200" cy="24765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350"/>
              <a:buFont typeface="Arial"/>
              <a:buNone/>
            </a:pPr>
            <a:r>
              <a:rPr b="1" i="0" lang="en-US" sz="1350" u="none" cap="none" strike="noStrike">
                <a:solidFill>
                  <a:srgbClr val="3D8DFF"/>
                </a:solidFill>
                <a:latin typeface="Helvetica Neue"/>
                <a:ea typeface="Helvetica Neue"/>
                <a:cs typeface="Helvetica Neue"/>
                <a:sym typeface="Helvetica Neue"/>
              </a:rPr>
              <a:t>Full mini-batch B = 64 · tile width T = 64</a:t>
            </a:r>
            <a:endParaRPr b="0" i="0" sz="1400" u="none" cap="none" strike="noStrike">
              <a:solidFill>
                <a:srgbClr val="000000"/>
              </a:solidFill>
              <a:latin typeface="Arial"/>
              <a:ea typeface="Arial"/>
              <a:cs typeface="Arial"/>
              <a:sym typeface="Arial"/>
            </a:endParaRPr>
          </a:p>
        </p:txBody>
      </p:sp>
      <p:sp>
        <p:nvSpPr>
          <p:cNvPr id="197" name="Google Shape;197;p12"/>
          <p:cNvSpPr/>
          <p:nvPr/>
        </p:nvSpPr>
        <p:spPr>
          <a:xfrm>
            <a:off x="400050" y="1428750"/>
            <a:ext cx="5429250" cy="36195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950"/>
              <a:buFont typeface="Arial"/>
              <a:buNone/>
            </a:pPr>
            <a:r>
              <a:rPr b="1" i="0" lang="en-US" sz="1950" u="none" cap="none" strike="noStrike">
                <a:solidFill>
                  <a:srgbClr val="000000"/>
                </a:solidFill>
                <a:latin typeface="Helvetica Neue"/>
                <a:ea typeface="Helvetica Neue"/>
                <a:cs typeface="Helvetica Neue"/>
                <a:sym typeface="Helvetica Neue"/>
              </a:rPr>
              <a:t>Canonical workload</a:t>
            </a:r>
            <a:endParaRPr b="0" i="0" sz="1400" u="none" cap="none" strike="noStrike">
              <a:solidFill>
                <a:srgbClr val="000000"/>
              </a:solidFill>
              <a:latin typeface="Arial"/>
              <a:ea typeface="Arial"/>
              <a:cs typeface="Arial"/>
              <a:sym typeface="Arial"/>
            </a:endParaRPr>
          </a:p>
        </p:txBody>
      </p:sp>
      <p:sp>
        <p:nvSpPr>
          <p:cNvPr id="198" name="Google Shape;198;p12"/>
          <p:cNvSpPr/>
          <p:nvPr/>
        </p:nvSpPr>
        <p:spPr>
          <a:xfrm>
            <a:off x="400050" y="1790700"/>
            <a:ext cx="5429250" cy="266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rPr b="0" i="0" lang="en-US" sz="1350" u="none" cap="none" strike="noStrike">
                <a:solidFill>
                  <a:srgbClr val="5B616B"/>
                </a:solidFill>
                <a:latin typeface="Helvetica Neue"/>
                <a:ea typeface="Helvetica Neue"/>
                <a:cs typeface="Helvetica Neue"/>
                <a:sym typeface="Helvetica Neue"/>
              </a:rPr>
              <a:t>1024 → 1536 → 10</a:t>
            </a:r>
            <a:endParaRPr b="0" i="0" sz="1400" u="none" cap="none" strike="noStrike">
              <a:solidFill>
                <a:srgbClr val="000000"/>
              </a:solidFill>
              <a:latin typeface="Arial"/>
              <a:ea typeface="Arial"/>
              <a:cs typeface="Arial"/>
              <a:sym typeface="Arial"/>
            </a:endParaRPr>
          </a:p>
        </p:txBody>
      </p:sp>
      <p:graphicFrame>
        <p:nvGraphicFramePr>
          <p:cNvPr id="199" name="Google Shape;199;p12"/>
          <p:cNvGraphicFramePr/>
          <p:nvPr/>
        </p:nvGraphicFramePr>
        <p:xfrm>
          <a:off x="400050" y="2209800"/>
          <a:ext cx="3000000" cy="3000000"/>
        </p:xfrm>
        <a:graphic>
          <a:graphicData uri="http://schemas.openxmlformats.org/drawingml/2006/table">
            <a:tbl>
              <a:tblPr>
                <a:noFill/>
                <a:tableStyleId>{D09011A5-49AC-419F-A634-65DB9785C07A}</a:tableStyleId>
              </a:tblPr>
              <a:tblGrid>
                <a:gridCol w="2571750"/>
                <a:gridCol w="1676400"/>
                <a:gridCol w="1181100"/>
              </a:tblGrid>
              <a:tr h="457200">
                <a:tc>
                  <a:txBody>
                    <a:bodyPr/>
                    <a:lstStyle/>
                    <a:p>
                      <a:pPr indent="0" lvl="0" marL="0" marR="0" rtl="0" algn="l">
                        <a:lnSpc>
                          <a:spcPct val="100000"/>
                        </a:lnSpc>
                        <a:spcBef>
                          <a:spcPts val="0"/>
                        </a:spcBef>
                        <a:spcAft>
                          <a:spcPts val="0"/>
                        </a:spcAft>
                        <a:buClr>
                          <a:srgbClr val="FFFFFF"/>
                        </a:buClr>
                        <a:buSzPts val="1275"/>
                        <a:buFont typeface="Helvetica Neue"/>
                        <a:buNone/>
                      </a:pPr>
                      <a:r>
                        <a:rPr b="1" lang="en-US" sz="1275" u="none" cap="none" strike="noStrike">
                          <a:solidFill>
                            <a:srgbClr val="FFFFFF"/>
                          </a:solidFill>
                          <a:latin typeface="Helvetica Neue"/>
                          <a:ea typeface="Helvetica Neue"/>
                          <a:cs typeface="Helvetica Neue"/>
                          <a:sym typeface="Helvetica Neue"/>
                        </a:rPr>
                        <a:t>Operation</a:t>
                      </a:r>
                      <a:endParaRPr sz="1400" u="none" cap="none" strike="noStrike"/>
                    </a:p>
                  </a:txBody>
                  <a:tcPr marT="76200" marB="76200" marR="95250" marL="95250" anchor="ctr">
                    <a:solidFill>
                      <a:srgbClr val="000000"/>
                    </a:solidFill>
                  </a:tcPr>
                </a:tc>
                <a:tc>
                  <a:txBody>
                    <a:bodyPr/>
                    <a:lstStyle/>
                    <a:p>
                      <a:pPr indent="0" lvl="0" marL="0" marR="0" rtl="0" algn="l">
                        <a:lnSpc>
                          <a:spcPct val="100000"/>
                        </a:lnSpc>
                        <a:spcBef>
                          <a:spcPts val="0"/>
                        </a:spcBef>
                        <a:spcAft>
                          <a:spcPts val="0"/>
                        </a:spcAft>
                        <a:buClr>
                          <a:srgbClr val="FFFFFF"/>
                        </a:buClr>
                        <a:buSzPts val="1275"/>
                        <a:buFont typeface="Helvetica Neue"/>
                        <a:buNone/>
                      </a:pPr>
                      <a:r>
                        <a:rPr b="1" lang="en-US" sz="1275" u="none" cap="none" strike="noStrike">
                          <a:solidFill>
                            <a:srgbClr val="FFFFFF"/>
                          </a:solidFill>
                          <a:latin typeface="Helvetica Neue"/>
                          <a:ea typeface="Helvetica Neue"/>
                          <a:cs typeface="Helvetica Neue"/>
                          <a:sym typeface="Helvetica Neue"/>
                        </a:rPr>
                        <a:t>Output shape</a:t>
                      </a:r>
                      <a:endParaRPr sz="1400" u="none" cap="none" strike="noStrike"/>
                    </a:p>
                  </a:txBody>
                  <a:tcPr marT="76200" marB="76200" marR="95250" marL="95250" anchor="ctr">
                    <a:solidFill>
                      <a:srgbClr val="000000"/>
                    </a:solidFill>
                  </a:tcPr>
                </a:tc>
                <a:tc>
                  <a:txBody>
                    <a:bodyPr/>
                    <a:lstStyle/>
                    <a:p>
                      <a:pPr indent="0" lvl="0" marL="0" marR="0" rtl="0" algn="ctr">
                        <a:lnSpc>
                          <a:spcPct val="100000"/>
                        </a:lnSpc>
                        <a:spcBef>
                          <a:spcPts val="0"/>
                        </a:spcBef>
                        <a:spcAft>
                          <a:spcPts val="0"/>
                        </a:spcAft>
                        <a:buClr>
                          <a:srgbClr val="FFFFFF"/>
                        </a:buClr>
                        <a:buSzPts val="1275"/>
                        <a:buFont typeface="Helvetica Neue"/>
                        <a:buNone/>
                      </a:pPr>
                      <a:r>
                        <a:rPr b="1" lang="en-US" sz="1275" u="none" cap="none" strike="noStrike">
                          <a:solidFill>
                            <a:srgbClr val="FFFFFF"/>
                          </a:solidFill>
                          <a:latin typeface="Helvetica Neue"/>
                          <a:ea typeface="Helvetica Neue"/>
                          <a:cs typeface="Helvetica Neue"/>
                          <a:sym typeface="Helvetica Neue"/>
                        </a:rPr>
                        <a:t>Tiles</a:t>
                      </a:r>
                      <a:endParaRPr sz="1400" u="none" cap="none" strike="noStrike"/>
                    </a:p>
                  </a:txBody>
                  <a:tcPr marT="76200" marB="76200" marR="95250" marL="95250" anchor="ctr">
                    <a:solidFill>
                      <a:srgbClr val="000000"/>
                    </a:solidFill>
                  </a:tcPr>
                </a:tc>
              </a:tr>
              <a:tr h="533400">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Hidden forward</a:t>
                      </a:r>
                      <a:endParaRPr sz="1400" u="none" cap="none" strike="noStrike"/>
                    </a:p>
                  </a:txBody>
                  <a:tcPr marT="66675" marB="66675" marR="95250" marL="95250" anchor="ctr">
                    <a:solidFill>
                      <a:srgbClr val="FFFFFF"/>
                    </a:solidFill>
                  </a:tcPr>
                </a:tc>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64 × 1536</a:t>
                      </a:r>
                      <a:endParaRPr sz="1400" u="none" cap="none" strike="noStrike"/>
                    </a:p>
                  </a:txBody>
                  <a:tcPr marT="66675" marB="66675" marR="95250" marL="95250" anchor="ctr">
                    <a:solidFill>
                      <a:srgbClr val="FFFFFF"/>
                    </a:solidFill>
                  </a:tcPr>
                </a:tc>
                <a:tc>
                  <a:txBody>
                    <a:bodyPr/>
                    <a:lstStyle/>
                    <a:p>
                      <a:pPr indent="0" lvl="0" marL="0" marR="0" rtl="0" algn="ctr">
                        <a:lnSpc>
                          <a:spcPct val="100000"/>
                        </a:lnSpc>
                        <a:spcBef>
                          <a:spcPts val="0"/>
                        </a:spcBef>
                        <a:spcAft>
                          <a:spcPts val="0"/>
                        </a:spcAft>
                        <a:buClr>
                          <a:srgbClr val="3D8DFF"/>
                        </a:buClr>
                        <a:buSzPts val="1275"/>
                        <a:buFont typeface="Helvetica Neue"/>
                        <a:buNone/>
                      </a:pPr>
                      <a:r>
                        <a:rPr b="1" lang="en-US" sz="1275" u="none" cap="none" strike="noStrike">
                          <a:solidFill>
                            <a:srgbClr val="3D8DFF"/>
                          </a:solidFill>
                          <a:latin typeface="Helvetica Neue"/>
                          <a:ea typeface="Helvetica Neue"/>
                          <a:cs typeface="Helvetica Neue"/>
                          <a:sym typeface="Helvetica Neue"/>
                        </a:rPr>
                        <a:t>24</a:t>
                      </a:r>
                      <a:endParaRPr sz="1400" u="none" cap="none" strike="noStrike"/>
                    </a:p>
                  </a:txBody>
                  <a:tcPr marT="66675" marB="66675" marR="95250" marL="95250" anchor="ctr">
                    <a:solidFill>
                      <a:srgbClr val="EAF5FB"/>
                    </a:solidFill>
                  </a:tcPr>
                </a:tc>
              </a:tr>
              <a:tr h="533400">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Output forward</a:t>
                      </a:r>
                      <a:endParaRPr sz="1400" u="none" cap="none" strike="noStrike"/>
                    </a:p>
                  </a:txBody>
                  <a:tcPr marT="66675" marB="66675" marR="95250" marL="95250" anchor="ctr">
                    <a:solidFill>
                      <a:srgbClr val="F5F6F7"/>
                    </a:solidFill>
                  </a:tcPr>
                </a:tc>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64 × 10</a:t>
                      </a:r>
                      <a:endParaRPr sz="1400" u="none" cap="none" strike="noStrike"/>
                    </a:p>
                  </a:txBody>
                  <a:tcPr marT="66675" marB="66675" marR="95250" marL="95250" anchor="ctr">
                    <a:solidFill>
                      <a:srgbClr val="F5F6F7"/>
                    </a:solidFill>
                  </a:tcPr>
                </a:tc>
                <a:tc>
                  <a:txBody>
                    <a:bodyPr/>
                    <a:lstStyle/>
                    <a:p>
                      <a:pPr indent="0" lvl="0" marL="0" marR="0" rtl="0" algn="ctr">
                        <a:lnSpc>
                          <a:spcPct val="100000"/>
                        </a:lnSpc>
                        <a:spcBef>
                          <a:spcPts val="0"/>
                        </a:spcBef>
                        <a:spcAft>
                          <a:spcPts val="0"/>
                        </a:spcAft>
                        <a:buClr>
                          <a:srgbClr val="3D8DFF"/>
                        </a:buClr>
                        <a:buSzPts val="1275"/>
                        <a:buFont typeface="Helvetica Neue"/>
                        <a:buNone/>
                      </a:pPr>
                      <a:r>
                        <a:rPr b="1" lang="en-US" sz="1275" u="none" cap="none" strike="noStrike">
                          <a:solidFill>
                            <a:srgbClr val="3D8DFF"/>
                          </a:solidFill>
                          <a:latin typeface="Helvetica Neue"/>
                          <a:ea typeface="Helvetica Neue"/>
                          <a:cs typeface="Helvetica Neue"/>
                          <a:sym typeface="Helvetica Neue"/>
                        </a:rPr>
                        <a:t>1</a:t>
                      </a:r>
                      <a:endParaRPr sz="1400" u="none" cap="none" strike="noStrike"/>
                    </a:p>
                  </a:txBody>
                  <a:tcPr marT="66675" marB="66675" marR="95250" marL="95250" anchor="ctr">
                    <a:solidFill>
                      <a:srgbClr val="EAF5FB"/>
                    </a:solidFill>
                  </a:tcPr>
                </a:tc>
              </a:tr>
              <a:tr h="533400">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Hidden-delta calculation</a:t>
                      </a:r>
                      <a:endParaRPr sz="1400" u="none" cap="none" strike="noStrike"/>
                    </a:p>
                  </a:txBody>
                  <a:tcPr marT="66675" marB="66675" marR="95250" marL="95250" anchor="ctr">
                    <a:solidFill>
                      <a:srgbClr val="FFFFFF"/>
                    </a:solidFill>
                  </a:tcPr>
                </a:tc>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64 × 1536</a:t>
                      </a:r>
                      <a:endParaRPr sz="1400" u="none" cap="none" strike="noStrike"/>
                    </a:p>
                  </a:txBody>
                  <a:tcPr marT="66675" marB="66675" marR="95250" marL="95250" anchor="ctr">
                    <a:solidFill>
                      <a:srgbClr val="FFFFFF"/>
                    </a:solidFill>
                  </a:tcPr>
                </a:tc>
                <a:tc>
                  <a:txBody>
                    <a:bodyPr/>
                    <a:lstStyle/>
                    <a:p>
                      <a:pPr indent="0" lvl="0" marL="0" marR="0" rtl="0" algn="ctr">
                        <a:lnSpc>
                          <a:spcPct val="100000"/>
                        </a:lnSpc>
                        <a:spcBef>
                          <a:spcPts val="0"/>
                        </a:spcBef>
                        <a:spcAft>
                          <a:spcPts val="0"/>
                        </a:spcAft>
                        <a:buClr>
                          <a:srgbClr val="3D8DFF"/>
                        </a:buClr>
                        <a:buSzPts val="1275"/>
                        <a:buFont typeface="Helvetica Neue"/>
                        <a:buNone/>
                      </a:pPr>
                      <a:r>
                        <a:rPr b="1" lang="en-US" sz="1275" u="none" cap="none" strike="noStrike">
                          <a:solidFill>
                            <a:srgbClr val="3D8DFF"/>
                          </a:solidFill>
                          <a:latin typeface="Helvetica Neue"/>
                          <a:ea typeface="Helvetica Neue"/>
                          <a:cs typeface="Helvetica Neue"/>
                          <a:sym typeface="Helvetica Neue"/>
                        </a:rPr>
                        <a:t>24</a:t>
                      </a:r>
                      <a:endParaRPr sz="1400" u="none" cap="none" strike="noStrike"/>
                    </a:p>
                  </a:txBody>
                  <a:tcPr marT="66675" marB="66675" marR="95250" marL="95250" anchor="ctr">
                    <a:solidFill>
                      <a:srgbClr val="EAF5FB"/>
                    </a:solidFill>
                  </a:tcPr>
                </a:tc>
              </a:tr>
              <a:tr h="533400">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Output-weight gradient</a:t>
                      </a:r>
                      <a:endParaRPr sz="1400" u="none" cap="none" strike="noStrike"/>
                    </a:p>
                  </a:txBody>
                  <a:tcPr marT="66675" marB="66675" marR="95250" marL="95250" anchor="ctr">
                    <a:solidFill>
                      <a:srgbClr val="F5F6F7"/>
                    </a:solidFill>
                  </a:tcPr>
                </a:tc>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10 × 1536</a:t>
                      </a:r>
                      <a:endParaRPr sz="1400" u="none" cap="none" strike="noStrike"/>
                    </a:p>
                  </a:txBody>
                  <a:tcPr marT="66675" marB="66675" marR="95250" marL="95250" anchor="ctr">
                    <a:solidFill>
                      <a:srgbClr val="F5F6F7"/>
                    </a:solidFill>
                  </a:tcPr>
                </a:tc>
                <a:tc>
                  <a:txBody>
                    <a:bodyPr/>
                    <a:lstStyle/>
                    <a:p>
                      <a:pPr indent="0" lvl="0" marL="0" marR="0" rtl="0" algn="ctr">
                        <a:lnSpc>
                          <a:spcPct val="100000"/>
                        </a:lnSpc>
                        <a:spcBef>
                          <a:spcPts val="0"/>
                        </a:spcBef>
                        <a:spcAft>
                          <a:spcPts val="0"/>
                        </a:spcAft>
                        <a:buClr>
                          <a:srgbClr val="3D8DFF"/>
                        </a:buClr>
                        <a:buSzPts val="1275"/>
                        <a:buFont typeface="Helvetica Neue"/>
                        <a:buNone/>
                      </a:pPr>
                      <a:r>
                        <a:rPr b="1" lang="en-US" sz="1275" u="none" cap="none" strike="noStrike">
                          <a:solidFill>
                            <a:srgbClr val="3D8DFF"/>
                          </a:solidFill>
                          <a:latin typeface="Helvetica Neue"/>
                          <a:ea typeface="Helvetica Neue"/>
                          <a:cs typeface="Helvetica Neue"/>
                          <a:sym typeface="Helvetica Neue"/>
                        </a:rPr>
                        <a:t>24</a:t>
                      </a:r>
                      <a:endParaRPr sz="1400" u="none" cap="none" strike="noStrike"/>
                    </a:p>
                  </a:txBody>
                  <a:tcPr marT="66675" marB="66675" marR="95250" marL="95250" anchor="ctr">
                    <a:solidFill>
                      <a:srgbClr val="EAF5FB"/>
                    </a:solidFill>
                  </a:tcPr>
                </a:tc>
              </a:tr>
              <a:tr h="533400">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Hidden-weight gradient</a:t>
                      </a:r>
                      <a:endParaRPr sz="1400" u="none" cap="none" strike="noStrike"/>
                    </a:p>
                  </a:txBody>
                  <a:tcPr marT="66675" marB="66675" marR="95250" marL="95250" anchor="ctr">
                    <a:solidFill>
                      <a:srgbClr val="FFFFFF"/>
                    </a:solidFill>
                  </a:tcPr>
                </a:tc>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1536 × 1024</a:t>
                      </a:r>
                      <a:endParaRPr sz="1400" u="none" cap="none" strike="noStrike"/>
                    </a:p>
                  </a:txBody>
                  <a:tcPr marT="66675" marB="66675" marR="95250" marL="95250" anchor="ctr">
                    <a:solidFill>
                      <a:srgbClr val="FFFFFF"/>
                    </a:solidFill>
                  </a:tcPr>
                </a:tc>
                <a:tc>
                  <a:txBody>
                    <a:bodyPr/>
                    <a:lstStyle/>
                    <a:p>
                      <a:pPr indent="0" lvl="0" marL="0" marR="0" rtl="0" algn="ctr">
                        <a:lnSpc>
                          <a:spcPct val="100000"/>
                        </a:lnSpc>
                        <a:spcBef>
                          <a:spcPts val="0"/>
                        </a:spcBef>
                        <a:spcAft>
                          <a:spcPts val="0"/>
                        </a:spcAft>
                        <a:buClr>
                          <a:srgbClr val="3D8DFF"/>
                        </a:buClr>
                        <a:buSzPts val="1275"/>
                        <a:buFont typeface="Helvetica Neue"/>
                        <a:buNone/>
                      </a:pPr>
                      <a:r>
                        <a:rPr b="1" lang="en-US" sz="1275" u="none" cap="none" strike="noStrike">
                          <a:solidFill>
                            <a:srgbClr val="3D8DFF"/>
                          </a:solidFill>
                          <a:latin typeface="Helvetica Neue"/>
                          <a:ea typeface="Helvetica Neue"/>
                          <a:cs typeface="Helvetica Neue"/>
                          <a:sym typeface="Helvetica Neue"/>
                        </a:rPr>
                        <a:t>384</a:t>
                      </a:r>
                      <a:endParaRPr sz="1400" u="none" cap="none" strike="noStrike"/>
                    </a:p>
                  </a:txBody>
                  <a:tcPr marT="66675" marB="66675" marR="95250" marL="95250" anchor="ctr">
                    <a:solidFill>
                      <a:srgbClr val="EAF5FB"/>
                    </a:solidFill>
                  </a:tcPr>
                </a:tc>
              </a:tr>
            </a:tbl>
          </a:graphicData>
        </a:graphic>
      </p:graphicFrame>
      <p:sp>
        <p:nvSpPr>
          <p:cNvPr id="200" name="Google Shape;200;p12"/>
          <p:cNvSpPr/>
          <p:nvPr/>
        </p:nvSpPr>
        <p:spPr>
          <a:xfrm>
            <a:off x="6362700" y="1428750"/>
            <a:ext cx="5429250" cy="36195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950"/>
              <a:buFont typeface="Arial"/>
              <a:buNone/>
            </a:pPr>
            <a:r>
              <a:rPr b="1" i="0" lang="en-US" sz="1950" u="none" cap="none" strike="noStrike">
                <a:solidFill>
                  <a:srgbClr val="000000"/>
                </a:solidFill>
                <a:latin typeface="Helvetica Neue"/>
                <a:ea typeface="Helvetica Neue"/>
                <a:cs typeface="Helvetica Neue"/>
                <a:sym typeface="Helvetica Neue"/>
              </a:rPr>
              <a:t>Large-input workload</a:t>
            </a:r>
            <a:endParaRPr b="0" i="0" sz="1400" u="none" cap="none" strike="noStrike">
              <a:solidFill>
                <a:srgbClr val="000000"/>
              </a:solidFill>
              <a:latin typeface="Arial"/>
              <a:ea typeface="Arial"/>
              <a:cs typeface="Arial"/>
              <a:sym typeface="Arial"/>
            </a:endParaRPr>
          </a:p>
        </p:txBody>
      </p:sp>
      <p:sp>
        <p:nvSpPr>
          <p:cNvPr id="201" name="Google Shape;201;p12"/>
          <p:cNvSpPr/>
          <p:nvPr/>
        </p:nvSpPr>
        <p:spPr>
          <a:xfrm>
            <a:off x="6362700" y="1790700"/>
            <a:ext cx="5429250" cy="266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rPr b="0" i="0" lang="en-US" sz="1350" u="none" cap="none" strike="noStrike">
                <a:solidFill>
                  <a:srgbClr val="5B616B"/>
                </a:solidFill>
                <a:latin typeface="Helvetica Neue"/>
                <a:ea typeface="Helvetica Neue"/>
                <a:cs typeface="Helvetica Neue"/>
                <a:sym typeface="Helvetica Neue"/>
              </a:rPr>
              <a:t>178608 → 448 → 10</a:t>
            </a:r>
            <a:endParaRPr b="0" i="0" sz="1400" u="none" cap="none" strike="noStrike">
              <a:solidFill>
                <a:srgbClr val="000000"/>
              </a:solidFill>
              <a:latin typeface="Arial"/>
              <a:ea typeface="Arial"/>
              <a:cs typeface="Arial"/>
              <a:sym typeface="Arial"/>
            </a:endParaRPr>
          </a:p>
        </p:txBody>
      </p:sp>
      <p:graphicFrame>
        <p:nvGraphicFramePr>
          <p:cNvPr id="202" name="Google Shape;202;p12"/>
          <p:cNvGraphicFramePr/>
          <p:nvPr/>
        </p:nvGraphicFramePr>
        <p:xfrm>
          <a:off x="6362700" y="2209800"/>
          <a:ext cx="3000000" cy="3000000"/>
        </p:xfrm>
        <a:graphic>
          <a:graphicData uri="http://schemas.openxmlformats.org/drawingml/2006/table">
            <a:tbl>
              <a:tblPr>
                <a:noFill/>
                <a:tableStyleId>{D09011A5-49AC-419F-A634-65DB9785C07A}</a:tableStyleId>
              </a:tblPr>
              <a:tblGrid>
                <a:gridCol w="2571750"/>
                <a:gridCol w="1676400"/>
                <a:gridCol w="1181100"/>
              </a:tblGrid>
              <a:tr h="457200">
                <a:tc>
                  <a:txBody>
                    <a:bodyPr/>
                    <a:lstStyle/>
                    <a:p>
                      <a:pPr indent="0" lvl="0" marL="0" marR="0" rtl="0" algn="l">
                        <a:lnSpc>
                          <a:spcPct val="100000"/>
                        </a:lnSpc>
                        <a:spcBef>
                          <a:spcPts val="0"/>
                        </a:spcBef>
                        <a:spcAft>
                          <a:spcPts val="0"/>
                        </a:spcAft>
                        <a:buClr>
                          <a:srgbClr val="FFFFFF"/>
                        </a:buClr>
                        <a:buSzPts val="1275"/>
                        <a:buFont typeface="Helvetica Neue"/>
                        <a:buNone/>
                      </a:pPr>
                      <a:r>
                        <a:rPr b="1" lang="en-US" sz="1275" u="none" cap="none" strike="noStrike">
                          <a:solidFill>
                            <a:srgbClr val="FFFFFF"/>
                          </a:solidFill>
                          <a:latin typeface="Helvetica Neue"/>
                          <a:ea typeface="Helvetica Neue"/>
                          <a:cs typeface="Helvetica Neue"/>
                          <a:sym typeface="Helvetica Neue"/>
                        </a:rPr>
                        <a:t>Operation</a:t>
                      </a:r>
                      <a:endParaRPr sz="1400" u="none" cap="none" strike="noStrike"/>
                    </a:p>
                  </a:txBody>
                  <a:tcPr marT="76200" marB="76200" marR="95250" marL="95250" anchor="ctr">
                    <a:solidFill>
                      <a:srgbClr val="000000"/>
                    </a:solidFill>
                  </a:tcPr>
                </a:tc>
                <a:tc>
                  <a:txBody>
                    <a:bodyPr/>
                    <a:lstStyle/>
                    <a:p>
                      <a:pPr indent="0" lvl="0" marL="0" marR="0" rtl="0" algn="l">
                        <a:lnSpc>
                          <a:spcPct val="100000"/>
                        </a:lnSpc>
                        <a:spcBef>
                          <a:spcPts val="0"/>
                        </a:spcBef>
                        <a:spcAft>
                          <a:spcPts val="0"/>
                        </a:spcAft>
                        <a:buClr>
                          <a:srgbClr val="FFFFFF"/>
                        </a:buClr>
                        <a:buSzPts val="1275"/>
                        <a:buFont typeface="Helvetica Neue"/>
                        <a:buNone/>
                      </a:pPr>
                      <a:r>
                        <a:rPr b="1" lang="en-US" sz="1275" u="none" cap="none" strike="noStrike">
                          <a:solidFill>
                            <a:srgbClr val="FFFFFF"/>
                          </a:solidFill>
                          <a:latin typeface="Helvetica Neue"/>
                          <a:ea typeface="Helvetica Neue"/>
                          <a:cs typeface="Helvetica Neue"/>
                          <a:sym typeface="Helvetica Neue"/>
                        </a:rPr>
                        <a:t>Output shape</a:t>
                      </a:r>
                      <a:endParaRPr sz="1400" u="none" cap="none" strike="noStrike"/>
                    </a:p>
                  </a:txBody>
                  <a:tcPr marT="76200" marB="76200" marR="95250" marL="95250" anchor="ctr">
                    <a:solidFill>
                      <a:srgbClr val="000000"/>
                    </a:solidFill>
                  </a:tcPr>
                </a:tc>
                <a:tc>
                  <a:txBody>
                    <a:bodyPr/>
                    <a:lstStyle/>
                    <a:p>
                      <a:pPr indent="0" lvl="0" marL="0" marR="0" rtl="0" algn="ctr">
                        <a:lnSpc>
                          <a:spcPct val="100000"/>
                        </a:lnSpc>
                        <a:spcBef>
                          <a:spcPts val="0"/>
                        </a:spcBef>
                        <a:spcAft>
                          <a:spcPts val="0"/>
                        </a:spcAft>
                        <a:buClr>
                          <a:srgbClr val="FFFFFF"/>
                        </a:buClr>
                        <a:buSzPts val="1275"/>
                        <a:buFont typeface="Helvetica Neue"/>
                        <a:buNone/>
                      </a:pPr>
                      <a:r>
                        <a:rPr b="1" lang="en-US" sz="1275" u="none" cap="none" strike="noStrike">
                          <a:solidFill>
                            <a:srgbClr val="FFFFFF"/>
                          </a:solidFill>
                          <a:latin typeface="Helvetica Neue"/>
                          <a:ea typeface="Helvetica Neue"/>
                          <a:cs typeface="Helvetica Neue"/>
                          <a:sym typeface="Helvetica Neue"/>
                        </a:rPr>
                        <a:t>Tiles</a:t>
                      </a:r>
                      <a:endParaRPr sz="1400" u="none" cap="none" strike="noStrike"/>
                    </a:p>
                  </a:txBody>
                  <a:tcPr marT="76200" marB="76200" marR="95250" marL="95250" anchor="ctr">
                    <a:solidFill>
                      <a:srgbClr val="000000"/>
                    </a:solidFill>
                  </a:tcPr>
                </a:tc>
              </a:tr>
              <a:tr h="533400">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Hidden forward</a:t>
                      </a:r>
                      <a:endParaRPr sz="1400" u="none" cap="none" strike="noStrike"/>
                    </a:p>
                  </a:txBody>
                  <a:tcPr marT="66675" marB="66675" marR="95250" marL="95250" anchor="ctr">
                    <a:solidFill>
                      <a:srgbClr val="FFFFFF"/>
                    </a:solidFill>
                  </a:tcPr>
                </a:tc>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64 × 448</a:t>
                      </a:r>
                      <a:endParaRPr sz="1400" u="none" cap="none" strike="noStrike"/>
                    </a:p>
                  </a:txBody>
                  <a:tcPr marT="66675" marB="66675" marR="95250" marL="95250" anchor="ctr">
                    <a:solidFill>
                      <a:srgbClr val="FFFFFF"/>
                    </a:solidFill>
                  </a:tcPr>
                </a:tc>
                <a:tc>
                  <a:txBody>
                    <a:bodyPr/>
                    <a:lstStyle/>
                    <a:p>
                      <a:pPr indent="0" lvl="0" marL="0" marR="0" rtl="0" algn="ctr">
                        <a:lnSpc>
                          <a:spcPct val="100000"/>
                        </a:lnSpc>
                        <a:spcBef>
                          <a:spcPts val="0"/>
                        </a:spcBef>
                        <a:spcAft>
                          <a:spcPts val="0"/>
                        </a:spcAft>
                        <a:buClr>
                          <a:srgbClr val="3D8DFF"/>
                        </a:buClr>
                        <a:buSzPts val="1275"/>
                        <a:buFont typeface="Helvetica Neue"/>
                        <a:buNone/>
                      </a:pPr>
                      <a:r>
                        <a:rPr b="1" lang="en-US" sz="1275" u="none" cap="none" strike="noStrike">
                          <a:solidFill>
                            <a:srgbClr val="3D8DFF"/>
                          </a:solidFill>
                          <a:latin typeface="Helvetica Neue"/>
                          <a:ea typeface="Helvetica Neue"/>
                          <a:cs typeface="Helvetica Neue"/>
                          <a:sym typeface="Helvetica Neue"/>
                        </a:rPr>
                        <a:t>7</a:t>
                      </a:r>
                      <a:endParaRPr sz="1400" u="none" cap="none" strike="noStrike"/>
                    </a:p>
                  </a:txBody>
                  <a:tcPr marT="66675" marB="66675" marR="95250" marL="95250" anchor="ctr">
                    <a:solidFill>
                      <a:srgbClr val="EAF5FB"/>
                    </a:solidFill>
                  </a:tcPr>
                </a:tc>
              </a:tr>
              <a:tr h="533400">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Output forward</a:t>
                      </a:r>
                      <a:endParaRPr sz="1400" u="none" cap="none" strike="noStrike"/>
                    </a:p>
                  </a:txBody>
                  <a:tcPr marT="66675" marB="66675" marR="95250" marL="95250" anchor="ctr">
                    <a:solidFill>
                      <a:srgbClr val="F5F6F7"/>
                    </a:solidFill>
                  </a:tcPr>
                </a:tc>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64 × 10</a:t>
                      </a:r>
                      <a:endParaRPr sz="1400" u="none" cap="none" strike="noStrike"/>
                    </a:p>
                  </a:txBody>
                  <a:tcPr marT="66675" marB="66675" marR="95250" marL="95250" anchor="ctr">
                    <a:solidFill>
                      <a:srgbClr val="F5F6F7"/>
                    </a:solidFill>
                  </a:tcPr>
                </a:tc>
                <a:tc>
                  <a:txBody>
                    <a:bodyPr/>
                    <a:lstStyle/>
                    <a:p>
                      <a:pPr indent="0" lvl="0" marL="0" marR="0" rtl="0" algn="ctr">
                        <a:lnSpc>
                          <a:spcPct val="100000"/>
                        </a:lnSpc>
                        <a:spcBef>
                          <a:spcPts val="0"/>
                        </a:spcBef>
                        <a:spcAft>
                          <a:spcPts val="0"/>
                        </a:spcAft>
                        <a:buClr>
                          <a:srgbClr val="3D8DFF"/>
                        </a:buClr>
                        <a:buSzPts val="1275"/>
                        <a:buFont typeface="Helvetica Neue"/>
                        <a:buNone/>
                      </a:pPr>
                      <a:r>
                        <a:rPr b="1" lang="en-US" sz="1275" u="none" cap="none" strike="noStrike">
                          <a:solidFill>
                            <a:srgbClr val="3D8DFF"/>
                          </a:solidFill>
                          <a:latin typeface="Helvetica Neue"/>
                          <a:ea typeface="Helvetica Neue"/>
                          <a:cs typeface="Helvetica Neue"/>
                          <a:sym typeface="Helvetica Neue"/>
                        </a:rPr>
                        <a:t>1</a:t>
                      </a:r>
                      <a:endParaRPr sz="1400" u="none" cap="none" strike="noStrike"/>
                    </a:p>
                  </a:txBody>
                  <a:tcPr marT="66675" marB="66675" marR="95250" marL="95250" anchor="ctr">
                    <a:solidFill>
                      <a:srgbClr val="EAF5FB"/>
                    </a:solidFill>
                  </a:tcPr>
                </a:tc>
              </a:tr>
              <a:tr h="533400">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Hidden-delta calculation</a:t>
                      </a:r>
                      <a:endParaRPr sz="1400" u="none" cap="none" strike="noStrike"/>
                    </a:p>
                  </a:txBody>
                  <a:tcPr marT="66675" marB="66675" marR="95250" marL="95250" anchor="ctr">
                    <a:solidFill>
                      <a:srgbClr val="FFFFFF"/>
                    </a:solidFill>
                  </a:tcPr>
                </a:tc>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64 × 448</a:t>
                      </a:r>
                      <a:endParaRPr sz="1400" u="none" cap="none" strike="noStrike"/>
                    </a:p>
                  </a:txBody>
                  <a:tcPr marT="66675" marB="66675" marR="95250" marL="95250" anchor="ctr">
                    <a:solidFill>
                      <a:srgbClr val="FFFFFF"/>
                    </a:solidFill>
                  </a:tcPr>
                </a:tc>
                <a:tc>
                  <a:txBody>
                    <a:bodyPr/>
                    <a:lstStyle/>
                    <a:p>
                      <a:pPr indent="0" lvl="0" marL="0" marR="0" rtl="0" algn="ctr">
                        <a:lnSpc>
                          <a:spcPct val="100000"/>
                        </a:lnSpc>
                        <a:spcBef>
                          <a:spcPts val="0"/>
                        </a:spcBef>
                        <a:spcAft>
                          <a:spcPts val="0"/>
                        </a:spcAft>
                        <a:buClr>
                          <a:srgbClr val="3D8DFF"/>
                        </a:buClr>
                        <a:buSzPts val="1275"/>
                        <a:buFont typeface="Helvetica Neue"/>
                        <a:buNone/>
                      </a:pPr>
                      <a:r>
                        <a:rPr b="1" lang="en-US" sz="1275" u="none" cap="none" strike="noStrike">
                          <a:solidFill>
                            <a:srgbClr val="3D8DFF"/>
                          </a:solidFill>
                          <a:latin typeface="Helvetica Neue"/>
                          <a:ea typeface="Helvetica Neue"/>
                          <a:cs typeface="Helvetica Neue"/>
                          <a:sym typeface="Helvetica Neue"/>
                        </a:rPr>
                        <a:t>7</a:t>
                      </a:r>
                      <a:endParaRPr sz="1400" u="none" cap="none" strike="noStrike"/>
                    </a:p>
                  </a:txBody>
                  <a:tcPr marT="66675" marB="66675" marR="95250" marL="95250" anchor="ctr">
                    <a:solidFill>
                      <a:srgbClr val="EAF5FB"/>
                    </a:solidFill>
                  </a:tcPr>
                </a:tc>
              </a:tr>
              <a:tr h="533400">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Output-weight gradient</a:t>
                      </a:r>
                      <a:endParaRPr sz="1400" u="none" cap="none" strike="noStrike"/>
                    </a:p>
                  </a:txBody>
                  <a:tcPr marT="66675" marB="66675" marR="95250" marL="95250" anchor="ctr">
                    <a:solidFill>
                      <a:srgbClr val="F5F6F7"/>
                    </a:solidFill>
                  </a:tcPr>
                </a:tc>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10 × 448</a:t>
                      </a:r>
                      <a:endParaRPr sz="1400" u="none" cap="none" strike="noStrike"/>
                    </a:p>
                  </a:txBody>
                  <a:tcPr marT="66675" marB="66675" marR="95250" marL="95250" anchor="ctr">
                    <a:solidFill>
                      <a:srgbClr val="F5F6F7"/>
                    </a:solidFill>
                  </a:tcPr>
                </a:tc>
                <a:tc>
                  <a:txBody>
                    <a:bodyPr/>
                    <a:lstStyle/>
                    <a:p>
                      <a:pPr indent="0" lvl="0" marL="0" marR="0" rtl="0" algn="ctr">
                        <a:lnSpc>
                          <a:spcPct val="100000"/>
                        </a:lnSpc>
                        <a:spcBef>
                          <a:spcPts val="0"/>
                        </a:spcBef>
                        <a:spcAft>
                          <a:spcPts val="0"/>
                        </a:spcAft>
                        <a:buClr>
                          <a:srgbClr val="3D8DFF"/>
                        </a:buClr>
                        <a:buSzPts val="1275"/>
                        <a:buFont typeface="Helvetica Neue"/>
                        <a:buNone/>
                      </a:pPr>
                      <a:r>
                        <a:rPr b="1" lang="en-US" sz="1275" u="none" cap="none" strike="noStrike">
                          <a:solidFill>
                            <a:srgbClr val="3D8DFF"/>
                          </a:solidFill>
                          <a:latin typeface="Helvetica Neue"/>
                          <a:ea typeface="Helvetica Neue"/>
                          <a:cs typeface="Helvetica Neue"/>
                          <a:sym typeface="Helvetica Neue"/>
                        </a:rPr>
                        <a:t>7</a:t>
                      </a:r>
                      <a:endParaRPr sz="1400" u="none" cap="none" strike="noStrike"/>
                    </a:p>
                  </a:txBody>
                  <a:tcPr marT="66675" marB="66675" marR="95250" marL="95250" anchor="ctr">
                    <a:solidFill>
                      <a:srgbClr val="EAF5FB"/>
                    </a:solidFill>
                  </a:tcPr>
                </a:tc>
              </a:tr>
              <a:tr h="533400">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Hidden-weight gradient</a:t>
                      </a:r>
                      <a:endParaRPr sz="1400" u="none" cap="none" strike="noStrike"/>
                    </a:p>
                  </a:txBody>
                  <a:tcPr marT="66675" marB="66675" marR="95250" marL="95250" anchor="ctr">
                    <a:solidFill>
                      <a:srgbClr val="FFFFFF"/>
                    </a:solidFill>
                  </a:tcPr>
                </a:tc>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448 × 178608</a:t>
                      </a:r>
                      <a:endParaRPr sz="1400" u="none" cap="none" strike="noStrike"/>
                    </a:p>
                  </a:txBody>
                  <a:tcPr marT="66675" marB="66675" marR="95250" marL="95250" anchor="ctr">
                    <a:solidFill>
                      <a:srgbClr val="FFFFFF"/>
                    </a:solidFill>
                  </a:tcPr>
                </a:tc>
                <a:tc>
                  <a:txBody>
                    <a:bodyPr/>
                    <a:lstStyle/>
                    <a:p>
                      <a:pPr indent="0" lvl="0" marL="0" marR="0" rtl="0" algn="ctr">
                        <a:lnSpc>
                          <a:spcPct val="100000"/>
                        </a:lnSpc>
                        <a:spcBef>
                          <a:spcPts val="0"/>
                        </a:spcBef>
                        <a:spcAft>
                          <a:spcPts val="0"/>
                        </a:spcAft>
                        <a:buClr>
                          <a:srgbClr val="3D8DFF"/>
                        </a:buClr>
                        <a:buSzPts val="1275"/>
                        <a:buFont typeface="Helvetica Neue"/>
                        <a:buNone/>
                      </a:pPr>
                      <a:r>
                        <a:rPr b="1" lang="en-US" sz="1275" u="none" cap="none" strike="noStrike">
                          <a:solidFill>
                            <a:srgbClr val="3D8DFF"/>
                          </a:solidFill>
                          <a:latin typeface="Helvetica Neue"/>
                          <a:ea typeface="Helvetica Neue"/>
                          <a:cs typeface="Helvetica Neue"/>
                          <a:sym typeface="Helvetica Neue"/>
                        </a:rPr>
                        <a:t>19,537</a:t>
                      </a:r>
                      <a:endParaRPr sz="1400" u="none" cap="none" strike="noStrike"/>
                    </a:p>
                  </a:txBody>
                  <a:tcPr marT="66675" marB="66675" marR="95250" marL="95250" anchor="ctr">
                    <a:solidFill>
                      <a:srgbClr val="EAF5FB"/>
                    </a:solidFill>
                  </a:tcPr>
                </a:tc>
              </a:tr>
            </a:tbl>
          </a:graphicData>
        </a:graphic>
      </p:graphicFrame>
      <p:sp>
        <p:nvSpPr>
          <p:cNvPr id="203" name="Google Shape;203;p12"/>
          <p:cNvSpPr/>
          <p:nvPr/>
        </p:nvSpPr>
        <p:spPr>
          <a:xfrm>
            <a:off x="400050" y="5619750"/>
            <a:ext cx="11391900" cy="552450"/>
          </a:xfrm>
          <a:prstGeom prst="roundRect">
            <a:avLst>
              <a:gd fmla="val 10345" name="adj"/>
            </a:avLst>
          </a:prstGeom>
          <a:solidFill>
            <a:srgbClr val="EAF5FB"/>
          </a:solidFill>
          <a:ln cap="flat" cmpd="sng" w="9525">
            <a:solidFill>
              <a:srgbClr val="6DCBF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 name="Google Shape;204;p12"/>
          <p:cNvSpPr/>
          <p:nvPr/>
        </p:nvSpPr>
        <p:spPr>
          <a:xfrm>
            <a:off x="647700" y="5772150"/>
            <a:ext cx="10896600" cy="2667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425"/>
              <a:buFont typeface="Arial"/>
              <a:buNone/>
            </a:pPr>
            <a:r>
              <a:rPr b="1" i="0" lang="en-US" sz="1425" u="none" cap="none" strike="noStrike">
                <a:solidFill>
                  <a:srgbClr val="3D8DFF"/>
                </a:solidFill>
                <a:latin typeface="Helvetica Neue"/>
                <a:ea typeface="Helvetica Neue"/>
                <a:cs typeface="Helvetica Neue"/>
                <a:sym typeface="Helvetica Neue"/>
              </a:rPr>
              <a:t>The largest gradient operation exposes 384 tiles versus 19,537—enough extra parallel work to keep the larger team useful.</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9" name="Shape 209"/>
        <p:cNvGrpSpPr/>
        <p:nvPr/>
      </p:nvGrpSpPr>
      <p:grpSpPr>
        <a:xfrm>
          <a:off x="0" y="0"/>
          <a:ext cx="0" cy="0"/>
          <a:chOff x="0" y="0"/>
          <a:chExt cx="0" cy="0"/>
        </a:xfrm>
      </p:grpSpPr>
      <p:sp>
        <p:nvSpPr>
          <p:cNvPr id="210" name="Google Shape;210;p13"/>
          <p:cNvSpPr/>
          <p:nvPr/>
        </p:nvSpPr>
        <p:spPr>
          <a:xfrm>
            <a:off x="393668" y="344043"/>
            <a:ext cx="11404568" cy="800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3000"/>
              <a:buFont typeface="Arial"/>
              <a:buNone/>
            </a:pPr>
            <a:r>
              <a:rPr b="0" i="0" lang="en-US" sz="3000" u="none" cap="none" strike="noStrike">
                <a:solidFill>
                  <a:srgbClr val="000000"/>
                </a:solidFill>
                <a:latin typeface="Helvetica Neue"/>
                <a:ea typeface="Helvetica Neue"/>
                <a:cs typeface="Helvetica Neue"/>
                <a:sym typeface="Helvetica Neue"/>
              </a:rPr>
              <a:t>MPI reaches 20.55× while also changing the update schedule</a:t>
            </a:r>
            <a:endParaRPr b="0" i="0" sz="1400" u="none" cap="none" strike="noStrike">
              <a:solidFill>
                <a:srgbClr val="000000"/>
              </a:solidFill>
              <a:latin typeface="Arial"/>
              <a:ea typeface="Arial"/>
              <a:cs typeface="Arial"/>
              <a:sym typeface="Arial"/>
            </a:endParaRPr>
          </a:p>
        </p:txBody>
      </p:sp>
      <p:sp>
        <p:nvSpPr>
          <p:cNvPr id="211" name="Google Shape;211;p13"/>
          <p:cNvSpPr/>
          <p:nvPr/>
        </p:nvSpPr>
        <p:spPr>
          <a:xfrm>
            <a:off x="11279315" y="6279261"/>
            <a:ext cx="518922" cy="241268"/>
          </a:xfrm>
          <a:prstGeom prst="rect">
            <a:avLst/>
          </a:prstGeom>
          <a:noFill/>
          <a:ln>
            <a:noFill/>
          </a:ln>
        </p:spPr>
        <p:txBody>
          <a:bodyPr anchorCtr="0" anchor="b"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US" sz="1000" u="none" cap="none" strike="noStrike">
                <a:solidFill>
                  <a:srgbClr val="000000"/>
                </a:solidFill>
                <a:latin typeface="Helvetica Neue"/>
                <a:ea typeface="Helvetica Neue"/>
                <a:cs typeface="Helvetica Neue"/>
                <a:sym typeface="Helvetica Neue"/>
              </a:rPr>
              <a:t>10</a:t>
            </a:r>
            <a:endParaRPr b="0" i="0" sz="1400" u="none" cap="none" strike="noStrike">
              <a:solidFill>
                <a:srgbClr val="000000"/>
              </a:solidFill>
              <a:latin typeface="Arial"/>
              <a:ea typeface="Arial"/>
              <a:cs typeface="Arial"/>
              <a:sym typeface="Arial"/>
            </a:endParaRPr>
          </a:p>
        </p:txBody>
      </p:sp>
      <p:sp>
        <p:nvSpPr>
          <p:cNvPr id="212" name="Google Shape;212;p13"/>
          <p:cNvSpPr/>
          <p:nvPr/>
        </p:nvSpPr>
        <p:spPr>
          <a:xfrm>
            <a:off x="323850" y="1181100"/>
            <a:ext cx="8105775" cy="4914900"/>
          </a:xfrm>
          <a:prstGeom prst="roundRect">
            <a:avLst>
              <a:gd fmla="val 1550" name="adj"/>
            </a:avLst>
          </a:prstGeom>
          <a:solidFill>
            <a:srgbClr val="FFFFFF"/>
          </a:solidFill>
          <a:ln cap="flat" cmpd="sng" w="9525">
            <a:solidFill>
              <a:srgbClr val="B8BCC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3" name="Google Shape;213;p13"/>
          <p:cNvPicPr preferRelativeResize="0"/>
          <p:nvPr/>
        </p:nvPicPr>
        <p:blipFill rotWithShape="1">
          <a:blip r:embed="rId3">
            <a:alphaModFix/>
          </a:blip>
          <a:srcRect b="0" l="0" r="0" t="0"/>
          <a:stretch/>
        </p:blipFill>
        <p:spPr>
          <a:xfrm>
            <a:off x="400050" y="1930184"/>
            <a:ext cx="7953375" cy="3416732"/>
          </a:xfrm>
          <a:prstGeom prst="rect">
            <a:avLst/>
          </a:prstGeom>
          <a:noFill/>
          <a:ln>
            <a:noFill/>
          </a:ln>
        </p:spPr>
      </p:pic>
      <p:sp>
        <p:nvSpPr>
          <p:cNvPr id="214" name="Google Shape;214;p13"/>
          <p:cNvSpPr/>
          <p:nvPr/>
        </p:nvSpPr>
        <p:spPr>
          <a:xfrm>
            <a:off x="8715375" y="1295400"/>
            <a:ext cx="3076575" cy="1371600"/>
          </a:xfrm>
          <a:prstGeom prst="roundRect">
            <a:avLst>
              <a:gd fmla="val 5556"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5" name="Google Shape;215;p13"/>
          <p:cNvSpPr/>
          <p:nvPr/>
        </p:nvSpPr>
        <p:spPr>
          <a:xfrm>
            <a:off x="8943975" y="1466850"/>
            <a:ext cx="2619375" cy="59055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000000"/>
              </a:buClr>
              <a:buSzPts val="2850"/>
              <a:buFont typeface="Arial"/>
              <a:buNone/>
            </a:pPr>
            <a:r>
              <a:rPr b="1" i="0" lang="en-US" sz="2850" u="none" cap="none" strike="noStrike">
                <a:solidFill>
                  <a:srgbClr val="3D8DFF"/>
                </a:solidFill>
                <a:latin typeface="Helvetica Neue"/>
                <a:ea typeface="Helvetica Neue"/>
                <a:cs typeface="Helvetica Neue"/>
                <a:sym typeface="Helvetica Neue"/>
              </a:rPr>
              <a:t>20.55×</a:t>
            </a:r>
            <a:endParaRPr b="0" i="0" sz="1400" u="none" cap="none" strike="noStrike">
              <a:solidFill>
                <a:srgbClr val="000000"/>
              </a:solidFill>
              <a:latin typeface="Arial"/>
              <a:ea typeface="Arial"/>
              <a:cs typeface="Arial"/>
              <a:sym typeface="Arial"/>
            </a:endParaRPr>
          </a:p>
        </p:txBody>
      </p:sp>
      <p:sp>
        <p:nvSpPr>
          <p:cNvPr id="216" name="Google Shape;216;p13"/>
          <p:cNvSpPr/>
          <p:nvPr/>
        </p:nvSpPr>
        <p:spPr>
          <a:xfrm>
            <a:off x="8943975" y="2133600"/>
            <a:ext cx="2619375" cy="36195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75"/>
              <a:buFont typeface="Arial"/>
              <a:buNone/>
            </a:pPr>
            <a:r>
              <a:rPr b="0" i="0" lang="en-US" sz="1275" u="none" cap="none" strike="noStrike">
                <a:solidFill>
                  <a:srgbClr val="5B616B"/>
                </a:solidFill>
                <a:latin typeface="Helvetica Neue"/>
                <a:ea typeface="Helvetica Neue"/>
                <a:cs typeface="Helvetica Neue"/>
                <a:sym typeface="Helvetica Neue"/>
              </a:rPr>
              <a:t>MPI self-speedup at 64 ranks</a:t>
            </a:r>
            <a:endParaRPr b="0" i="0" sz="1400" u="none" cap="none" strike="noStrike">
              <a:solidFill>
                <a:srgbClr val="000000"/>
              </a:solidFill>
              <a:latin typeface="Arial"/>
              <a:ea typeface="Arial"/>
              <a:cs typeface="Arial"/>
              <a:sym typeface="Arial"/>
            </a:endParaRPr>
          </a:p>
        </p:txBody>
      </p:sp>
      <p:sp>
        <p:nvSpPr>
          <p:cNvPr id="217" name="Google Shape;217;p13"/>
          <p:cNvSpPr/>
          <p:nvPr/>
        </p:nvSpPr>
        <p:spPr>
          <a:xfrm>
            <a:off x="8715375" y="2847975"/>
            <a:ext cx="3076575" cy="1371600"/>
          </a:xfrm>
          <a:prstGeom prst="roundRect">
            <a:avLst>
              <a:gd fmla="val 5556"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8" name="Google Shape;218;p13"/>
          <p:cNvSpPr/>
          <p:nvPr/>
        </p:nvSpPr>
        <p:spPr>
          <a:xfrm>
            <a:off x="8943975" y="3019425"/>
            <a:ext cx="2619375" cy="59055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000000"/>
              </a:buClr>
              <a:buSzPts val="2700"/>
              <a:buFont typeface="Arial"/>
              <a:buNone/>
            </a:pPr>
            <a:r>
              <a:rPr b="1" i="0" lang="en-US" sz="2700" u="none" cap="none" strike="noStrike">
                <a:solidFill>
                  <a:srgbClr val="000000"/>
                </a:solidFill>
                <a:latin typeface="Helvetica Neue"/>
                <a:ea typeface="Helvetica Neue"/>
                <a:cs typeface="Helvetica Neue"/>
                <a:sym typeface="Helvetica Neue"/>
              </a:rPr>
              <a:t>79 → 2</a:t>
            </a:r>
            <a:endParaRPr b="0" i="0" sz="1400" u="none" cap="none" strike="noStrike">
              <a:solidFill>
                <a:srgbClr val="000000"/>
              </a:solidFill>
              <a:latin typeface="Arial"/>
              <a:ea typeface="Arial"/>
              <a:cs typeface="Arial"/>
              <a:sym typeface="Arial"/>
            </a:endParaRPr>
          </a:p>
        </p:txBody>
      </p:sp>
      <p:sp>
        <p:nvSpPr>
          <p:cNvPr id="219" name="Google Shape;219;p13"/>
          <p:cNvSpPr/>
          <p:nvPr/>
        </p:nvSpPr>
        <p:spPr>
          <a:xfrm>
            <a:off x="8943975" y="3686175"/>
            <a:ext cx="2619375" cy="36195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75"/>
              <a:buFont typeface="Arial"/>
              <a:buNone/>
            </a:pPr>
            <a:r>
              <a:rPr b="0" i="0" lang="en-US" sz="1275" u="none" cap="none" strike="noStrike">
                <a:solidFill>
                  <a:srgbClr val="5B616B"/>
                </a:solidFill>
                <a:latin typeface="Helvetica Neue"/>
                <a:ea typeface="Helvetica Neue"/>
                <a:cs typeface="Helvetica Neue"/>
                <a:sym typeface="Helvetica Neue"/>
              </a:rPr>
              <a:t>updates per epoch</a:t>
            </a:r>
            <a:endParaRPr b="0" i="0" sz="1400" u="none" cap="none" strike="noStrike">
              <a:solidFill>
                <a:srgbClr val="000000"/>
              </a:solidFill>
              <a:latin typeface="Arial"/>
              <a:ea typeface="Arial"/>
              <a:cs typeface="Arial"/>
              <a:sym typeface="Arial"/>
            </a:endParaRPr>
          </a:p>
        </p:txBody>
      </p:sp>
      <p:sp>
        <p:nvSpPr>
          <p:cNvPr id="220" name="Google Shape;220;p13"/>
          <p:cNvSpPr/>
          <p:nvPr/>
        </p:nvSpPr>
        <p:spPr>
          <a:xfrm>
            <a:off x="8715375" y="4400550"/>
            <a:ext cx="3076575" cy="1371600"/>
          </a:xfrm>
          <a:prstGeom prst="roundRect">
            <a:avLst>
              <a:gd fmla="val 5556" name="adj"/>
            </a:avLst>
          </a:prstGeom>
          <a:solidFill>
            <a:srgbClr val="EAF5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1" name="Google Shape;221;p13"/>
          <p:cNvSpPr/>
          <p:nvPr/>
        </p:nvSpPr>
        <p:spPr>
          <a:xfrm>
            <a:off x="8943975" y="4572000"/>
            <a:ext cx="2619375" cy="59055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000000"/>
              </a:buClr>
              <a:buSzPts val="2550"/>
              <a:buFont typeface="Arial"/>
              <a:buNone/>
            </a:pPr>
            <a:r>
              <a:rPr b="1" i="0" lang="en-US" sz="2550" u="none" cap="none" strike="noStrike">
                <a:solidFill>
                  <a:srgbClr val="000000"/>
                </a:solidFill>
                <a:latin typeface="Helvetica Neue"/>
                <a:ea typeface="Helvetica Neue"/>
                <a:cs typeface="Helvetica Neue"/>
                <a:sym typeface="Helvetica Neue"/>
              </a:rPr>
              <a:t>64 → 4096</a:t>
            </a:r>
            <a:endParaRPr b="0" i="0" sz="1400" u="none" cap="none" strike="noStrike">
              <a:solidFill>
                <a:srgbClr val="000000"/>
              </a:solidFill>
              <a:latin typeface="Arial"/>
              <a:ea typeface="Arial"/>
              <a:cs typeface="Arial"/>
              <a:sym typeface="Arial"/>
            </a:endParaRPr>
          </a:p>
        </p:txBody>
      </p:sp>
      <p:sp>
        <p:nvSpPr>
          <p:cNvPr id="222" name="Google Shape;222;p13"/>
          <p:cNvSpPr/>
          <p:nvPr/>
        </p:nvSpPr>
        <p:spPr>
          <a:xfrm>
            <a:off x="8943975" y="5238750"/>
            <a:ext cx="2619375" cy="36195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75"/>
              <a:buFont typeface="Arial"/>
              <a:buNone/>
            </a:pPr>
            <a:r>
              <a:rPr b="0" i="0" lang="en-US" sz="1275" u="none" cap="none" strike="noStrike">
                <a:solidFill>
                  <a:srgbClr val="5B616B"/>
                </a:solidFill>
                <a:latin typeface="Helvetica Neue"/>
                <a:ea typeface="Helvetica Neue"/>
                <a:cs typeface="Helvetica Neue"/>
                <a:sym typeface="Helvetica Neue"/>
              </a:rPr>
              <a:t>effective global batch</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7" name="Shape 227"/>
        <p:cNvGrpSpPr/>
        <p:nvPr/>
      </p:nvGrpSpPr>
      <p:grpSpPr>
        <a:xfrm>
          <a:off x="0" y="0"/>
          <a:ext cx="0" cy="0"/>
          <a:chOff x="0" y="0"/>
          <a:chExt cx="0" cy="0"/>
        </a:xfrm>
      </p:grpSpPr>
      <p:sp>
        <p:nvSpPr>
          <p:cNvPr id="228" name="Google Shape;228;p14"/>
          <p:cNvSpPr/>
          <p:nvPr/>
        </p:nvSpPr>
        <p:spPr>
          <a:xfrm>
            <a:off x="393668" y="344043"/>
            <a:ext cx="11404568" cy="800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3000"/>
              <a:buFont typeface="Arial"/>
              <a:buNone/>
            </a:pPr>
            <a:r>
              <a:rPr b="0" i="0" lang="en-US" sz="3000" u="none" cap="none" strike="noStrike">
                <a:solidFill>
                  <a:srgbClr val="000000"/>
                </a:solidFill>
                <a:latin typeface="Helvetica Neue"/>
                <a:ea typeface="Helvetica Neue"/>
                <a:cs typeface="Helvetica Neue"/>
                <a:sym typeface="Helvetica Neue"/>
              </a:rPr>
              <a:t>Weak scaling uses two different workload-growth rules</a:t>
            </a:r>
            <a:endParaRPr b="0" i="0" sz="1400" u="none" cap="none" strike="noStrike">
              <a:solidFill>
                <a:srgbClr val="000000"/>
              </a:solidFill>
              <a:latin typeface="Arial"/>
              <a:ea typeface="Arial"/>
              <a:cs typeface="Arial"/>
              <a:sym typeface="Arial"/>
            </a:endParaRPr>
          </a:p>
        </p:txBody>
      </p:sp>
      <p:sp>
        <p:nvSpPr>
          <p:cNvPr id="229" name="Google Shape;229;p14"/>
          <p:cNvSpPr/>
          <p:nvPr/>
        </p:nvSpPr>
        <p:spPr>
          <a:xfrm>
            <a:off x="11279315" y="6279261"/>
            <a:ext cx="518922" cy="241268"/>
          </a:xfrm>
          <a:prstGeom prst="rect">
            <a:avLst/>
          </a:prstGeom>
          <a:noFill/>
          <a:ln>
            <a:noFill/>
          </a:ln>
        </p:spPr>
        <p:txBody>
          <a:bodyPr anchorCtr="0" anchor="b"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US" sz="1000" u="none" cap="none" strike="noStrike">
                <a:solidFill>
                  <a:srgbClr val="000000"/>
                </a:solidFill>
                <a:latin typeface="Helvetica Neue"/>
                <a:ea typeface="Helvetica Neue"/>
                <a:cs typeface="Helvetica Neue"/>
                <a:sym typeface="Helvetica Neue"/>
              </a:rPr>
              <a:t>11</a:t>
            </a:r>
            <a:endParaRPr b="0" i="0" sz="1400" u="none" cap="none" strike="noStrike">
              <a:solidFill>
                <a:srgbClr val="000000"/>
              </a:solidFill>
              <a:latin typeface="Arial"/>
              <a:ea typeface="Arial"/>
              <a:cs typeface="Arial"/>
              <a:sym typeface="Arial"/>
            </a:endParaRPr>
          </a:p>
        </p:txBody>
      </p:sp>
      <p:sp>
        <p:nvSpPr>
          <p:cNvPr id="230" name="Google Shape;230;p14"/>
          <p:cNvSpPr/>
          <p:nvPr/>
        </p:nvSpPr>
        <p:spPr>
          <a:xfrm>
            <a:off x="400050" y="1266825"/>
            <a:ext cx="4095750" cy="40005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000000"/>
                </a:solidFill>
                <a:latin typeface="Helvetica Neue"/>
                <a:ea typeface="Helvetica Neue"/>
                <a:cs typeface="Helvetica Neue"/>
                <a:sym typeface="Helvetica Neue"/>
              </a:rPr>
              <a:t>OpenMP · wider model</a:t>
            </a:r>
            <a:endParaRPr b="0" i="0" sz="1400" u="none" cap="none" strike="noStrike">
              <a:solidFill>
                <a:srgbClr val="000000"/>
              </a:solidFill>
              <a:latin typeface="Arial"/>
              <a:ea typeface="Arial"/>
              <a:cs typeface="Arial"/>
              <a:sym typeface="Arial"/>
            </a:endParaRPr>
          </a:p>
        </p:txBody>
      </p:sp>
      <p:sp>
        <p:nvSpPr>
          <p:cNvPr id="231" name="Google Shape;231;p14"/>
          <p:cNvSpPr/>
          <p:nvPr/>
        </p:nvSpPr>
        <p:spPr>
          <a:xfrm>
            <a:off x="6362700" y="1266825"/>
            <a:ext cx="4095750" cy="40005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000000"/>
                </a:solidFill>
                <a:latin typeface="Helvetica Neue"/>
                <a:ea typeface="Helvetica Neue"/>
                <a:cs typeface="Helvetica Neue"/>
                <a:sym typeface="Helvetica Neue"/>
              </a:rPr>
              <a:t>MPI · larger dataset</a:t>
            </a:r>
            <a:endParaRPr b="0" i="0" sz="1400" u="none" cap="none" strike="noStrike">
              <a:solidFill>
                <a:srgbClr val="000000"/>
              </a:solidFill>
              <a:latin typeface="Arial"/>
              <a:ea typeface="Arial"/>
              <a:cs typeface="Arial"/>
              <a:sym typeface="Arial"/>
            </a:endParaRPr>
          </a:p>
        </p:txBody>
      </p:sp>
      <p:sp>
        <p:nvSpPr>
          <p:cNvPr id="232" name="Google Shape;232;p14"/>
          <p:cNvSpPr/>
          <p:nvPr/>
        </p:nvSpPr>
        <p:spPr>
          <a:xfrm>
            <a:off x="400050" y="1733550"/>
            <a:ext cx="10668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75"/>
              <a:buFont typeface="Arial"/>
              <a:buNone/>
            </a:pPr>
            <a:r>
              <a:rPr b="1" i="0" lang="en-US" sz="975" u="none" cap="none" strike="noStrike">
                <a:solidFill>
                  <a:srgbClr val="5B616B"/>
                </a:solidFill>
                <a:latin typeface="Helvetica Neue"/>
                <a:ea typeface="Helvetica Neue"/>
                <a:cs typeface="Helvetica Neue"/>
                <a:sym typeface="Helvetica Neue"/>
              </a:rPr>
              <a:t>Efficiency (%)</a:t>
            </a:r>
            <a:endParaRPr b="0" i="0" sz="1400" u="none" cap="none" strike="noStrike">
              <a:solidFill>
                <a:srgbClr val="000000"/>
              </a:solidFill>
              <a:latin typeface="Arial"/>
              <a:ea typeface="Arial"/>
              <a:cs typeface="Arial"/>
              <a:sym typeface="Arial"/>
            </a:endParaRPr>
          </a:p>
        </p:txBody>
      </p:sp>
      <p:cxnSp>
        <p:nvCxnSpPr>
          <p:cNvPr id="233" name="Google Shape;233;p14"/>
          <p:cNvCxnSpPr/>
          <p:nvPr/>
        </p:nvCxnSpPr>
        <p:spPr>
          <a:xfrm>
            <a:off x="990600" y="4495800"/>
            <a:ext cx="4686300" cy="0"/>
          </a:xfrm>
          <a:prstGeom prst="straightConnector1">
            <a:avLst/>
          </a:prstGeom>
          <a:noFill/>
          <a:ln cap="flat" cmpd="sng" w="9525">
            <a:solidFill>
              <a:srgbClr val="B8BCC4"/>
            </a:solidFill>
            <a:prstDash val="solid"/>
            <a:round/>
            <a:headEnd len="sm" w="sm" type="none"/>
            <a:tailEnd len="sm" w="sm" type="none"/>
          </a:ln>
        </p:spPr>
      </p:cxnSp>
      <p:sp>
        <p:nvSpPr>
          <p:cNvPr id="234" name="Google Shape;234;p14"/>
          <p:cNvSpPr/>
          <p:nvPr/>
        </p:nvSpPr>
        <p:spPr>
          <a:xfrm>
            <a:off x="495300" y="4400550"/>
            <a:ext cx="381000" cy="1905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0</a:t>
            </a:r>
            <a:endParaRPr b="0" i="0" sz="1400" u="none" cap="none" strike="noStrike">
              <a:solidFill>
                <a:srgbClr val="000000"/>
              </a:solidFill>
              <a:latin typeface="Arial"/>
              <a:ea typeface="Arial"/>
              <a:cs typeface="Arial"/>
              <a:sym typeface="Arial"/>
            </a:endParaRPr>
          </a:p>
        </p:txBody>
      </p:sp>
      <p:cxnSp>
        <p:nvCxnSpPr>
          <p:cNvPr id="235" name="Google Shape;235;p14"/>
          <p:cNvCxnSpPr/>
          <p:nvPr/>
        </p:nvCxnSpPr>
        <p:spPr>
          <a:xfrm>
            <a:off x="990600" y="3992880"/>
            <a:ext cx="4686300" cy="0"/>
          </a:xfrm>
          <a:prstGeom prst="straightConnector1">
            <a:avLst/>
          </a:prstGeom>
          <a:noFill/>
          <a:ln cap="flat" cmpd="sng" w="9525">
            <a:solidFill>
              <a:srgbClr val="E8E8E8"/>
            </a:solidFill>
            <a:prstDash val="solid"/>
            <a:round/>
            <a:headEnd len="sm" w="sm" type="none"/>
            <a:tailEnd len="sm" w="sm" type="none"/>
          </a:ln>
        </p:spPr>
      </p:cxnSp>
      <p:sp>
        <p:nvSpPr>
          <p:cNvPr id="236" name="Google Shape;236;p14"/>
          <p:cNvSpPr/>
          <p:nvPr/>
        </p:nvSpPr>
        <p:spPr>
          <a:xfrm>
            <a:off x="495300" y="3897630"/>
            <a:ext cx="381000" cy="1905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20</a:t>
            </a:r>
            <a:endParaRPr b="0" i="0" sz="1400" u="none" cap="none" strike="noStrike">
              <a:solidFill>
                <a:srgbClr val="000000"/>
              </a:solidFill>
              <a:latin typeface="Arial"/>
              <a:ea typeface="Arial"/>
              <a:cs typeface="Arial"/>
              <a:sym typeface="Arial"/>
            </a:endParaRPr>
          </a:p>
        </p:txBody>
      </p:sp>
      <p:cxnSp>
        <p:nvCxnSpPr>
          <p:cNvPr id="237" name="Google Shape;237;p14"/>
          <p:cNvCxnSpPr/>
          <p:nvPr/>
        </p:nvCxnSpPr>
        <p:spPr>
          <a:xfrm>
            <a:off x="990600" y="3489960"/>
            <a:ext cx="4686300" cy="0"/>
          </a:xfrm>
          <a:prstGeom prst="straightConnector1">
            <a:avLst/>
          </a:prstGeom>
          <a:noFill/>
          <a:ln cap="flat" cmpd="sng" w="9525">
            <a:solidFill>
              <a:srgbClr val="E8E8E8"/>
            </a:solidFill>
            <a:prstDash val="solid"/>
            <a:round/>
            <a:headEnd len="sm" w="sm" type="none"/>
            <a:tailEnd len="sm" w="sm" type="none"/>
          </a:ln>
        </p:spPr>
      </p:cxnSp>
      <p:sp>
        <p:nvSpPr>
          <p:cNvPr id="238" name="Google Shape;238;p14"/>
          <p:cNvSpPr/>
          <p:nvPr/>
        </p:nvSpPr>
        <p:spPr>
          <a:xfrm>
            <a:off x="495300" y="3394710"/>
            <a:ext cx="381000" cy="1905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40</a:t>
            </a:r>
            <a:endParaRPr b="0" i="0" sz="1400" u="none" cap="none" strike="noStrike">
              <a:solidFill>
                <a:srgbClr val="000000"/>
              </a:solidFill>
              <a:latin typeface="Arial"/>
              <a:ea typeface="Arial"/>
              <a:cs typeface="Arial"/>
              <a:sym typeface="Arial"/>
            </a:endParaRPr>
          </a:p>
        </p:txBody>
      </p:sp>
      <p:cxnSp>
        <p:nvCxnSpPr>
          <p:cNvPr id="239" name="Google Shape;239;p14"/>
          <p:cNvCxnSpPr/>
          <p:nvPr/>
        </p:nvCxnSpPr>
        <p:spPr>
          <a:xfrm>
            <a:off x="990600" y="2987040"/>
            <a:ext cx="4686300" cy="0"/>
          </a:xfrm>
          <a:prstGeom prst="straightConnector1">
            <a:avLst/>
          </a:prstGeom>
          <a:noFill/>
          <a:ln cap="flat" cmpd="sng" w="9525">
            <a:solidFill>
              <a:srgbClr val="E8E8E8"/>
            </a:solidFill>
            <a:prstDash val="solid"/>
            <a:round/>
            <a:headEnd len="sm" w="sm" type="none"/>
            <a:tailEnd len="sm" w="sm" type="none"/>
          </a:ln>
        </p:spPr>
      </p:cxnSp>
      <p:sp>
        <p:nvSpPr>
          <p:cNvPr id="240" name="Google Shape;240;p14"/>
          <p:cNvSpPr/>
          <p:nvPr/>
        </p:nvSpPr>
        <p:spPr>
          <a:xfrm>
            <a:off x="495300" y="2891790"/>
            <a:ext cx="381000" cy="1905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60</a:t>
            </a:r>
            <a:endParaRPr b="0" i="0" sz="1400" u="none" cap="none" strike="noStrike">
              <a:solidFill>
                <a:srgbClr val="000000"/>
              </a:solidFill>
              <a:latin typeface="Arial"/>
              <a:ea typeface="Arial"/>
              <a:cs typeface="Arial"/>
              <a:sym typeface="Arial"/>
            </a:endParaRPr>
          </a:p>
        </p:txBody>
      </p:sp>
      <p:cxnSp>
        <p:nvCxnSpPr>
          <p:cNvPr id="241" name="Google Shape;241;p14"/>
          <p:cNvCxnSpPr/>
          <p:nvPr/>
        </p:nvCxnSpPr>
        <p:spPr>
          <a:xfrm>
            <a:off x="990600" y="2484120"/>
            <a:ext cx="4686300" cy="0"/>
          </a:xfrm>
          <a:prstGeom prst="straightConnector1">
            <a:avLst/>
          </a:prstGeom>
          <a:noFill/>
          <a:ln cap="flat" cmpd="sng" w="9525">
            <a:solidFill>
              <a:srgbClr val="E8E8E8"/>
            </a:solidFill>
            <a:prstDash val="solid"/>
            <a:round/>
            <a:headEnd len="sm" w="sm" type="none"/>
            <a:tailEnd len="sm" w="sm" type="none"/>
          </a:ln>
        </p:spPr>
      </p:cxnSp>
      <p:sp>
        <p:nvSpPr>
          <p:cNvPr id="242" name="Google Shape;242;p14"/>
          <p:cNvSpPr/>
          <p:nvPr/>
        </p:nvSpPr>
        <p:spPr>
          <a:xfrm>
            <a:off x="495300" y="2388870"/>
            <a:ext cx="381000" cy="1905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80</a:t>
            </a:r>
            <a:endParaRPr b="0" i="0" sz="1400" u="none" cap="none" strike="noStrike">
              <a:solidFill>
                <a:srgbClr val="000000"/>
              </a:solidFill>
              <a:latin typeface="Arial"/>
              <a:ea typeface="Arial"/>
              <a:cs typeface="Arial"/>
              <a:sym typeface="Arial"/>
            </a:endParaRPr>
          </a:p>
        </p:txBody>
      </p:sp>
      <p:cxnSp>
        <p:nvCxnSpPr>
          <p:cNvPr id="243" name="Google Shape;243;p14"/>
          <p:cNvCxnSpPr/>
          <p:nvPr/>
        </p:nvCxnSpPr>
        <p:spPr>
          <a:xfrm>
            <a:off x="990600" y="1981200"/>
            <a:ext cx="4686300" cy="0"/>
          </a:xfrm>
          <a:prstGeom prst="straightConnector1">
            <a:avLst/>
          </a:prstGeom>
          <a:noFill/>
          <a:ln cap="flat" cmpd="sng" w="9525">
            <a:solidFill>
              <a:srgbClr val="E8E8E8"/>
            </a:solidFill>
            <a:prstDash val="solid"/>
            <a:round/>
            <a:headEnd len="sm" w="sm" type="none"/>
            <a:tailEnd len="sm" w="sm" type="none"/>
          </a:ln>
        </p:spPr>
      </p:cxnSp>
      <p:sp>
        <p:nvSpPr>
          <p:cNvPr id="244" name="Google Shape;244;p14"/>
          <p:cNvSpPr/>
          <p:nvPr/>
        </p:nvSpPr>
        <p:spPr>
          <a:xfrm>
            <a:off x="495300" y="1885950"/>
            <a:ext cx="381000" cy="1905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100</a:t>
            </a:r>
            <a:endParaRPr b="0" i="0" sz="1400" u="none" cap="none" strike="noStrike">
              <a:solidFill>
                <a:srgbClr val="000000"/>
              </a:solidFill>
              <a:latin typeface="Arial"/>
              <a:ea typeface="Arial"/>
              <a:cs typeface="Arial"/>
              <a:sym typeface="Arial"/>
            </a:endParaRPr>
          </a:p>
        </p:txBody>
      </p:sp>
      <p:sp>
        <p:nvSpPr>
          <p:cNvPr id="245" name="Google Shape;245;p14"/>
          <p:cNvSpPr/>
          <p:nvPr/>
        </p:nvSpPr>
        <p:spPr>
          <a:xfrm>
            <a:off x="990600" y="1981200"/>
            <a:ext cx="4686300" cy="2514600"/>
          </a:xfrm>
          <a:custGeom>
            <a:rect b="b" l="l" r="r" t="t"/>
            <a:pathLst>
              <a:path extrusionOk="0" h="2514600" w="4686300">
                <a:moveTo>
                  <a:pt x="0" y="0"/>
                </a:moveTo>
                <a:lnTo>
                  <a:pt x="781050" y="1459977"/>
                </a:lnTo>
                <a:lnTo>
                  <a:pt x="1562100" y="748093"/>
                </a:lnTo>
                <a:lnTo>
                  <a:pt x="2343150" y="924618"/>
                </a:lnTo>
                <a:lnTo>
                  <a:pt x="3124200" y="1216815"/>
                </a:lnTo>
                <a:lnTo>
                  <a:pt x="3905250" y="1503228"/>
                </a:lnTo>
                <a:lnTo>
                  <a:pt x="4686300" y="2084100"/>
                </a:lnTo>
              </a:path>
            </a:pathLst>
          </a:custGeom>
          <a:noFill/>
          <a:ln cap="flat" cmpd="sng" w="28575">
            <a:solidFill>
              <a:srgbClr val="3D8DFF"/>
            </a:solidFill>
            <a:prstDash val="solid"/>
            <a:round/>
            <a:headEnd len="sm" w="sm" type="none"/>
            <a:tailEnd len="sm" w="sm" type="none"/>
          </a:ln>
        </p:spPr>
      </p:sp>
      <p:sp>
        <p:nvSpPr>
          <p:cNvPr id="246" name="Google Shape;246;p14"/>
          <p:cNvSpPr/>
          <p:nvPr/>
        </p:nvSpPr>
        <p:spPr>
          <a:xfrm>
            <a:off x="942975" y="1933575"/>
            <a:ext cx="95250" cy="95250"/>
          </a:xfrm>
          <a:prstGeom prst="ellipse">
            <a:avLst/>
          </a:prstGeom>
          <a:solidFill>
            <a:srgbClr val="3D8DFF"/>
          </a:solidFill>
          <a:ln cap="flat" cmpd="sng" w="9525">
            <a:solidFill>
              <a:srgbClr val="3D8D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7" name="Google Shape;247;p14"/>
          <p:cNvSpPr/>
          <p:nvPr/>
        </p:nvSpPr>
        <p:spPr>
          <a:xfrm>
            <a:off x="819150" y="4591050"/>
            <a:ext cx="342900" cy="190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1</a:t>
            </a:r>
            <a:endParaRPr b="0" i="0" sz="1400" u="none" cap="none" strike="noStrike">
              <a:solidFill>
                <a:srgbClr val="000000"/>
              </a:solidFill>
              <a:latin typeface="Arial"/>
              <a:ea typeface="Arial"/>
              <a:cs typeface="Arial"/>
              <a:sym typeface="Arial"/>
            </a:endParaRPr>
          </a:p>
        </p:txBody>
      </p:sp>
      <p:sp>
        <p:nvSpPr>
          <p:cNvPr id="248" name="Google Shape;248;p14"/>
          <p:cNvSpPr/>
          <p:nvPr/>
        </p:nvSpPr>
        <p:spPr>
          <a:xfrm>
            <a:off x="1724025" y="3393552"/>
            <a:ext cx="95250" cy="95250"/>
          </a:xfrm>
          <a:prstGeom prst="ellipse">
            <a:avLst/>
          </a:prstGeom>
          <a:solidFill>
            <a:srgbClr val="3D8DFF"/>
          </a:solidFill>
          <a:ln cap="flat" cmpd="sng" w="9525">
            <a:solidFill>
              <a:srgbClr val="3D8D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9" name="Google Shape;249;p14"/>
          <p:cNvSpPr/>
          <p:nvPr/>
        </p:nvSpPr>
        <p:spPr>
          <a:xfrm>
            <a:off x="1600200" y="4591050"/>
            <a:ext cx="342900" cy="190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2</a:t>
            </a:r>
            <a:endParaRPr b="0" i="0" sz="1400" u="none" cap="none" strike="noStrike">
              <a:solidFill>
                <a:srgbClr val="000000"/>
              </a:solidFill>
              <a:latin typeface="Arial"/>
              <a:ea typeface="Arial"/>
              <a:cs typeface="Arial"/>
              <a:sym typeface="Arial"/>
            </a:endParaRPr>
          </a:p>
        </p:txBody>
      </p:sp>
      <p:sp>
        <p:nvSpPr>
          <p:cNvPr id="250" name="Google Shape;250;p14"/>
          <p:cNvSpPr/>
          <p:nvPr/>
        </p:nvSpPr>
        <p:spPr>
          <a:xfrm>
            <a:off x="2505075" y="2681668"/>
            <a:ext cx="95250" cy="95250"/>
          </a:xfrm>
          <a:prstGeom prst="ellipse">
            <a:avLst/>
          </a:prstGeom>
          <a:solidFill>
            <a:srgbClr val="3D8DFF"/>
          </a:solidFill>
          <a:ln cap="flat" cmpd="sng" w="9525">
            <a:solidFill>
              <a:srgbClr val="3D8D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1" name="Google Shape;251;p14"/>
          <p:cNvSpPr/>
          <p:nvPr/>
        </p:nvSpPr>
        <p:spPr>
          <a:xfrm>
            <a:off x="2381250" y="4591050"/>
            <a:ext cx="342900" cy="190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4</a:t>
            </a:r>
            <a:endParaRPr b="0" i="0" sz="1400" u="none" cap="none" strike="noStrike">
              <a:solidFill>
                <a:srgbClr val="000000"/>
              </a:solidFill>
              <a:latin typeface="Arial"/>
              <a:ea typeface="Arial"/>
              <a:cs typeface="Arial"/>
              <a:sym typeface="Arial"/>
            </a:endParaRPr>
          </a:p>
        </p:txBody>
      </p:sp>
      <p:sp>
        <p:nvSpPr>
          <p:cNvPr id="252" name="Google Shape;252;p14"/>
          <p:cNvSpPr/>
          <p:nvPr/>
        </p:nvSpPr>
        <p:spPr>
          <a:xfrm>
            <a:off x="3286125" y="2858193"/>
            <a:ext cx="95250" cy="95250"/>
          </a:xfrm>
          <a:prstGeom prst="ellipse">
            <a:avLst/>
          </a:prstGeom>
          <a:solidFill>
            <a:srgbClr val="3D8DFF"/>
          </a:solidFill>
          <a:ln cap="flat" cmpd="sng" w="9525">
            <a:solidFill>
              <a:srgbClr val="3D8D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 name="Google Shape;253;p14"/>
          <p:cNvSpPr/>
          <p:nvPr/>
        </p:nvSpPr>
        <p:spPr>
          <a:xfrm>
            <a:off x="3162300" y="4591050"/>
            <a:ext cx="342900" cy="190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8</a:t>
            </a:r>
            <a:endParaRPr b="0" i="0" sz="1400" u="none" cap="none" strike="noStrike">
              <a:solidFill>
                <a:srgbClr val="000000"/>
              </a:solidFill>
              <a:latin typeface="Arial"/>
              <a:ea typeface="Arial"/>
              <a:cs typeface="Arial"/>
              <a:sym typeface="Arial"/>
            </a:endParaRPr>
          </a:p>
        </p:txBody>
      </p:sp>
      <p:sp>
        <p:nvSpPr>
          <p:cNvPr id="254" name="Google Shape;254;p14"/>
          <p:cNvSpPr/>
          <p:nvPr/>
        </p:nvSpPr>
        <p:spPr>
          <a:xfrm>
            <a:off x="4067175" y="3150390"/>
            <a:ext cx="95250" cy="95250"/>
          </a:xfrm>
          <a:prstGeom prst="ellipse">
            <a:avLst/>
          </a:prstGeom>
          <a:solidFill>
            <a:srgbClr val="3D8DFF"/>
          </a:solidFill>
          <a:ln cap="flat" cmpd="sng" w="9525">
            <a:solidFill>
              <a:srgbClr val="3D8D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14"/>
          <p:cNvSpPr/>
          <p:nvPr/>
        </p:nvSpPr>
        <p:spPr>
          <a:xfrm>
            <a:off x="3943350" y="4591050"/>
            <a:ext cx="342900" cy="190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16</a:t>
            </a:r>
            <a:endParaRPr b="0" i="0" sz="1400" u="none" cap="none" strike="noStrike">
              <a:solidFill>
                <a:srgbClr val="000000"/>
              </a:solidFill>
              <a:latin typeface="Arial"/>
              <a:ea typeface="Arial"/>
              <a:cs typeface="Arial"/>
              <a:sym typeface="Arial"/>
            </a:endParaRPr>
          </a:p>
        </p:txBody>
      </p:sp>
      <p:sp>
        <p:nvSpPr>
          <p:cNvPr id="256" name="Google Shape;256;p14"/>
          <p:cNvSpPr/>
          <p:nvPr/>
        </p:nvSpPr>
        <p:spPr>
          <a:xfrm>
            <a:off x="4848225" y="3436803"/>
            <a:ext cx="95250" cy="95250"/>
          </a:xfrm>
          <a:prstGeom prst="ellipse">
            <a:avLst/>
          </a:prstGeom>
          <a:solidFill>
            <a:srgbClr val="3D8DFF"/>
          </a:solidFill>
          <a:ln cap="flat" cmpd="sng" w="9525">
            <a:solidFill>
              <a:srgbClr val="3D8D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 name="Google Shape;257;p14"/>
          <p:cNvSpPr/>
          <p:nvPr/>
        </p:nvSpPr>
        <p:spPr>
          <a:xfrm>
            <a:off x="4724400" y="4591050"/>
            <a:ext cx="342900" cy="190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32</a:t>
            </a:r>
            <a:endParaRPr b="0" i="0" sz="1400" u="none" cap="none" strike="noStrike">
              <a:solidFill>
                <a:srgbClr val="000000"/>
              </a:solidFill>
              <a:latin typeface="Arial"/>
              <a:ea typeface="Arial"/>
              <a:cs typeface="Arial"/>
              <a:sym typeface="Arial"/>
            </a:endParaRPr>
          </a:p>
        </p:txBody>
      </p:sp>
      <p:sp>
        <p:nvSpPr>
          <p:cNvPr id="258" name="Google Shape;258;p14"/>
          <p:cNvSpPr/>
          <p:nvPr/>
        </p:nvSpPr>
        <p:spPr>
          <a:xfrm>
            <a:off x="5629275" y="4017675"/>
            <a:ext cx="95250" cy="95250"/>
          </a:xfrm>
          <a:prstGeom prst="ellipse">
            <a:avLst/>
          </a:prstGeom>
          <a:solidFill>
            <a:srgbClr val="3D8DFF"/>
          </a:solidFill>
          <a:ln cap="flat" cmpd="sng" w="9525">
            <a:solidFill>
              <a:srgbClr val="3D8D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 name="Google Shape;259;p14"/>
          <p:cNvSpPr/>
          <p:nvPr/>
        </p:nvSpPr>
        <p:spPr>
          <a:xfrm>
            <a:off x="5505450" y="4591050"/>
            <a:ext cx="342900" cy="190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64</a:t>
            </a:r>
            <a:endParaRPr b="0" i="0" sz="1400" u="none" cap="none" strike="noStrike">
              <a:solidFill>
                <a:srgbClr val="000000"/>
              </a:solidFill>
              <a:latin typeface="Arial"/>
              <a:ea typeface="Arial"/>
              <a:cs typeface="Arial"/>
              <a:sym typeface="Arial"/>
            </a:endParaRPr>
          </a:p>
        </p:txBody>
      </p:sp>
      <p:sp>
        <p:nvSpPr>
          <p:cNvPr id="260" name="Google Shape;260;p14"/>
          <p:cNvSpPr/>
          <p:nvPr/>
        </p:nvSpPr>
        <p:spPr>
          <a:xfrm>
            <a:off x="2809875" y="4857750"/>
            <a:ext cx="1047750" cy="20955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975"/>
              <a:buFont typeface="Arial"/>
              <a:buNone/>
            </a:pPr>
            <a:r>
              <a:rPr b="1" i="0" lang="en-US" sz="975" u="none" cap="none" strike="noStrike">
                <a:solidFill>
                  <a:srgbClr val="000000"/>
                </a:solidFill>
                <a:latin typeface="Helvetica Neue"/>
                <a:ea typeface="Helvetica Neue"/>
                <a:cs typeface="Helvetica Neue"/>
                <a:sym typeface="Helvetica Neue"/>
              </a:rPr>
              <a:t>Workers</a:t>
            </a:r>
            <a:endParaRPr b="0" i="0" sz="1400" u="none" cap="none" strike="noStrike">
              <a:solidFill>
                <a:srgbClr val="000000"/>
              </a:solidFill>
              <a:latin typeface="Arial"/>
              <a:ea typeface="Arial"/>
              <a:cs typeface="Arial"/>
              <a:sym typeface="Arial"/>
            </a:endParaRPr>
          </a:p>
        </p:txBody>
      </p:sp>
      <p:sp>
        <p:nvSpPr>
          <p:cNvPr id="261" name="Google Shape;261;p14"/>
          <p:cNvSpPr/>
          <p:nvPr/>
        </p:nvSpPr>
        <p:spPr>
          <a:xfrm>
            <a:off x="6362700" y="1733550"/>
            <a:ext cx="10668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75"/>
              <a:buFont typeface="Arial"/>
              <a:buNone/>
            </a:pPr>
            <a:r>
              <a:rPr b="1" i="0" lang="en-US" sz="975" u="none" cap="none" strike="noStrike">
                <a:solidFill>
                  <a:srgbClr val="5B616B"/>
                </a:solidFill>
                <a:latin typeface="Helvetica Neue"/>
                <a:ea typeface="Helvetica Neue"/>
                <a:cs typeface="Helvetica Neue"/>
                <a:sym typeface="Helvetica Neue"/>
              </a:rPr>
              <a:t>Efficiency (%)</a:t>
            </a:r>
            <a:endParaRPr b="0" i="0" sz="1400" u="none" cap="none" strike="noStrike">
              <a:solidFill>
                <a:srgbClr val="000000"/>
              </a:solidFill>
              <a:latin typeface="Arial"/>
              <a:ea typeface="Arial"/>
              <a:cs typeface="Arial"/>
              <a:sym typeface="Arial"/>
            </a:endParaRPr>
          </a:p>
        </p:txBody>
      </p:sp>
      <p:cxnSp>
        <p:nvCxnSpPr>
          <p:cNvPr id="262" name="Google Shape;262;p14"/>
          <p:cNvCxnSpPr/>
          <p:nvPr/>
        </p:nvCxnSpPr>
        <p:spPr>
          <a:xfrm>
            <a:off x="6953250" y="4495800"/>
            <a:ext cx="4686300" cy="0"/>
          </a:xfrm>
          <a:prstGeom prst="straightConnector1">
            <a:avLst/>
          </a:prstGeom>
          <a:noFill/>
          <a:ln cap="flat" cmpd="sng" w="9525">
            <a:solidFill>
              <a:srgbClr val="B8BCC4"/>
            </a:solidFill>
            <a:prstDash val="solid"/>
            <a:round/>
            <a:headEnd len="sm" w="sm" type="none"/>
            <a:tailEnd len="sm" w="sm" type="none"/>
          </a:ln>
        </p:spPr>
      </p:cxnSp>
      <p:sp>
        <p:nvSpPr>
          <p:cNvPr id="263" name="Google Shape;263;p14"/>
          <p:cNvSpPr/>
          <p:nvPr/>
        </p:nvSpPr>
        <p:spPr>
          <a:xfrm>
            <a:off x="6457950" y="4400550"/>
            <a:ext cx="381000" cy="1905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0</a:t>
            </a:r>
            <a:endParaRPr b="0" i="0" sz="1400" u="none" cap="none" strike="noStrike">
              <a:solidFill>
                <a:srgbClr val="000000"/>
              </a:solidFill>
              <a:latin typeface="Arial"/>
              <a:ea typeface="Arial"/>
              <a:cs typeface="Arial"/>
              <a:sym typeface="Arial"/>
            </a:endParaRPr>
          </a:p>
        </p:txBody>
      </p:sp>
      <p:cxnSp>
        <p:nvCxnSpPr>
          <p:cNvPr id="264" name="Google Shape;264;p14"/>
          <p:cNvCxnSpPr/>
          <p:nvPr/>
        </p:nvCxnSpPr>
        <p:spPr>
          <a:xfrm>
            <a:off x="6953250" y="3992880"/>
            <a:ext cx="4686300" cy="0"/>
          </a:xfrm>
          <a:prstGeom prst="straightConnector1">
            <a:avLst/>
          </a:prstGeom>
          <a:noFill/>
          <a:ln cap="flat" cmpd="sng" w="9525">
            <a:solidFill>
              <a:srgbClr val="E8E8E8"/>
            </a:solidFill>
            <a:prstDash val="solid"/>
            <a:round/>
            <a:headEnd len="sm" w="sm" type="none"/>
            <a:tailEnd len="sm" w="sm" type="none"/>
          </a:ln>
        </p:spPr>
      </p:cxnSp>
      <p:sp>
        <p:nvSpPr>
          <p:cNvPr id="265" name="Google Shape;265;p14"/>
          <p:cNvSpPr/>
          <p:nvPr/>
        </p:nvSpPr>
        <p:spPr>
          <a:xfrm>
            <a:off x="6457950" y="3897630"/>
            <a:ext cx="381000" cy="1905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20</a:t>
            </a:r>
            <a:endParaRPr b="0" i="0" sz="1400" u="none" cap="none" strike="noStrike">
              <a:solidFill>
                <a:srgbClr val="000000"/>
              </a:solidFill>
              <a:latin typeface="Arial"/>
              <a:ea typeface="Arial"/>
              <a:cs typeface="Arial"/>
              <a:sym typeface="Arial"/>
            </a:endParaRPr>
          </a:p>
        </p:txBody>
      </p:sp>
      <p:cxnSp>
        <p:nvCxnSpPr>
          <p:cNvPr id="266" name="Google Shape;266;p14"/>
          <p:cNvCxnSpPr/>
          <p:nvPr/>
        </p:nvCxnSpPr>
        <p:spPr>
          <a:xfrm>
            <a:off x="6953250" y="3489960"/>
            <a:ext cx="4686300" cy="0"/>
          </a:xfrm>
          <a:prstGeom prst="straightConnector1">
            <a:avLst/>
          </a:prstGeom>
          <a:noFill/>
          <a:ln cap="flat" cmpd="sng" w="9525">
            <a:solidFill>
              <a:srgbClr val="E8E8E8"/>
            </a:solidFill>
            <a:prstDash val="solid"/>
            <a:round/>
            <a:headEnd len="sm" w="sm" type="none"/>
            <a:tailEnd len="sm" w="sm" type="none"/>
          </a:ln>
        </p:spPr>
      </p:cxnSp>
      <p:sp>
        <p:nvSpPr>
          <p:cNvPr id="267" name="Google Shape;267;p14"/>
          <p:cNvSpPr/>
          <p:nvPr/>
        </p:nvSpPr>
        <p:spPr>
          <a:xfrm>
            <a:off x="6457950" y="3394710"/>
            <a:ext cx="381000" cy="1905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40</a:t>
            </a:r>
            <a:endParaRPr b="0" i="0" sz="1400" u="none" cap="none" strike="noStrike">
              <a:solidFill>
                <a:srgbClr val="000000"/>
              </a:solidFill>
              <a:latin typeface="Arial"/>
              <a:ea typeface="Arial"/>
              <a:cs typeface="Arial"/>
              <a:sym typeface="Arial"/>
            </a:endParaRPr>
          </a:p>
        </p:txBody>
      </p:sp>
      <p:cxnSp>
        <p:nvCxnSpPr>
          <p:cNvPr id="268" name="Google Shape;268;p14"/>
          <p:cNvCxnSpPr/>
          <p:nvPr/>
        </p:nvCxnSpPr>
        <p:spPr>
          <a:xfrm>
            <a:off x="6953250" y="2987040"/>
            <a:ext cx="4686300" cy="0"/>
          </a:xfrm>
          <a:prstGeom prst="straightConnector1">
            <a:avLst/>
          </a:prstGeom>
          <a:noFill/>
          <a:ln cap="flat" cmpd="sng" w="9525">
            <a:solidFill>
              <a:srgbClr val="E8E8E8"/>
            </a:solidFill>
            <a:prstDash val="solid"/>
            <a:round/>
            <a:headEnd len="sm" w="sm" type="none"/>
            <a:tailEnd len="sm" w="sm" type="none"/>
          </a:ln>
        </p:spPr>
      </p:cxnSp>
      <p:sp>
        <p:nvSpPr>
          <p:cNvPr id="269" name="Google Shape;269;p14"/>
          <p:cNvSpPr/>
          <p:nvPr/>
        </p:nvSpPr>
        <p:spPr>
          <a:xfrm>
            <a:off x="6457950" y="2891790"/>
            <a:ext cx="381000" cy="1905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60</a:t>
            </a:r>
            <a:endParaRPr b="0" i="0" sz="1400" u="none" cap="none" strike="noStrike">
              <a:solidFill>
                <a:srgbClr val="000000"/>
              </a:solidFill>
              <a:latin typeface="Arial"/>
              <a:ea typeface="Arial"/>
              <a:cs typeface="Arial"/>
              <a:sym typeface="Arial"/>
            </a:endParaRPr>
          </a:p>
        </p:txBody>
      </p:sp>
      <p:cxnSp>
        <p:nvCxnSpPr>
          <p:cNvPr id="270" name="Google Shape;270;p14"/>
          <p:cNvCxnSpPr/>
          <p:nvPr/>
        </p:nvCxnSpPr>
        <p:spPr>
          <a:xfrm>
            <a:off x="6953250" y="2484120"/>
            <a:ext cx="4686300" cy="0"/>
          </a:xfrm>
          <a:prstGeom prst="straightConnector1">
            <a:avLst/>
          </a:prstGeom>
          <a:noFill/>
          <a:ln cap="flat" cmpd="sng" w="9525">
            <a:solidFill>
              <a:srgbClr val="E8E8E8"/>
            </a:solidFill>
            <a:prstDash val="solid"/>
            <a:round/>
            <a:headEnd len="sm" w="sm" type="none"/>
            <a:tailEnd len="sm" w="sm" type="none"/>
          </a:ln>
        </p:spPr>
      </p:cxnSp>
      <p:sp>
        <p:nvSpPr>
          <p:cNvPr id="271" name="Google Shape;271;p14"/>
          <p:cNvSpPr/>
          <p:nvPr/>
        </p:nvSpPr>
        <p:spPr>
          <a:xfrm>
            <a:off x="6457950" y="2388870"/>
            <a:ext cx="381000" cy="1905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80</a:t>
            </a:r>
            <a:endParaRPr b="0" i="0" sz="1400" u="none" cap="none" strike="noStrike">
              <a:solidFill>
                <a:srgbClr val="000000"/>
              </a:solidFill>
              <a:latin typeface="Arial"/>
              <a:ea typeface="Arial"/>
              <a:cs typeface="Arial"/>
              <a:sym typeface="Arial"/>
            </a:endParaRPr>
          </a:p>
        </p:txBody>
      </p:sp>
      <p:cxnSp>
        <p:nvCxnSpPr>
          <p:cNvPr id="272" name="Google Shape;272;p14"/>
          <p:cNvCxnSpPr/>
          <p:nvPr/>
        </p:nvCxnSpPr>
        <p:spPr>
          <a:xfrm>
            <a:off x="6953250" y="1981200"/>
            <a:ext cx="4686300" cy="0"/>
          </a:xfrm>
          <a:prstGeom prst="straightConnector1">
            <a:avLst/>
          </a:prstGeom>
          <a:noFill/>
          <a:ln cap="flat" cmpd="sng" w="9525">
            <a:solidFill>
              <a:srgbClr val="E8E8E8"/>
            </a:solidFill>
            <a:prstDash val="solid"/>
            <a:round/>
            <a:headEnd len="sm" w="sm" type="none"/>
            <a:tailEnd len="sm" w="sm" type="none"/>
          </a:ln>
        </p:spPr>
      </p:cxnSp>
      <p:sp>
        <p:nvSpPr>
          <p:cNvPr id="273" name="Google Shape;273;p14"/>
          <p:cNvSpPr/>
          <p:nvPr/>
        </p:nvSpPr>
        <p:spPr>
          <a:xfrm>
            <a:off x="6457950" y="1885950"/>
            <a:ext cx="381000" cy="1905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100</a:t>
            </a:r>
            <a:endParaRPr b="0" i="0" sz="1400" u="none" cap="none" strike="noStrike">
              <a:solidFill>
                <a:srgbClr val="000000"/>
              </a:solidFill>
              <a:latin typeface="Arial"/>
              <a:ea typeface="Arial"/>
              <a:cs typeface="Arial"/>
              <a:sym typeface="Arial"/>
            </a:endParaRPr>
          </a:p>
        </p:txBody>
      </p:sp>
      <p:sp>
        <p:nvSpPr>
          <p:cNvPr id="274" name="Google Shape;274;p14"/>
          <p:cNvSpPr/>
          <p:nvPr/>
        </p:nvSpPr>
        <p:spPr>
          <a:xfrm>
            <a:off x="6953250" y="1981200"/>
            <a:ext cx="4686300" cy="2514600"/>
          </a:xfrm>
          <a:custGeom>
            <a:rect b="b" l="l" r="r" t="t"/>
            <a:pathLst>
              <a:path extrusionOk="0" h="2514600" w="4686300">
                <a:moveTo>
                  <a:pt x="0" y="0"/>
                </a:moveTo>
                <a:lnTo>
                  <a:pt x="781050" y="227823"/>
                </a:lnTo>
                <a:lnTo>
                  <a:pt x="1562100" y="502417"/>
                </a:lnTo>
                <a:lnTo>
                  <a:pt x="2343150" y="730491"/>
                </a:lnTo>
                <a:lnTo>
                  <a:pt x="3124200" y="1043056"/>
                </a:lnTo>
                <a:lnTo>
                  <a:pt x="3905250" y="1412199"/>
                </a:lnTo>
                <a:lnTo>
                  <a:pt x="4686300" y="1489398"/>
                </a:lnTo>
              </a:path>
            </a:pathLst>
          </a:custGeom>
          <a:noFill/>
          <a:ln cap="flat" cmpd="sng" w="28575">
            <a:solidFill>
              <a:srgbClr val="3D8DFF"/>
            </a:solidFill>
            <a:prstDash val="solid"/>
            <a:round/>
            <a:headEnd len="sm" w="sm" type="none"/>
            <a:tailEnd len="sm" w="sm" type="none"/>
          </a:ln>
        </p:spPr>
      </p:sp>
      <p:sp>
        <p:nvSpPr>
          <p:cNvPr id="275" name="Google Shape;275;p14"/>
          <p:cNvSpPr/>
          <p:nvPr/>
        </p:nvSpPr>
        <p:spPr>
          <a:xfrm>
            <a:off x="6905625" y="1933575"/>
            <a:ext cx="95250" cy="95250"/>
          </a:xfrm>
          <a:prstGeom prst="ellipse">
            <a:avLst/>
          </a:prstGeom>
          <a:solidFill>
            <a:srgbClr val="3D8DFF"/>
          </a:solidFill>
          <a:ln cap="flat" cmpd="sng" w="9525">
            <a:solidFill>
              <a:srgbClr val="3D8D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6" name="Google Shape;276;p14"/>
          <p:cNvSpPr/>
          <p:nvPr/>
        </p:nvSpPr>
        <p:spPr>
          <a:xfrm>
            <a:off x="6781800" y="4591050"/>
            <a:ext cx="342900" cy="190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1</a:t>
            </a:r>
            <a:endParaRPr b="0" i="0" sz="1400" u="none" cap="none" strike="noStrike">
              <a:solidFill>
                <a:srgbClr val="000000"/>
              </a:solidFill>
              <a:latin typeface="Arial"/>
              <a:ea typeface="Arial"/>
              <a:cs typeface="Arial"/>
              <a:sym typeface="Arial"/>
            </a:endParaRPr>
          </a:p>
        </p:txBody>
      </p:sp>
      <p:sp>
        <p:nvSpPr>
          <p:cNvPr id="277" name="Google Shape;277;p14"/>
          <p:cNvSpPr/>
          <p:nvPr/>
        </p:nvSpPr>
        <p:spPr>
          <a:xfrm>
            <a:off x="7686675" y="2161398"/>
            <a:ext cx="95250" cy="95250"/>
          </a:xfrm>
          <a:prstGeom prst="ellipse">
            <a:avLst/>
          </a:prstGeom>
          <a:solidFill>
            <a:srgbClr val="3D8DFF"/>
          </a:solidFill>
          <a:ln cap="flat" cmpd="sng" w="9525">
            <a:solidFill>
              <a:srgbClr val="3D8D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8" name="Google Shape;278;p14"/>
          <p:cNvSpPr/>
          <p:nvPr/>
        </p:nvSpPr>
        <p:spPr>
          <a:xfrm>
            <a:off x="7562850" y="4591050"/>
            <a:ext cx="342900" cy="190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2</a:t>
            </a:r>
            <a:endParaRPr b="0" i="0" sz="1400" u="none" cap="none" strike="noStrike">
              <a:solidFill>
                <a:srgbClr val="000000"/>
              </a:solidFill>
              <a:latin typeface="Arial"/>
              <a:ea typeface="Arial"/>
              <a:cs typeface="Arial"/>
              <a:sym typeface="Arial"/>
            </a:endParaRPr>
          </a:p>
        </p:txBody>
      </p:sp>
      <p:sp>
        <p:nvSpPr>
          <p:cNvPr id="279" name="Google Shape;279;p14"/>
          <p:cNvSpPr/>
          <p:nvPr/>
        </p:nvSpPr>
        <p:spPr>
          <a:xfrm>
            <a:off x="8467725" y="2435992"/>
            <a:ext cx="95250" cy="95250"/>
          </a:xfrm>
          <a:prstGeom prst="ellipse">
            <a:avLst/>
          </a:prstGeom>
          <a:solidFill>
            <a:srgbClr val="3D8DFF"/>
          </a:solidFill>
          <a:ln cap="flat" cmpd="sng" w="9525">
            <a:solidFill>
              <a:srgbClr val="3D8D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0" name="Google Shape;280;p14"/>
          <p:cNvSpPr/>
          <p:nvPr/>
        </p:nvSpPr>
        <p:spPr>
          <a:xfrm>
            <a:off x="8343900" y="4591050"/>
            <a:ext cx="342900" cy="190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4</a:t>
            </a:r>
            <a:endParaRPr b="0" i="0" sz="1400" u="none" cap="none" strike="noStrike">
              <a:solidFill>
                <a:srgbClr val="000000"/>
              </a:solidFill>
              <a:latin typeface="Arial"/>
              <a:ea typeface="Arial"/>
              <a:cs typeface="Arial"/>
              <a:sym typeface="Arial"/>
            </a:endParaRPr>
          </a:p>
        </p:txBody>
      </p:sp>
      <p:sp>
        <p:nvSpPr>
          <p:cNvPr id="281" name="Google Shape;281;p14"/>
          <p:cNvSpPr/>
          <p:nvPr/>
        </p:nvSpPr>
        <p:spPr>
          <a:xfrm>
            <a:off x="9248775" y="2664066"/>
            <a:ext cx="95250" cy="95250"/>
          </a:xfrm>
          <a:prstGeom prst="ellipse">
            <a:avLst/>
          </a:prstGeom>
          <a:solidFill>
            <a:srgbClr val="3D8DFF"/>
          </a:solidFill>
          <a:ln cap="flat" cmpd="sng" w="9525">
            <a:solidFill>
              <a:srgbClr val="3D8D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2" name="Google Shape;282;p14"/>
          <p:cNvSpPr/>
          <p:nvPr/>
        </p:nvSpPr>
        <p:spPr>
          <a:xfrm>
            <a:off x="9124950" y="4591050"/>
            <a:ext cx="342900" cy="190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8</a:t>
            </a:r>
            <a:endParaRPr b="0" i="0" sz="1400" u="none" cap="none" strike="noStrike">
              <a:solidFill>
                <a:srgbClr val="000000"/>
              </a:solidFill>
              <a:latin typeface="Arial"/>
              <a:ea typeface="Arial"/>
              <a:cs typeface="Arial"/>
              <a:sym typeface="Arial"/>
            </a:endParaRPr>
          </a:p>
        </p:txBody>
      </p:sp>
      <p:sp>
        <p:nvSpPr>
          <p:cNvPr id="283" name="Google Shape;283;p14"/>
          <p:cNvSpPr/>
          <p:nvPr/>
        </p:nvSpPr>
        <p:spPr>
          <a:xfrm>
            <a:off x="10029825" y="2976631"/>
            <a:ext cx="95250" cy="95250"/>
          </a:xfrm>
          <a:prstGeom prst="ellipse">
            <a:avLst/>
          </a:prstGeom>
          <a:solidFill>
            <a:srgbClr val="3D8DFF"/>
          </a:solidFill>
          <a:ln cap="flat" cmpd="sng" w="9525">
            <a:solidFill>
              <a:srgbClr val="3D8D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4" name="Google Shape;284;p14"/>
          <p:cNvSpPr/>
          <p:nvPr/>
        </p:nvSpPr>
        <p:spPr>
          <a:xfrm>
            <a:off x="9906000" y="4591050"/>
            <a:ext cx="342900" cy="190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16</a:t>
            </a:r>
            <a:endParaRPr b="0" i="0" sz="1400" u="none" cap="none" strike="noStrike">
              <a:solidFill>
                <a:srgbClr val="000000"/>
              </a:solidFill>
              <a:latin typeface="Arial"/>
              <a:ea typeface="Arial"/>
              <a:cs typeface="Arial"/>
              <a:sym typeface="Arial"/>
            </a:endParaRPr>
          </a:p>
        </p:txBody>
      </p:sp>
      <p:sp>
        <p:nvSpPr>
          <p:cNvPr id="285" name="Google Shape;285;p14"/>
          <p:cNvSpPr/>
          <p:nvPr/>
        </p:nvSpPr>
        <p:spPr>
          <a:xfrm>
            <a:off x="10810875" y="3345774"/>
            <a:ext cx="95250" cy="95250"/>
          </a:xfrm>
          <a:prstGeom prst="ellipse">
            <a:avLst/>
          </a:prstGeom>
          <a:solidFill>
            <a:srgbClr val="3D8DFF"/>
          </a:solidFill>
          <a:ln cap="flat" cmpd="sng" w="9525">
            <a:solidFill>
              <a:srgbClr val="3D8D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6" name="Google Shape;286;p14"/>
          <p:cNvSpPr/>
          <p:nvPr/>
        </p:nvSpPr>
        <p:spPr>
          <a:xfrm>
            <a:off x="10687050" y="4591050"/>
            <a:ext cx="342900" cy="190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32</a:t>
            </a:r>
            <a:endParaRPr b="0" i="0" sz="1400" u="none" cap="none" strike="noStrike">
              <a:solidFill>
                <a:srgbClr val="000000"/>
              </a:solidFill>
              <a:latin typeface="Arial"/>
              <a:ea typeface="Arial"/>
              <a:cs typeface="Arial"/>
              <a:sym typeface="Arial"/>
            </a:endParaRPr>
          </a:p>
        </p:txBody>
      </p:sp>
      <p:sp>
        <p:nvSpPr>
          <p:cNvPr id="287" name="Google Shape;287;p14"/>
          <p:cNvSpPr/>
          <p:nvPr/>
        </p:nvSpPr>
        <p:spPr>
          <a:xfrm>
            <a:off x="11591925" y="3422973"/>
            <a:ext cx="95250" cy="95250"/>
          </a:xfrm>
          <a:prstGeom prst="ellipse">
            <a:avLst/>
          </a:prstGeom>
          <a:solidFill>
            <a:srgbClr val="3D8DFF"/>
          </a:solidFill>
          <a:ln cap="flat" cmpd="sng" w="9525">
            <a:solidFill>
              <a:srgbClr val="3D8D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 name="Google Shape;288;p14"/>
          <p:cNvSpPr/>
          <p:nvPr/>
        </p:nvSpPr>
        <p:spPr>
          <a:xfrm>
            <a:off x="11468100" y="4591050"/>
            <a:ext cx="342900" cy="190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64</a:t>
            </a:r>
            <a:endParaRPr b="0" i="0" sz="1400" u="none" cap="none" strike="noStrike">
              <a:solidFill>
                <a:srgbClr val="000000"/>
              </a:solidFill>
              <a:latin typeface="Arial"/>
              <a:ea typeface="Arial"/>
              <a:cs typeface="Arial"/>
              <a:sym typeface="Arial"/>
            </a:endParaRPr>
          </a:p>
        </p:txBody>
      </p:sp>
      <p:sp>
        <p:nvSpPr>
          <p:cNvPr id="289" name="Google Shape;289;p14"/>
          <p:cNvSpPr/>
          <p:nvPr/>
        </p:nvSpPr>
        <p:spPr>
          <a:xfrm>
            <a:off x="8772525" y="4857750"/>
            <a:ext cx="1047750" cy="20955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975"/>
              <a:buFont typeface="Arial"/>
              <a:buNone/>
            </a:pPr>
            <a:r>
              <a:rPr b="1" i="0" lang="en-US" sz="975" u="none" cap="none" strike="noStrike">
                <a:solidFill>
                  <a:srgbClr val="000000"/>
                </a:solidFill>
                <a:latin typeface="Helvetica Neue"/>
                <a:ea typeface="Helvetica Neue"/>
                <a:cs typeface="Helvetica Neue"/>
                <a:sym typeface="Helvetica Neue"/>
              </a:rPr>
              <a:t>Workers</a:t>
            </a:r>
            <a:endParaRPr b="0" i="0" sz="1400" u="none" cap="none" strike="noStrike">
              <a:solidFill>
                <a:srgbClr val="000000"/>
              </a:solidFill>
              <a:latin typeface="Arial"/>
              <a:ea typeface="Arial"/>
              <a:cs typeface="Arial"/>
              <a:sym typeface="Arial"/>
            </a:endParaRPr>
          </a:p>
        </p:txBody>
      </p:sp>
      <p:sp>
        <p:nvSpPr>
          <p:cNvPr id="290" name="Google Shape;290;p14"/>
          <p:cNvSpPr/>
          <p:nvPr/>
        </p:nvSpPr>
        <p:spPr>
          <a:xfrm>
            <a:off x="400050" y="5191125"/>
            <a:ext cx="5429250" cy="800100"/>
          </a:xfrm>
          <a:prstGeom prst="roundRect">
            <a:avLst>
              <a:gd fmla="val 9524"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14"/>
          <p:cNvSpPr/>
          <p:nvPr/>
        </p:nvSpPr>
        <p:spPr>
          <a:xfrm>
            <a:off x="609600" y="5324475"/>
            <a:ext cx="1428750" cy="533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100"/>
              <a:buFont typeface="Arial"/>
              <a:buNone/>
            </a:pPr>
            <a:r>
              <a:rPr b="1" i="0" lang="en-US" sz="2100" u="none" cap="none" strike="noStrike">
                <a:solidFill>
                  <a:srgbClr val="000000"/>
                </a:solidFill>
                <a:latin typeface="Helvetica Neue"/>
                <a:ea typeface="Helvetica Neue"/>
                <a:cs typeface="Helvetica Neue"/>
                <a:sym typeface="Helvetica Neue"/>
              </a:rPr>
              <a:t>17.12%</a:t>
            </a:r>
            <a:endParaRPr b="0" i="0" sz="1400" u="none" cap="none" strike="noStrike">
              <a:solidFill>
                <a:srgbClr val="000000"/>
              </a:solidFill>
              <a:latin typeface="Arial"/>
              <a:ea typeface="Arial"/>
              <a:cs typeface="Arial"/>
              <a:sym typeface="Arial"/>
            </a:endParaRPr>
          </a:p>
        </p:txBody>
      </p:sp>
      <p:sp>
        <p:nvSpPr>
          <p:cNvPr id="292" name="Google Shape;292;p14"/>
          <p:cNvSpPr/>
          <p:nvPr/>
        </p:nvSpPr>
        <p:spPr>
          <a:xfrm>
            <a:off x="2152650" y="5324475"/>
            <a:ext cx="3448050" cy="533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75"/>
              <a:buFont typeface="Arial"/>
              <a:buNone/>
            </a:pPr>
            <a:r>
              <a:rPr b="0" i="0" lang="en-US" sz="1275" u="none" cap="none" strike="noStrike">
                <a:solidFill>
                  <a:srgbClr val="5B616B"/>
                </a:solidFill>
                <a:latin typeface="Helvetica Neue"/>
                <a:ea typeface="Helvetica Neue"/>
                <a:cs typeface="Helvetica Neue"/>
                <a:sym typeface="Helvetica Neue"/>
              </a:rPr>
              <a:t>5.764 → 33.661 s · hidden width = 128p</a:t>
            </a:r>
            <a:endParaRPr b="0" i="0" sz="1400" u="none" cap="none" strike="noStrike">
              <a:solidFill>
                <a:srgbClr val="000000"/>
              </a:solidFill>
              <a:latin typeface="Arial"/>
              <a:ea typeface="Arial"/>
              <a:cs typeface="Arial"/>
              <a:sym typeface="Arial"/>
            </a:endParaRPr>
          </a:p>
        </p:txBody>
      </p:sp>
      <p:sp>
        <p:nvSpPr>
          <p:cNvPr id="293" name="Google Shape;293;p14"/>
          <p:cNvSpPr/>
          <p:nvPr/>
        </p:nvSpPr>
        <p:spPr>
          <a:xfrm>
            <a:off x="6362700" y="5191125"/>
            <a:ext cx="5429250" cy="800100"/>
          </a:xfrm>
          <a:prstGeom prst="roundRect">
            <a:avLst>
              <a:gd fmla="val 9524"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 name="Google Shape;294;p14"/>
          <p:cNvSpPr/>
          <p:nvPr/>
        </p:nvSpPr>
        <p:spPr>
          <a:xfrm>
            <a:off x="6572250" y="5324475"/>
            <a:ext cx="1428750" cy="533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100"/>
              <a:buFont typeface="Arial"/>
              <a:buNone/>
            </a:pPr>
            <a:r>
              <a:rPr b="1" i="0" lang="en-US" sz="2100" u="none" cap="none" strike="noStrike">
                <a:solidFill>
                  <a:srgbClr val="000000"/>
                </a:solidFill>
                <a:latin typeface="Helvetica Neue"/>
                <a:ea typeface="Helvetica Neue"/>
                <a:cs typeface="Helvetica Neue"/>
                <a:sym typeface="Helvetica Neue"/>
              </a:rPr>
              <a:t>40.77%</a:t>
            </a:r>
            <a:endParaRPr b="0" i="0" sz="1400" u="none" cap="none" strike="noStrike">
              <a:solidFill>
                <a:srgbClr val="000000"/>
              </a:solidFill>
              <a:latin typeface="Arial"/>
              <a:ea typeface="Arial"/>
              <a:cs typeface="Arial"/>
              <a:sym typeface="Arial"/>
            </a:endParaRPr>
          </a:p>
        </p:txBody>
      </p:sp>
      <p:sp>
        <p:nvSpPr>
          <p:cNvPr id="295" name="Google Shape;295;p14"/>
          <p:cNvSpPr/>
          <p:nvPr/>
        </p:nvSpPr>
        <p:spPr>
          <a:xfrm>
            <a:off x="8115300" y="5324475"/>
            <a:ext cx="3448050" cy="533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75"/>
              <a:buFont typeface="Arial"/>
              <a:buNone/>
            </a:pPr>
            <a:r>
              <a:rPr b="0" i="0" lang="en-US" sz="1275" u="none" cap="none" strike="noStrike">
                <a:solidFill>
                  <a:srgbClr val="5B616B"/>
                </a:solidFill>
                <a:latin typeface="Helvetica Neue"/>
                <a:ea typeface="Helvetica Neue"/>
                <a:cs typeface="Helvetica Neue"/>
                <a:sym typeface="Helvetica Neue"/>
              </a:rPr>
              <a:t>7.458 → 18.294 s · 500 samples per rank</a:t>
            </a:r>
            <a:endParaRPr b="0" i="0" sz="1400" u="none" cap="none" strike="noStrike">
              <a:solidFill>
                <a:srgbClr val="000000"/>
              </a:solidFill>
              <a:latin typeface="Arial"/>
              <a:ea typeface="Arial"/>
              <a:cs typeface="Arial"/>
              <a:sym typeface="Arial"/>
            </a:endParaRPr>
          </a:p>
        </p:txBody>
      </p:sp>
      <p:sp>
        <p:nvSpPr>
          <p:cNvPr id="296" name="Google Shape;296;p14"/>
          <p:cNvSpPr/>
          <p:nvPr/>
        </p:nvSpPr>
        <p:spPr>
          <a:xfrm>
            <a:off x="3429000" y="6115050"/>
            <a:ext cx="5334000" cy="24765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350"/>
              <a:buFont typeface="Arial"/>
              <a:buNone/>
            </a:pPr>
            <a:r>
              <a:rPr b="1" i="0" lang="en-US" sz="1350" u="none" cap="none" strike="noStrike">
                <a:solidFill>
                  <a:srgbClr val="3D8DFF"/>
                </a:solidFill>
                <a:latin typeface="Helvetica Neue"/>
                <a:ea typeface="Helvetica Neue"/>
                <a:cs typeface="Helvetica Neue"/>
                <a:sym typeface="Helvetica Neue"/>
              </a:rPr>
              <a:t>Different workload-growth rules → not a backend ranking</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15"/>
          <p:cNvSpPr/>
          <p:nvPr/>
        </p:nvSpPr>
        <p:spPr>
          <a:xfrm>
            <a:off x="393668" y="344043"/>
            <a:ext cx="11404568" cy="800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3000"/>
              <a:buFont typeface="Arial"/>
              <a:buNone/>
            </a:pPr>
            <a:r>
              <a:rPr b="0" i="0" lang="en-US" sz="3000" u="none" cap="none" strike="noStrike">
                <a:solidFill>
                  <a:srgbClr val="000000"/>
                </a:solidFill>
                <a:latin typeface="Helvetica Neue"/>
                <a:ea typeface="Helvetica Neue"/>
                <a:cs typeface="Helvetica Neue"/>
                <a:sym typeface="Helvetica Neue"/>
              </a:rPr>
              <a:t>Tile and batch choices reshape runtime</a:t>
            </a:r>
            <a:endParaRPr b="0" i="0" sz="1400" u="none" cap="none" strike="noStrike">
              <a:solidFill>
                <a:srgbClr val="000000"/>
              </a:solidFill>
              <a:latin typeface="Arial"/>
              <a:ea typeface="Arial"/>
              <a:cs typeface="Arial"/>
              <a:sym typeface="Arial"/>
            </a:endParaRPr>
          </a:p>
        </p:txBody>
      </p:sp>
      <p:sp>
        <p:nvSpPr>
          <p:cNvPr id="303" name="Google Shape;303;p15"/>
          <p:cNvSpPr/>
          <p:nvPr/>
        </p:nvSpPr>
        <p:spPr>
          <a:xfrm>
            <a:off x="11279315" y="6279261"/>
            <a:ext cx="518922" cy="241268"/>
          </a:xfrm>
          <a:prstGeom prst="rect">
            <a:avLst/>
          </a:prstGeom>
          <a:noFill/>
          <a:ln>
            <a:noFill/>
          </a:ln>
        </p:spPr>
        <p:txBody>
          <a:bodyPr anchorCtr="0" anchor="b"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US" sz="1000" u="none" cap="none" strike="noStrike">
                <a:solidFill>
                  <a:srgbClr val="000000"/>
                </a:solidFill>
                <a:latin typeface="Helvetica Neue"/>
                <a:ea typeface="Helvetica Neue"/>
                <a:cs typeface="Helvetica Neue"/>
                <a:sym typeface="Helvetica Neue"/>
              </a:rPr>
              <a:t>12</a:t>
            </a:r>
            <a:endParaRPr b="0" i="0" sz="1400" u="none" cap="none" strike="noStrike">
              <a:solidFill>
                <a:srgbClr val="000000"/>
              </a:solidFill>
              <a:latin typeface="Arial"/>
              <a:ea typeface="Arial"/>
              <a:cs typeface="Arial"/>
              <a:sym typeface="Arial"/>
            </a:endParaRPr>
          </a:p>
        </p:txBody>
      </p:sp>
      <p:sp>
        <p:nvSpPr>
          <p:cNvPr id="304" name="Google Shape;304;p15"/>
          <p:cNvSpPr/>
          <p:nvPr/>
        </p:nvSpPr>
        <p:spPr>
          <a:xfrm>
            <a:off x="323850" y="1352550"/>
            <a:ext cx="7343775" cy="4248150"/>
          </a:xfrm>
          <a:prstGeom prst="roundRect">
            <a:avLst>
              <a:gd fmla="val 1794" name="adj"/>
            </a:avLst>
          </a:prstGeom>
          <a:solidFill>
            <a:srgbClr val="FFFFFF"/>
          </a:solidFill>
          <a:ln cap="flat" cmpd="sng" w="9525">
            <a:solidFill>
              <a:srgbClr val="B8BCC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5" name="Google Shape;305;p15"/>
          <p:cNvPicPr preferRelativeResize="0"/>
          <p:nvPr/>
        </p:nvPicPr>
        <p:blipFill rotWithShape="1">
          <a:blip r:embed="rId3">
            <a:alphaModFix/>
          </a:blip>
          <a:srcRect b="0" l="0" r="0" t="0"/>
          <a:stretch/>
        </p:blipFill>
        <p:spPr>
          <a:xfrm>
            <a:off x="682440" y="1428750"/>
            <a:ext cx="6626594" cy="4095750"/>
          </a:xfrm>
          <a:prstGeom prst="rect">
            <a:avLst/>
          </a:prstGeom>
          <a:noFill/>
          <a:ln>
            <a:noFill/>
          </a:ln>
        </p:spPr>
      </p:pic>
      <p:sp>
        <p:nvSpPr>
          <p:cNvPr id="306" name="Google Shape;306;p15"/>
          <p:cNvSpPr/>
          <p:nvPr/>
        </p:nvSpPr>
        <p:spPr>
          <a:xfrm>
            <a:off x="8001000" y="1428750"/>
            <a:ext cx="3790950" cy="1238250"/>
          </a:xfrm>
          <a:prstGeom prst="roundRect">
            <a:avLst>
              <a:gd fmla="val 6154"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7" name="Google Shape;307;p15"/>
          <p:cNvSpPr/>
          <p:nvPr/>
        </p:nvSpPr>
        <p:spPr>
          <a:xfrm>
            <a:off x="8229600" y="1600200"/>
            <a:ext cx="3333750" cy="59055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000000"/>
              </a:buClr>
              <a:buSzPts val="2700"/>
              <a:buFont typeface="Arial"/>
              <a:buNone/>
            </a:pPr>
            <a:r>
              <a:rPr b="1" i="0" lang="en-US" sz="2700" u="none" cap="none" strike="noStrike">
                <a:solidFill>
                  <a:srgbClr val="3D8DFF"/>
                </a:solidFill>
                <a:latin typeface="Helvetica Neue"/>
                <a:ea typeface="Helvetica Neue"/>
                <a:cs typeface="Helvetica Neue"/>
                <a:sym typeface="Helvetica Neue"/>
              </a:rPr>
              <a:t>tile 256</a:t>
            </a:r>
            <a:endParaRPr b="0" i="0" sz="1400" u="none" cap="none" strike="noStrike">
              <a:solidFill>
                <a:srgbClr val="000000"/>
              </a:solidFill>
              <a:latin typeface="Arial"/>
              <a:ea typeface="Arial"/>
              <a:cs typeface="Arial"/>
              <a:sym typeface="Arial"/>
            </a:endParaRPr>
          </a:p>
        </p:txBody>
      </p:sp>
      <p:sp>
        <p:nvSpPr>
          <p:cNvPr id="308" name="Google Shape;308;p15"/>
          <p:cNvSpPr/>
          <p:nvPr/>
        </p:nvSpPr>
        <p:spPr>
          <a:xfrm>
            <a:off x="8229600" y="2266950"/>
            <a:ext cx="333375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75"/>
              <a:buFont typeface="Arial"/>
              <a:buNone/>
            </a:pPr>
            <a:r>
              <a:rPr b="0" i="0" lang="en-US" sz="1275" u="none" cap="none" strike="noStrike">
                <a:solidFill>
                  <a:srgbClr val="5B616B"/>
                </a:solidFill>
                <a:latin typeface="Helvetica Neue"/>
                <a:ea typeface="Helvetica Neue"/>
                <a:cs typeface="Helvetica Neue"/>
                <a:sym typeface="Helvetica Neue"/>
              </a:rPr>
              <a:t>fastest tested at 1, 16 and 64 ranks</a:t>
            </a:r>
            <a:endParaRPr b="0" i="0" sz="1400" u="none" cap="none" strike="noStrike">
              <a:solidFill>
                <a:srgbClr val="000000"/>
              </a:solidFill>
              <a:latin typeface="Arial"/>
              <a:ea typeface="Arial"/>
              <a:cs typeface="Arial"/>
              <a:sym typeface="Arial"/>
            </a:endParaRPr>
          </a:p>
        </p:txBody>
      </p:sp>
      <p:sp>
        <p:nvSpPr>
          <p:cNvPr id="309" name="Google Shape;309;p15"/>
          <p:cNvSpPr/>
          <p:nvPr/>
        </p:nvSpPr>
        <p:spPr>
          <a:xfrm>
            <a:off x="8001000" y="2857500"/>
            <a:ext cx="3790950" cy="1238250"/>
          </a:xfrm>
          <a:prstGeom prst="roundRect">
            <a:avLst>
              <a:gd fmla="val 6154"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 name="Google Shape;310;p15"/>
          <p:cNvSpPr/>
          <p:nvPr/>
        </p:nvSpPr>
        <p:spPr>
          <a:xfrm>
            <a:off x="8229600" y="3028950"/>
            <a:ext cx="3333750" cy="59055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000000"/>
              </a:buClr>
              <a:buSzPts val="2400"/>
              <a:buFont typeface="Arial"/>
              <a:buNone/>
            </a:pPr>
            <a:r>
              <a:rPr b="1" i="0" lang="en-US" sz="2400" u="none" cap="none" strike="noStrike">
                <a:solidFill>
                  <a:srgbClr val="000000"/>
                </a:solidFill>
                <a:latin typeface="Helvetica Neue"/>
                <a:ea typeface="Helvetica Neue"/>
                <a:cs typeface="Helvetica Neue"/>
                <a:sym typeface="Helvetica Neue"/>
              </a:rPr>
              <a:t>8.66–13.37%</a:t>
            </a:r>
            <a:endParaRPr b="0" i="0" sz="1400" u="none" cap="none" strike="noStrike">
              <a:solidFill>
                <a:srgbClr val="000000"/>
              </a:solidFill>
              <a:latin typeface="Arial"/>
              <a:ea typeface="Arial"/>
              <a:cs typeface="Arial"/>
              <a:sym typeface="Arial"/>
            </a:endParaRPr>
          </a:p>
        </p:txBody>
      </p:sp>
      <p:sp>
        <p:nvSpPr>
          <p:cNvPr id="311" name="Google Shape;311;p15"/>
          <p:cNvSpPr/>
          <p:nvPr/>
        </p:nvSpPr>
        <p:spPr>
          <a:xfrm>
            <a:off x="8229600" y="3695700"/>
            <a:ext cx="333375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75"/>
              <a:buFont typeface="Arial"/>
              <a:buNone/>
            </a:pPr>
            <a:r>
              <a:rPr b="0" i="0" lang="en-US" sz="1275" u="none" cap="none" strike="noStrike">
                <a:solidFill>
                  <a:srgbClr val="5B616B"/>
                </a:solidFill>
                <a:latin typeface="Helvetica Neue"/>
                <a:ea typeface="Helvetica Neue"/>
                <a:cs typeface="Helvetica Neue"/>
                <a:sym typeface="Helvetica Neue"/>
              </a:rPr>
              <a:t>faster than tile 64</a:t>
            </a:r>
            <a:endParaRPr b="0" i="0" sz="1400" u="none" cap="none" strike="noStrike">
              <a:solidFill>
                <a:srgbClr val="000000"/>
              </a:solidFill>
              <a:latin typeface="Arial"/>
              <a:ea typeface="Arial"/>
              <a:cs typeface="Arial"/>
              <a:sym typeface="Arial"/>
            </a:endParaRPr>
          </a:p>
        </p:txBody>
      </p:sp>
      <p:sp>
        <p:nvSpPr>
          <p:cNvPr id="312" name="Google Shape;312;p15"/>
          <p:cNvSpPr/>
          <p:nvPr/>
        </p:nvSpPr>
        <p:spPr>
          <a:xfrm>
            <a:off x="8001000" y="4286250"/>
            <a:ext cx="3790950" cy="1238250"/>
          </a:xfrm>
          <a:prstGeom prst="roundRect">
            <a:avLst>
              <a:gd fmla="val 6154" name="adj"/>
            </a:avLst>
          </a:prstGeom>
          <a:solidFill>
            <a:srgbClr val="EAF5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3" name="Google Shape;313;p15"/>
          <p:cNvSpPr/>
          <p:nvPr/>
        </p:nvSpPr>
        <p:spPr>
          <a:xfrm>
            <a:off x="8229600" y="4457700"/>
            <a:ext cx="3333750" cy="59055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000000"/>
              </a:buClr>
              <a:buSzPts val="2325"/>
              <a:buFont typeface="Arial"/>
              <a:buNone/>
            </a:pPr>
            <a:r>
              <a:rPr b="1" i="0" lang="en-US" sz="2325" u="none" cap="none" strike="noStrike">
                <a:solidFill>
                  <a:srgbClr val="000000"/>
                </a:solidFill>
                <a:latin typeface="Helvetica Neue"/>
                <a:ea typeface="Helvetica Neue"/>
                <a:cs typeface="Helvetica Neue"/>
                <a:sym typeface="Helvetica Neue"/>
              </a:rPr>
              <a:t>larger batch</a:t>
            </a:r>
            <a:endParaRPr b="0" i="0" sz="1400" u="none" cap="none" strike="noStrike">
              <a:solidFill>
                <a:srgbClr val="000000"/>
              </a:solidFill>
              <a:latin typeface="Arial"/>
              <a:ea typeface="Arial"/>
              <a:cs typeface="Arial"/>
              <a:sym typeface="Arial"/>
            </a:endParaRPr>
          </a:p>
        </p:txBody>
      </p:sp>
      <p:sp>
        <p:nvSpPr>
          <p:cNvPr id="314" name="Google Shape;314;p15"/>
          <p:cNvSpPr/>
          <p:nvPr/>
        </p:nvSpPr>
        <p:spPr>
          <a:xfrm>
            <a:off x="8229600" y="5124450"/>
            <a:ext cx="333375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75"/>
              <a:buFont typeface="Arial"/>
              <a:buNone/>
            </a:pPr>
            <a:r>
              <a:rPr b="0" i="0" lang="en-US" sz="1275" u="none" cap="none" strike="noStrike">
                <a:solidFill>
                  <a:srgbClr val="5B616B"/>
                </a:solidFill>
                <a:latin typeface="Helvetica Neue"/>
                <a:ea typeface="Helvetica Neue"/>
                <a:cs typeface="Helvetica Neue"/>
                <a:sym typeface="Helvetica Neue"/>
              </a:rPr>
              <a:t>fewer update and synchronization rounds</a:t>
            </a:r>
            <a:endParaRPr b="0" i="0" sz="1400" u="none" cap="none" strike="noStrike">
              <a:solidFill>
                <a:srgbClr val="000000"/>
              </a:solidFill>
              <a:latin typeface="Arial"/>
              <a:ea typeface="Arial"/>
              <a:cs typeface="Arial"/>
              <a:sym typeface="Arial"/>
            </a:endParaRPr>
          </a:p>
        </p:txBody>
      </p:sp>
      <p:sp>
        <p:nvSpPr>
          <p:cNvPr id="315" name="Google Shape;315;p15"/>
          <p:cNvSpPr/>
          <p:nvPr/>
        </p:nvSpPr>
        <p:spPr>
          <a:xfrm>
            <a:off x="400050" y="5772150"/>
            <a:ext cx="11391900" cy="400050"/>
          </a:xfrm>
          <a:prstGeom prst="roundRect">
            <a:avLst>
              <a:gd fmla="val 14286"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6" name="Google Shape;316;p15"/>
          <p:cNvSpPr/>
          <p:nvPr/>
        </p:nvSpPr>
        <p:spPr>
          <a:xfrm>
            <a:off x="609600" y="5876925"/>
            <a:ext cx="10972800" cy="20955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350"/>
              <a:buFont typeface="Arial"/>
              <a:buNone/>
            </a:pPr>
            <a:r>
              <a:rPr b="1" i="0" lang="en-US" sz="1350" u="none" cap="none" strike="noStrike">
                <a:solidFill>
                  <a:srgbClr val="000000"/>
                </a:solidFill>
                <a:latin typeface="Helvetica Neue"/>
                <a:ea typeface="Helvetica Neue"/>
                <a:cs typeface="Helvetica Neue"/>
                <a:sym typeface="Helvetica Neue"/>
              </a:rPr>
              <a:t>Configuration choices are part of the experiment—not neutral implementation details.</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1" name="Shape 321"/>
        <p:cNvGrpSpPr/>
        <p:nvPr/>
      </p:nvGrpSpPr>
      <p:grpSpPr>
        <a:xfrm>
          <a:off x="0" y="0"/>
          <a:ext cx="0" cy="0"/>
          <a:chOff x="0" y="0"/>
          <a:chExt cx="0" cy="0"/>
        </a:xfrm>
      </p:grpSpPr>
      <p:sp>
        <p:nvSpPr>
          <p:cNvPr id="322" name="Google Shape;322;p16"/>
          <p:cNvSpPr/>
          <p:nvPr/>
        </p:nvSpPr>
        <p:spPr>
          <a:xfrm>
            <a:off x="393668" y="1738789"/>
            <a:ext cx="9448800" cy="2491454"/>
          </a:xfrm>
          <a:prstGeom prst="rect">
            <a:avLst/>
          </a:prstGeom>
          <a:noFill/>
          <a:ln>
            <a:noFill/>
          </a:ln>
        </p:spPr>
        <p:txBody>
          <a:bodyPr anchorCtr="0" anchor="b" bIns="0" lIns="0" spcFirstLastPara="1" rIns="0" wrap="square" tIns="0">
            <a:noAutofit/>
          </a:bodyPr>
          <a:lstStyle/>
          <a:p>
            <a:pPr indent="0" lvl="0" marL="0" marR="0" rtl="0" algn="l">
              <a:lnSpc>
                <a:spcPct val="90000"/>
              </a:lnSpc>
              <a:spcBef>
                <a:spcPts val="0"/>
              </a:spcBef>
              <a:spcAft>
                <a:spcPts val="0"/>
              </a:spcAft>
              <a:buClr>
                <a:srgbClr val="000000"/>
              </a:buClr>
              <a:buSzPts val="5100"/>
              <a:buFont typeface="Helvetica Neue"/>
              <a:buNone/>
            </a:pPr>
            <a:r>
              <a:rPr b="1" i="0" lang="en-US" sz="5100" u="none" cap="none" strike="noStrike">
                <a:solidFill>
                  <a:srgbClr val="000000"/>
                </a:solidFill>
                <a:latin typeface="Helvetica Neue"/>
                <a:ea typeface="Helvetica Neue"/>
                <a:cs typeface="Helvetica Neue"/>
                <a:sym typeface="Helvetica Neue"/>
              </a:rPr>
              <a:t>Define the work before</a:t>
            </a:r>
            <a:br>
              <a:rPr b="1" i="0" lang="en-US" sz="5100" u="none" cap="none" strike="noStrike">
                <a:solidFill>
                  <a:srgbClr val="000000"/>
                </a:solidFill>
                <a:latin typeface="Helvetica Neue"/>
                <a:ea typeface="Helvetica Neue"/>
                <a:cs typeface="Helvetica Neue"/>
                <a:sym typeface="Helvetica Neue"/>
              </a:rPr>
            </a:br>
            <a:r>
              <a:rPr b="1" i="0" lang="en-US" sz="5100" u="none" cap="none" strike="noStrike">
                <a:solidFill>
                  <a:srgbClr val="000000"/>
                </a:solidFill>
                <a:latin typeface="Helvetica Neue"/>
                <a:ea typeface="Helvetica Neue"/>
                <a:cs typeface="Helvetica Neue"/>
                <a:sym typeface="Helvetica Neue"/>
              </a:rPr>
              <a:t>reading the speedup</a:t>
            </a:r>
            <a:endParaRPr b="0" i="0" sz="1400" u="none" cap="none" strike="noStrike">
              <a:solidFill>
                <a:srgbClr val="000000"/>
              </a:solidFill>
              <a:latin typeface="Arial"/>
              <a:ea typeface="Arial"/>
              <a:cs typeface="Arial"/>
              <a:sym typeface="Arial"/>
            </a:endParaRPr>
          </a:p>
        </p:txBody>
      </p:sp>
      <p:sp>
        <p:nvSpPr>
          <p:cNvPr id="323" name="Google Shape;323;p16"/>
          <p:cNvSpPr/>
          <p:nvPr/>
        </p:nvSpPr>
        <p:spPr>
          <a:xfrm>
            <a:off x="393668" y="4973288"/>
            <a:ext cx="3568732" cy="108023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3D8DFF"/>
              </a:buClr>
              <a:buSzPts val="1650"/>
              <a:buFont typeface="Helvetica Neue"/>
              <a:buNone/>
            </a:pPr>
            <a:r>
              <a:rPr b="1" i="0" lang="en-US" sz="1650" u="none" cap="none" strike="noStrike">
                <a:solidFill>
                  <a:srgbClr val="3D8DFF"/>
                </a:solidFill>
                <a:latin typeface="Helvetica Neue"/>
                <a:ea typeface="Helvetica Neue"/>
                <a:cs typeface="Helvetica Neue"/>
                <a:sym typeface="Helvetica Neue"/>
              </a:rPr>
              <a:t>≈3× from locality before parallelism</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50"/>
              <a:buFont typeface="Helvetica Neue"/>
              <a:buNone/>
            </a:pPr>
            <a:r>
              <a:rPr b="1" i="0" lang="en-US" sz="1650" u="none" cap="none" strike="noStrike">
                <a:solidFill>
                  <a:srgbClr val="000000"/>
                </a:solidFill>
                <a:latin typeface="Helvetica Neue"/>
                <a:ea typeface="Helvetica Neue"/>
                <a:cs typeface="Helvetica Neue"/>
                <a:sym typeface="Helvetica Neue"/>
              </a:rPr>
              <a:t>OpenMP depends on matrix shape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50"/>
              <a:buFont typeface="Helvetica Neue"/>
              <a:buNone/>
            </a:pPr>
            <a:r>
              <a:rPr b="1" i="0" lang="en-US" sz="1650" u="none" cap="none" strike="noStrike">
                <a:solidFill>
                  <a:srgbClr val="000000"/>
                </a:solidFill>
                <a:latin typeface="Helvetica Neue"/>
                <a:ea typeface="Helvetica Neue"/>
                <a:cs typeface="Helvetica Neue"/>
                <a:sym typeface="Helvetica Neue"/>
              </a:rPr>
              <a:t>MPI rank count also changes batch semantics</a:t>
            </a:r>
            <a:endParaRPr b="0" i="0" sz="1400" u="none" cap="none" strike="noStrike">
              <a:solidFill>
                <a:srgbClr val="000000"/>
              </a:solidFill>
              <a:latin typeface="Arial"/>
              <a:ea typeface="Arial"/>
              <a:cs typeface="Arial"/>
              <a:sym typeface="Arial"/>
            </a:endParaRPr>
          </a:p>
        </p:txBody>
      </p:sp>
      <p:sp>
        <p:nvSpPr>
          <p:cNvPr id="324" name="Google Shape;324;p16"/>
          <p:cNvSpPr/>
          <p:nvPr/>
        </p:nvSpPr>
        <p:spPr>
          <a:xfrm>
            <a:off x="393668" y="392240"/>
            <a:ext cx="1612868" cy="649129"/>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B616B"/>
              </a:buClr>
              <a:buSzPts val="1350"/>
              <a:buFont typeface="Helvetica Neue"/>
              <a:buNone/>
            </a:pPr>
            <a:r>
              <a:rPr b="1" i="0" lang="en-US" sz="1350" u="none" cap="none" strike="noStrike">
                <a:solidFill>
                  <a:srgbClr val="5B616B"/>
                </a:solidFill>
                <a:latin typeface="Helvetica Neue"/>
                <a:ea typeface="Helvetica Neue"/>
                <a:cs typeface="Helvetica Neue"/>
                <a:sym typeface="Helvetica Neue"/>
              </a:rPr>
              <a:t>CONCLUSION</a:t>
            </a:r>
            <a:endParaRPr b="0" i="0" sz="1400" u="none" cap="none" strike="noStrike">
              <a:solidFill>
                <a:srgbClr val="000000"/>
              </a:solidFill>
              <a:latin typeface="Arial"/>
              <a:ea typeface="Arial"/>
              <a:cs typeface="Arial"/>
              <a:sym typeface="Arial"/>
            </a:endParaRPr>
          </a:p>
        </p:txBody>
      </p:sp>
      <p:sp>
        <p:nvSpPr>
          <p:cNvPr id="325" name="Google Shape;325;p16"/>
          <p:cNvSpPr/>
          <p:nvPr/>
        </p:nvSpPr>
        <p:spPr>
          <a:xfrm>
            <a:off x="7572375" y="4762500"/>
            <a:ext cx="4219575" cy="1238250"/>
          </a:xfrm>
          <a:prstGeom prst="roundRect">
            <a:avLst>
              <a:gd fmla="val 6154" name="adj"/>
            </a:avLst>
          </a:prstGeom>
          <a:solidFill>
            <a:srgbClr val="EAF5FB"/>
          </a:solidFill>
          <a:ln cap="flat" cmpd="sng" w="9525">
            <a:solidFill>
              <a:srgbClr val="6DCBF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16"/>
          <p:cNvSpPr/>
          <p:nvPr/>
        </p:nvSpPr>
        <p:spPr>
          <a:xfrm>
            <a:off x="7848600" y="4981575"/>
            <a:ext cx="1714500" cy="24765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rPr b="1" i="0" lang="en-US" sz="1350" u="none" cap="none" strike="noStrike">
                <a:solidFill>
                  <a:srgbClr val="3D8DFF"/>
                </a:solidFill>
                <a:latin typeface="Helvetica Neue"/>
                <a:ea typeface="Helvetica Neue"/>
                <a:cs typeface="Helvetica Neue"/>
                <a:sym typeface="Helvetica Neue"/>
              </a:rPr>
              <a:t>Next experiment</a:t>
            </a:r>
            <a:endParaRPr b="0" i="0" sz="1400" u="none" cap="none" strike="noStrike">
              <a:solidFill>
                <a:srgbClr val="000000"/>
              </a:solidFill>
              <a:latin typeface="Arial"/>
              <a:ea typeface="Arial"/>
              <a:cs typeface="Arial"/>
              <a:sym typeface="Arial"/>
            </a:endParaRPr>
          </a:p>
        </p:txBody>
      </p:sp>
      <p:sp>
        <p:nvSpPr>
          <p:cNvPr id="327" name="Google Shape;327;p16"/>
          <p:cNvSpPr/>
          <p:nvPr/>
        </p:nvSpPr>
        <p:spPr>
          <a:xfrm>
            <a:off x="7848600" y="5314950"/>
            <a:ext cx="3638550" cy="47625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25"/>
              <a:buFont typeface="Arial"/>
              <a:buNone/>
            </a:pPr>
            <a:r>
              <a:rPr b="0" i="0" lang="en-US" sz="1425" u="none" cap="none" strike="noStrike">
                <a:solidFill>
                  <a:srgbClr val="5B616B"/>
                </a:solidFill>
                <a:latin typeface="Helvetica Neue"/>
                <a:ea typeface="Helvetica Neue"/>
                <a:cs typeface="Helvetica Neue"/>
                <a:sym typeface="Helvetica Neue"/>
              </a:rPr>
              <a:t>hybrid MPI + OpenMP</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