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12192000"/>
  <p:notesSz cx="6858000" cy="9144000"/>
  <p:embeddedFontLst>
    <p:embeddedFont>
      <p:font typeface="Helvetica Neue"/>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A91943F-CF74-4FE7-8ED7-1DBE6B88E614}">
  <a:tblStyle styleId="{8A91943F-CF74-4FE7-8ED7-1DBE6B88E614}"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HelveticaNeue-regular.fntdata"/><Relationship Id="rId11" Type="http://schemas.openxmlformats.org/officeDocument/2006/relationships/slide" Target="slides/slide6.xml"/><Relationship Id="rId22" Type="http://schemas.openxmlformats.org/officeDocument/2006/relationships/font" Target="fonts/HelveticaNeue-italic.fntdata"/><Relationship Id="rId10" Type="http://schemas.openxmlformats.org/officeDocument/2006/relationships/slide" Target="slides/slide5.xml"/><Relationship Id="rId21" Type="http://schemas.openxmlformats.org/officeDocument/2006/relationships/font" Target="fonts/HelveticaNeue-bold.fntdata"/><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font" Target="fonts/HelveticaNeue-bold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0:20.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Introduce the project as a controlled systems study of a compact two-layer neural network. The focus is not a new model: it is how locality, thread-level work, and MPI synchronization change training 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Cover visual generated with built-in ImageGen for this presentation; prompt recorded in .pptx_build/source-notes.txt</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 name="Google Shape;24;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arithmetic and training loop remain the same across four implementations. The direct version is the reference. Tiling and transpose packing improve the local kernel. OpenMP adds shared-memory work sharing inside one mini-batch. MPI gives each process a data slice and a complete model, then synchronizes gradient sums.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structure lets the results answer three linked questions: how much locality helps, how the available work limits OpenMP, and how MPI synchronization changes the meaning of a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25" name="Google Shape;25;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g3f5ef52b553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9" name="Google Shape;39;g3f5ef52b553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 name="Google Shape;40;g3f5ef52b553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SzPts val="1800"/>
              <a:buFont typeface="Arial"/>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1:05.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Define mini-batching in plain language. An epoch visits every sample. Instead of waiting until the whole dataset is finished, the program takes a small group, performs a forward pass, accumulates the backward gradients, and updates the weights once.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next mini-batch sees the updated weights, so batches are sequential. If the dataset does not divide evenly, the shorter final batch still produces one correctly normalized update.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For 5,000 samples and batch 64, sequential and OpenMP perform 79 updates per epoch.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Code/src/train_seq.c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47" name="Google Shape;47;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first optimization is local: tile the matrix operations and pack the required logical transposes so the innermost loops access contiguous data more effectively.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OpenMP then divides output tiles among threads inside the current mini-batch. Each tile has exactly one owner, and that owner covers the full reduction dimension. This avoids atomics and private partial matrices.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amount of useful parallel work is therefore related to the shape and number of output tiles. A large reduction dimension alone does not guarantee that every thread has an output tile to own.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76" name="Google Shape;76;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Rank 0 creates the dataset and scatters a balanced contiguous slice to each rank. Every process holds a complete model initialized identically.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each synchronized round, every rank computes a gradient sum over one local mini-batch. One Allreduce sums the actual sample counts; four more Allreduces sum the hidden weights, hidden biases, output weights, and output biases. All ranks receive the same global sums and apply the same update, so the replicas stay synchronized.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command-line batch is local. With four ranks and local batch 64, one update uses up to 256 samples. This is the key semantic difference from sequential and OpenMP.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Code/src/main_mpi_train.c</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24" name="Google Shape;12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study uses two shapes: a canonical 1024–1536–10 network and a large-input 178608–448–10 network. Every configuration has two warmups followed by five timed repetitions, producing 525 measurements from 105 configurations.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Training time is summarized by the median, with the interquartile range describing the middle half of the runs. Setup and the final evaluation are outside the training timer. MPI time is the maximum across ranks because the slowest process determines completion.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All supplied MPI experiments run on one compute node; they are not multi-node scaling results.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Code/results/</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145" name="Google Shape;14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 name="Google Shape;161;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Before adding threads or MPI processes, the cache-aware sequential path is already about three times faster.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On the canonical workload, the median falls from 269.184 seconds to 87.423 seconds, a 3.08-times improvement. The large-input workload falls from 1114.349 seconds to 371.809 seconds, a 3.00-times improvement.</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Tiling and packed-transpose handling were added together, so the experiment does not attribute a separate gain to either technique.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Code/results/exp1_seq_baseline.csv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62" name="Google Shape;162;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canonical workload improves until 32 threads, reaching 4.647 seconds and a 10.58-times self-speedup. At 64 threads it becomes slightly slower.</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large-input workload continues to improve through 64 threads, where it reaches 7.289 seconds and a 24.43-times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implementation assigns output tiles to threads. A small batch or narrow output matrix can expose too few tiles, leaving some threads with no tile even when the reduction dimension is large. The useful thread count therefore depends on the actual matrix shape.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Code/plots/cross_experiment/seq_vs_omp.png</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76" name="Google Shape;176;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This table explains the previous scaling result at operation level. The tile count is the number of independent output tiles produced by ceil(rows divided by 64) times ceil(columns divided by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canonical workload, several kernels expose only 24 tiles and the output forward pass exposes only one. The hidden-weight gradient is the most parallel operation, with 384 tiles.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In the large-input workload, the narrow hidden layer gives only seven tiles in several batch-shaped operations, but the enormous 448 by 178608 hidden-weight gradient exposes 19,537 output tiles. That operation provides much more parallel work and helps amortize the overhead of 64 threads.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result should still be described as a combination of tile-level parallelism and overhead, not as proof that tile count alone determines runtime.</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Code/src/train_omp.c</a:t>
            </a:r>
            <a:endParaRPr/>
          </a:p>
          <a:p>
            <a:pPr indent="0" lvl="0" marL="0" rtl="0" algn="l">
              <a:lnSpc>
                <a:spcPct val="100000"/>
              </a:lnSpc>
              <a:spcBef>
                <a:spcPts val="0"/>
              </a:spcBef>
              <a:spcAft>
                <a:spcPts val="0"/>
              </a:spcAft>
              <a:buSzPts val="1400"/>
              <a:buNone/>
            </a:pPr>
            <a:r>
              <a:rPr lang="en-US" sz="1200"/>
              <a:t>- /Users/rowantangalin/Desktop/parco_prep/Project Code/src/math_omp.c</a:t>
            </a:r>
            <a:endParaRPr/>
          </a:p>
          <a:p>
            <a:pPr indent="0" lvl="0" marL="0" rtl="0" algn="l">
              <a:lnSpc>
                <a:spcPct val="100000"/>
              </a:lnSpc>
              <a:spcBef>
                <a:spcPts val="0"/>
              </a:spcBef>
              <a:spcAft>
                <a:spcPts val="0"/>
              </a:spcAft>
              <a:buSzPts val="1400"/>
              <a:buNone/>
            </a:pPr>
            <a:r>
              <a:rPr lang="en-US" sz="1200"/>
              <a:t>- /Users/rowantangalin/Desktop/parco_prep/Project Code/results/exp2_omp_strong.csv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192" name="Google Shape;19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1:35.</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MPI training time falls from 73.683 seconds at one rank to 3.586 seconds at 64 ranks, producing a 20.55-times self-speedup.</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But the local batch remains 64 per rank. The effective global batch therefore rises from 64 to 4096, while updates per epoch fall from 79 to 2.</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entire dataset is still processed every epoch, but it is grouped into far fewer synchronized updates. The result is valid for the implemented configuration, yet it is not pure strong scaling of an unchanged training schedule and should not be read as a direct MPI-versus-OpenMP ranking.</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Code/plots/cross_experiment/omp_vs_mpi_strong.png</a:t>
            </a:r>
            <a:endParaRPr/>
          </a:p>
          <a:p>
            <a:pPr indent="0" lvl="0" marL="0" rtl="0" algn="l">
              <a:lnSpc>
                <a:spcPct val="100000"/>
              </a:lnSpc>
              <a:spcBef>
                <a:spcPts val="0"/>
              </a:spcBef>
              <a:spcAft>
                <a:spcPts val="0"/>
              </a:spcAft>
              <a:buSzPts val="1400"/>
              <a:buNone/>
            </a:pPr>
            <a:r>
              <a:rPr lang="en-US" sz="1200"/>
              <a:t>- /Users/rowantangalin/Desktop/parco_prep/Project Code/results/exp3_mpi_strong.csv</a:t>
            </a:r>
            <a:endParaRPr/>
          </a:p>
          <a:p>
            <a:pPr indent="0" lvl="0" marL="0" rtl="0" algn="l">
              <a:lnSpc>
                <a:spcPct val="100000"/>
              </a:lnSpc>
              <a:spcBef>
                <a:spcPts val="0"/>
              </a:spcBef>
              <a:spcAft>
                <a:spcPts val="0"/>
              </a:spcAft>
              <a:buSzPts val="1400"/>
              <a:buNone/>
            </a:pPr>
            <a:r>
              <a:rPr lang="en-US" sz="1200"/>
              <a:t>- /Users/rowantangalin/Desktop/parco_prep/Project Code/src/train_mpi.c</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08" name="Google Shape;2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Weak scaling asks whether runtime remains close to constant as workers and total work grow.</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OpenMP experiment widens the hidden layer with the thread count. Runtime rises from 5.764 to 33.661 seconds, giving 17.12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MPI experiment keeps the model fixed and adds 500 samples per rank. Runtime rises from 7.458 to 18.294 seconds, giving 40.77 percent endpoint efficiency.</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These percentages answer different questions. Growing a model changes parameter count, matrix shapes, memory behavior, and arithmetic per sample. Growing a dataset keeps the model fixed but adds data and collective participants. They should not be used to rank OpenMP and MPI.</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Code/results/exp4_omp_weak.csv</a:t>
            </a:r>
            <a:endParaRPr/>
          </a:p>
          <a:p>
            <a:pPr indent="0" lvl="0" marL="0" rtl="0" algn="l">
              <a:lnSpc>
                <a:spcPct val="100000"/>
              </a:lnSpc>
              <a:spcBef>
                <a:spcPts val="0"/>
              </a:spcBef>
              <a:spcAft>
                <a:spcPts val="0"/>
              </a:spcAft>
              <a:buSzPts val="1400"/>
              <a:buNone/>
            </a:pPr>
            <a:r>
              <a:rPr lang="en-US" sz="1200"/>
              <a:t>- /Users/rowantangalin/Desktop/parco_prep/Project Code/results/exp5_mpi_weak.csv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226" name="Google Shape;226;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1:10.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Across the tested 1-, 16-, and 64-rank cases, tile 256 is the fastest tested value. It improves training time by between 8.66 and 13.37 percent relative to tile 64.</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Larger mini-batches also often reduce runtime because they produce fewer updates and amortize fixed thread-team or collective costs. In MPI, remember that the batch argument is local, so increasing it also increases the effective global batch.</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The broader point is that tile size and batch convention are part of the experimental configuration. They must be stated when a speedup is interpreted.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Code/plots/cross_experiment/mpi_tile_tuning_impact.png</a:t>
            </a:r>
            <a:endParaRPr/>
          </a:p>
          <a:p>
            <a:pPr indent="0" lvl="0" marL="0" rtl="0" algn="l">
              <a:lnSpc>
                <a:spcPct val="100000"/>
              </a:lnSpc>
              <a:spcBef>
                <a:spcPts val="0"/>
              </a:spcBef>
              <a:spcAft>
                <a:spcPts val="0"/>
              </a:spcAft>
              <a:buSzPts val="1400"/>
              <a:buNone/>
            </a:pPr>
            <a:r>
              <a:rPr lang="en-US" sz="1200"/>
              <a:t>- /Users/rowantangalin/Desktop/parco_prep/Project Code/results/exp6_mpi_tile.csv</a:t>
            </a:r>
            <a:endParaRPr/>
          </a:p>
          <a:p>
            <a:pPr indent="0" lvl="0" marL="0" rtl="0" algn="l">
              <a:lnSpc>
                <a:spcPct val="100000"/>
              </a:lnSpc>
              <a:spcBef>
                <a:spcPts val="0"/>
              </a:spcBef>
              <a:spcAft>
                <a:spcPts val="0"/>
              </a:spcAft>
              <a:buSzPts val="1400"/>
              <a:buNone/>
            </a:pPr>
            <a:r>
              <a:rPr lang="en-US" sz="1200"/>
              <a:t>- /Users/rowantangalin/Desktop/parco_prep/Project Code/results/exp7_batch_seq_omp.csv</a:t>
            </a:r>
            <a:endParaRPr/>
          </a:p>
          <a:p>
            <a:pPr indent="0" lvl="0" marL="0" rtl="0" algn="l">
              <a:lnSpc>
                <a:spcPct val="100000"/>
              </a:lnSpc>
              <a:spcBef>
                <a:spcPts val="0"/>
              </a:spcBef>
              <a:spcAft>
                <a:spcPts val="0"/>
              </a:spcAft>
              <a:buSzPts val="1400"/>
              <a:buNone/>
            </a:pPr>
            <a:r>
              <a:rPr lang="en-US" sz="1200"/>
              <a:t>- /Users/rowantangalin/Desktop/parco_prep/Project Code/results/exp7_batch_mpi.csv</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p:txBody>
      </p:sp>
      <p:sp>
        <p:nvSpPr>
          <p:cNvPr id="300" name="Google Shape;30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t>Target: 1:20.</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Close with the methodological lesson. Locality produces the first major improvement before parallelism. OpenMP scaling depends on the amount and shape of work exposed inside a batch. MPI reduces elapsed time, but its local-batch convention also changes the effective global batch and the number of updates.</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speedup becomes meaningful only after stating what stayed fixed, what grew, and how often synchronization occurred.</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A stricter next comparison would keep the global batch and updates per epoch fixed, use equal core counts and placement, collect hardware and communication profiles, and then compare pure OpenMP, pure MPI, and a hybrid design.</a:t>
            </a:r>
            <a:endParaRPr/>
          </a:p>
          <a:p>
            <a:pPr indent="0" lvl="0" marL="0" rtl="0" algn="l">
              <a:lnSpc>
                <a:spcPct val="100000"/>
              </a:lnSpc>
              <a:spcBef>
                <a:spcPts val="0"/>
              </a:spcBef>
              <a:spcAft>
                <a:spcPts val="0"/>
              </a:spcAft>
              <a:buSzPts val="1400"/>
              <a:buNone/>
            </a:pPr>
            <a:r>
              <a:t/>
            </a:r>
            <a:endParaRPr sz="1200"/>
          </a:p>
          <a:p>
            <a:pPr indent="0" lvl="0" marL="0" rtl="0" algn="l">
              <a:lnSpc>
                <a:spcPct val="100000"/>
              </a:lnSpc>
              <a:spcBef>
                <a:spcPts val="0"/>
              </a:spcBef>
              <a:spcAft>
                <a:spcPts val="0"/>
              </a:spcAft>
              <a:buSzPts val="1400"/>
              <a:buNone/>
            </a:pPr>
            <a:r>
              <a:rPr lang="en-US" sz="1200"/>
              <a:t>[Sources]</a:t>
            </a:r>
            <a:endParaRPr/>
          </a:p>
          <a:p>
            <a:pPr indent="0" lvl="0" marL="0" rtl="0" algn="l">
              <a:lnSpc>
                <a:spcPct val="100000"/>
              </a:lnSpc>
              <a:spcBef>
                <a:spcPts val="0"/>
              </a:spcBef>
              <a:spcAft>
                <a:spcPts val="0"/>
              </a:spcAft>
              <a:buSzPts val="1400"/>
              <a:buNone/>
            </a:pPr>
            <a:r>
              <a:rPr lang="en-US" sz="1200"/>
              <a:t>- /Users/rowantangalin/Desktop/parco_prep/Project report/p2d_report_conference_corrected.tex</a:t>
            </a:r>
            <a:endParaRPr/>
          </a:p>
          <a:p>
            <a:pPr indent="0" lvl="0" marL="0" rtl="0" algn="l">
              <a:lnSpc>
                <a:spcPct val="100000"/>
              </a:lnSpc>
              <a:spcBef>
                <a:spcPts val="0"/>
              </a:spcBef>
              <a:spcAft>
                <a:spcPts val="0"/>
              </a:spcAft>
              <a:buSzPts val="1400"/>
              <a:buNone/>
            </a:pPr>
            <a:r>
              <a:rPr lang="en-US" sz="1200"/>
              <a:t>- /Users/rowantangalin/Desktop/parco_prep/Project Code/README.md</a:t>
            </a:r>
            <a:endParaRPr/>
          </a:p>
        </p:txBody>
      </p:sp>
      <p:sp>
        <p:nvSpPr>
          <p:cNvPr id="320" name="Google Shape;320;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geeksforgeeks.org/deep-learning/feedforward-neural-networ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hyperlink" Target="https://www.researchgate.net/figure/Tiled-matrix-multiplication-pseudocode-2_fig1_39533890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Helvetica Neue"/>
              <a:ea typeface="Helvetica Neue"/>
              <a:cs typeface="Helvetica Neue"/>
              <a:sym typeface="Helvetica Neue"/>
            </a:endParaRPr>
          </a:p>
        </p:txBody>
      </p:sp>
      <p:sp>
        <p:nvSpPr>
          <p:cNvPr id="17" name="Google Shape;17;p3"/>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INTRODUCTION TO PARALLEL COMPUTING · 2025–2026</a:t>
            </a:r>
            <a:endParaRPr b="0" i="0" sz="1400" u="none" cap="none" strike="noStrike">
              <a:solidFill>
                <a:srgbClr val="000000"/>
              </a:solidFill>
              <a:latin typeface="Arial"/>
              <a:ea typeface="Arial"/>
              <a:cs typeface="Arial"/>
              <a:sym typeface="Arial"/>
            </a:endParaRPr>
          </a:p>
        </p:txBody>
      </p:sp>
      <p:sp>
        <p:nvSpPr>
          <p:cNvPr id="18" name="Google Shape;18;p3"/>
          <p:cNvSpPr/>
          <p:nvPr/>
        </p:nvSpPr>
        <p:spPr>
          <a:xfrm>
            <a:off x="6269069" y="396431"/>
            <a:ext cx="5539740" cy="5602034"/>
          </a:xfrm>
          <a:prstGeom prst="roundRect">
            <a:avLst>
              <a:gd fmla="val 1376" name="adj"/>
            </a:avLst>
          </a:prstGeom>
          <a:solidFill>
            <a:srgbClr val="EAF5FB"/>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393668" y="2031968"/>
            <a:ext cx="5537168" cy="3962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050"/>
              <a:buFont typeface="Helvetica Neue"/>
              <a:buNone/>
            </a:pPr>
            <a:r>
              <a:rPr b="1" i="0" lang="en-US" sz="4050" u="none" cap="none" strike="noStrike">
                <a:solidFill>
                  <a:srgbClr val="000000"/>
                </a:solidFill>
                <a:latin typeface="Helvetica Neue"/>
                <a:ea typeface="Helvetica Neue"/>
                <a:cs typeface="Helvetica Neue"/>
                <a:sym typeface="Helvetica Neue"/>
              </a:rPr>
              <a:t>Parallel Feedforward</a:t>
            </a:r>
            <a:br>
              <a:rPr b="1" i="0" lang="en-US" sz="4050" u="none" cap="none" strike="noStrike">
                <a:solidFill>
                  <a:srgbClr val="000000"/>
                </a:solidFill>
                <a:latin typeface="Helvetica Neue"/>
                <a:ea typeface="Helvetica Neue"/>
                <a:cs typeface="Helvetica Neue"/>
                <a:sym typeface="Helvetica Neue"/>
              </a:rPr>
            </a:br>
            <a:r>
              <a:rPr b="1" i="0" lang="en-US" sz="4050" u="none" cap="none" strike="noStrike">
                <a:solidFill>
                  <a:srgbClr val="000000"/>
                </a:solidFill>
                <a:latin typeface="Helvetica Neue"/>
                <a:ea typeface="Helvetica Neue"/>
                <a:cs typeface="Helvetica Neue"/>
                <a:sym typeface="Helvetica Neue"/>
              </a:rPr>
              <a:t>Neural Network</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1200"/>
              </a:spcBef>
              <a:spcAft>
                <a:spcPts val="0"/>
              </a:spcAft>
              <a:buClr>
                <a:srgbClr val="5B616B"/>
              </a:buClr>
              <a:buSzPts val="1650"/>
              <a:buFont typeface="Helvetica Neue"/>
              <a:buNone/>
            </a:pPr>
            <a:r>
              <a:rPr b="0" i="0" lang="en-US" sz="1650" u="none" cap="none" strike="noStrike">
                <a:solidFill>
                  <a:srgbClr val="5B616B"/>
                </a:solidFill>
                <a:latin typeface="Helvetica Neue"/>
                <a:ea typeface="Helvetica Neue"/>
                <a:cs typeface="Helvetica Neue"/>
                <a:sym typeface="Helvetica Neue"/>
              </a:rPr>
              <a:t>Locality, OpenMP and single-node MPI</a:t>
            </a:r>
            <a:br>
              <a:rPr b="0" i="0" lang="en-US" sz="1650" u="none" cap="none" strike="noStrike">
                <a:solidFill>
                  <a:srgbClr val="5B616B"/>
                </a:solidFill>
                <a:latin typeface="Helvetica Neue"/>
                <a:ea typeface="Helvetica Neue"/>
                <a:cs typeface="Helvetica Neue"/>
                <a:sym typeface="Helvetica Neue"/>
              </a:rPr>
            </a:br>
            <a:br>
              <a:rPr b="0" i="0" lang="en-US" sz="1650" u="none" cap="none" strike="noStrike">
                <a:solidFill>
                  <a:srgbClr val="5B616B"/>
                </a:solidFill>
                <a:latin typeface="Helvetica Neue"/>
                <a:ea typeface="Helvetica Neue"/>
                <a:cs typeface="Helvetica Neue"/>
                <a:sym typeface="Helvetica Neue"/>
              </a:rPr>
            </a:br>
            <a:r>
              <a:rPr b="0" i="0" lang="en-US" sz="1650" u="none" cap="none" strike="noStrike">
                <a:solidFill>
                  <a:srgbClr val="5B616B"/>
                </a:solidFill>
                <a:latin typeface="Helvetica Neue"/>
                <a:ea typeface="Helvetica Neue"/>
                <a:cs typeface="Helvetica Neue"/>
                <a:sym typeface="Helvetica Neue"/>
              </a:rPr>
              <a:t>Rowan Li Tangalin · ID 242920</a:t>
            </a:r>
            <a:endParaRPr b="0" i="0" sz="1400" u="none" cap="none" strike="noStrike">
              <a:solidFill>
                <a:srgbClr val="000000"/>
              </a:solidFill>
              <a:latin typeface="Arial"/>
              <a:ea typeface="Arial"/>
              <a:cs typeface="Arial"/>
              <a:sym typeface="Arial"/>
            </a:endParaRPr>
          </a:p>
        </p:txBody>
      </p:sp>
      <p:pic>
        <p:nvPicPr>
          <p:cNvPr id="20" name="Google Shape;20;p3"/>
          <p:cNvPicPr preferRelativeResize="0"/>
          <p:nvPr/>
        </p:nvPicPr>
        <p:blipFill rotWithShape="1">
          <a:blip r:embed="rId3">
            <a:alphaModFix/>
          </a:blip>
          <a:srcRect b="0" l="0" r="0" t="0"/>
          <a:stretch/>
        </p:blipFill>
        <p:spPr>
          <a:xfrm>
            <a:off x="6709863" y="2005620"/>
            <a:ext cx="4658150" cy="2383675"/>
          </a:xfrm>
          <a:prstGeom prst="rect">
            <a:avLst/>
          </a:prstGeom>
          <a:noFill/>
          <a:ln>
            <a:noFill/>
          </a:ln>
        </p:spPr>
      </p:pic>
      <p:sp>
        <p:nvSpPr>
          <p:cNvPr id="21" name="Google Shape;21;p3"/>
          <p:cNvSpPr txBox="1"/>
          <p:nvPr/>
        </p:nvSpPr>
        <p:spPr>
          <a:xfrm>
            <a:off x="7354000" y="4590875"/>
            <a:ext cx="3449700" cy="18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US" sz="600" u="sng" cap="none" strike="noStrike">
                <a:solidFill>
                  <a:schemeClr val="hlink"/>
                </a:solidFill>
                <a:latin typeface="Arial"/>
                <a:ea typeface="Arial"/>
                <a:cs typeface="Arial"/>
                <a:sym typeface="Arial"/>
                <a:hlinkClick r:id="rId4"/>
              </a:rPr>
              <a:t>https://www.geeksforgeeks.org/deep-learning/feedforward-neural-network/</a:t>
            </a:r>
            <a:endParaRPr b="0" i="0" sz="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11279219" y="6278594"/>
            <a:ext cx="519113"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8" name="Google Shape;28;p4"/>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The same training loop is implemented four ways</a:t>
            </a:r>
            <a:endParaRPr b="0" i="0" sz="1400" u="none" cap="none" strike="noStrike">
              <a:solidFill>
                <a:srgbClr val="000000"/>
              </a:solidFill>
              <a:latin typeface="Arial"/>
              <a:ea typeface="Arial"/>
              <a:cs typeface="Arial"/>
              <a:sym typeface="Arial"/>
            </a:endParaRPr>
          </a:p>
        </p:txBody>
      </p:sp>
      <p:sp>
        <p:nvSpPr>
          <p:cNvPr id="29" name="Google Shape;29;p4"/>
          <p:cNvSpPr/>
          <p:nvPr/>
        </p:nvSpPr>
        <p:spPr>
          <a:xfrm>
            <a:off x="393668"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Direct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Reference execution</a:t>
            </a:r>
            <a:endParaRPr b="0" i="0" sz="1400" u="none" cap="none" strike="noStrike">
              <a:solidFill>
                <a:srgbClr val="000000"/>
              </a:solidFill>
              <a:latin typeface="Arial"/>
              <a:ea typeface="Arial"/>
              <a:cs typeface="Arial"/>
              <a:sym typeface="Arial"/>
            </a:endParaRPr>
          </a:p>
        </p:txBody>
      </p:sp>
      <p:sp>
        <p:nvSpPr>
          <p:cNvPr id="30" name="Google Shape;30;p4"/>
          <p:cNvSpPr/>
          <p:nvPr/>
        </p:nvSpPr>
        <p:spPr>
          <a:xfrm>
            <a:off x="6256592" y="2031968"/>
            <a:ext cx="5537168" cy="1643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Tiled sequential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Cache-aware GEMM with packed logical transposes.</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393668"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OpenMP</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Threads divide regular work inside the current mini-batch.</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a:off x="6256592" y="4016978"/>
            <a:ext cx="5537168" cy="164315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MPI</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Replicated models sum gradients across distinct data slices.</a:t>
            </a:r>
            <a:endParaRPr b="0" i="0" sz="1400" u="none" cap="none" strike="noStrike">
              <a:solidFill>
                <a:srgbClr val="000000"/>
              </a:solidFill>
              <a:latin typeface="Arial"/>
              <a:ea typeface="Arial"/>
              <a:cs typeface="Arial"/>
              <a:sym typeface="Arial"/>
            </a:endParaRPr>
          </a:p>
        </p:txBody>
      </p:sp>
      <p:sp>
        <p:nvSpPr>
          <p:cNvPr id="33" name="Google Shape;33;p4"/>
          <p:cNvSpPr/>
          <p:nvPr/>
        </p:nvSpPr>
        <p:spPr>
          <a:xfrm>
            <a:off x="266700" y="2070068"/>
            <a:ext cx="57150" cy="1123950"/>
          </a:xfrm>
          <a:prstGeom prst="rect">
            <a:avLst/>
          </a:prstGeom>
          <a:solidFill>
            <a:srgbClr val="B8BCC4"/>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4"/>
          <p:cNvSpPr/>
          <p:nvPr/>
        </p:nvSpPr>
        <p:spPr>
          <a:xfrm>
            <a:off x="6134100" y="2070068"/>
            <a:ext cx="57150" cy="1123950"/>
          </a:xfrm>
          <a:prstGeom prst="rect">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2667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4"/>
          <p:cNvSpPr/>
          <p:nvPr/>
        </p:nvSpPr>
        <p:spPr>
          <a:xfrm>
            <a:off x="6134100" y="4055078"/>
            <a:ext cx="57150" cy="1123950"/>
          </a:xfrm>
          <a:prstGeom prst="rect">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pic>
        <p:nvPicPr>
          <p:cNvPr id="42" name="Google Shape;42;p5"/>
          <p:cNvPicPr preferRelativeResize="0"/>
          <p:nvPr/>
        </p:nvPicPr>
        <p:blipFill>
          <a:blip r:embed="rId3">
            <a:alphaModFix/>
          </a:blip>
          <a:stretch>
            <a:fillRect/>
          </a:stretch>
        </p:blipFill>
        <p:spPr>
          <a:xfrm>
            <a:off x="2047875" y="1676400"/>
            <a:ext cx="8096250" cy="3505200"/>
          </a:xfrm>
          <a:prstGeom prst="rect">
            <a:avLst/>
          </a:prstGeom>
          <a:noFill/>
          <a:ln>
            <a:noFill/>
          </a:ln>
        </p:spPr>
      </p:pic>
      <p:sp>
        <p:nvSpPr>
          <p:cNvPr id="43" name="Google Shape;43;p5"/>
          <p:cNvSpPr txBox="1"/>
          <p:nvPr/>
        </p:nvSpPr>
        <p:spPr>
          <a:xfrm>
            <a:off x="4040550" y="5181600"/>
            <a:ext cx="4110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u="sng">
                <a:solidFill>
                  <a:schemeClr val="hlink"/>
                </a:solidFill>
                <a:hlinkClick r:id="rId4"/>
              </a:rPr>
              <a:t>https://www.researchgate.net/figure/Tiled-matrix-multiplication-pseudocode-2_fig1_395338903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 name="Shape 48"/>
        <p:cNvGrpSpPr/>
        <p:nvPr/>
      </p:nvGrpSpPr>
      <p:grpSpPr>
        <a:xfrm>
          <a:off x="0" y="0"/>
          <a:ext cx="0" cy="0"/>
          <a:chOff x="0" y="0"/>
          <a:chExt cx="0" cy="0"/>
        </a:xfrm>
      </p:grpSpPr>
      <p:sp>
        <p:nvSpPr>
          <p:cNvPr id="49" name="Google Shape;49;p6"/>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3</a:t>
            </a:r>
            <a:endParaRPr b="0" i="0" sz="1400" u="none" cap="none" strike="noStrike">
              <a:solidFill>
                <a:srgbClr val="000000"/>
              </a:solidFill>
              <a:latin typeface="Arial"/>
              <a:ea typeface="Arial"/>
              <a:cs typeface="Arial"/>
              <a:sym typeface="Arial"/>
            </a:endParaRPr>
          </a:p>
        </p:txBody>
      </p:sp>
      <p:sp>
        <p:nvSpPr>
          <p:cNvPr id="50" name="Google Shape;50;p6"/>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Training advances one mini-batch at a time</a:t>
            </a:r>
            <a:endParaRPr b="0" i="0" sz="1400" u="none" cap="none" strike="noStrike">
              <a:solidFill>
                <a:srgbClr val="000000"/>
              </a:solidFill>
              <a:latin typeface="Arial"/>
              <a:ea typeface="Arial"/>
              <a:cs typeface="Arial"/>
              <a:sym typeface="Arial"/>
            </a:endParaRPr>
          </a:p>
        </p:txBody>
      </p:sp>
      <p:cxnSp>
        <p:nvCxnSpPr>
          <p:cNvPr id="51" name="Google Shape;51;p6"/>
          <p:cNvCxnSpPr/>
          <p:nvPr/>
        </p:nvCxnSpPr>
        <p:spPr>
          <a:xfrm>
            <a:off x="337757" y="3373755"/>
            <a:ext cx="12245435" cy="286"/>
          </a:xfrm>
          <a:prstGeom prst="straightConnector1">
            <a:avLst/>
          </a:prstGeom>
          <a:noFill/>
          <a:ln cap="flat" cmpd="sng" w="9525">
            <a:solidFill>
              <a:srgbClr val="000000"/>
            </a:solidFill>
            <a:prstDash val="solid"/>
            <a:round/>
            <a:headEnd len="sm" w="sm" type="none"/>
            <a:tailEnd len="sm" w="sm" type="none"/>
          </a:ln>
        </p:spPr>
      </p:cxnSp>
      <p:sp>
        <p:nvSpPr>
          <p:cNvPr id="52" name="Google Shape;52;p6"/>
          <p:cNvSpPr/>
          <p:nvPr/>
        </p:nvSpPr>
        <p:spPr>
          <a:xfrm>
            <a:off x="337757"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6"/>
          <p:cNvSpPr/>
          <p:nvPr/>
        </p:nvSpPr>
        <p:spPr>
          <a:xfrm>
            <a:off x="42517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6"/>
          <p:cNvSpPr/>
          <p:nvPr/>
        </p:nvSpPr>
        <p:spPr>
          <a:xfrm>
            <a:off x="8176070" y="3320225"/>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6"/>
          <p:cNvSpPr/>
          <p:nvPr/>
        </p:nvSpPr>
        <p:spPr>
          <a:xfrm>
            <a:off x="39366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FORWARD</a:t>
            </a:r>
            <a:endParaRPr b="0" i="0" sz="1400" u="none" cap="none" strike="noStrike">
              <a:solidFill>
                <a:srgbClr val="000000"/>
              </a:solidFill>
              <a:latin typeface="Arial"/>
              <a:ea typeface="Arial"/>
              <a:cs typeface="Arial"/>
              <a:sym typeface="Arial"/>
            </a:endParaRPr>
          </a:p>
        </p:txBody>
      </p:sp>
      <p:sp>
        <p:nvSpPr>
          <p:cNvPr id="56" name="Google Shape;56;p6"/>
          <p:cNvSpPr/>
          <p:nvPr/>
        </p:nvSpPr>
        <p:spPr>
          <a:xfrm>
            <a:off x="4294156"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BACKWARD</a:t>
            </a:r>
            <a:endParaRPr b="0" i="0" sz="1400" u="none" cap="none" strike="noStrike">
              <a:solidFill>
                <a:srgbClr val="000000"/>
              </a:solidFill>
              <a:latin typeface="Arial"/>
              <a:ea typeface="Arial"/>
              <a:cs typeface="Arial"/>
              <a:sym typeface="Arial"/>
            </a:endParaRPr>
          </a:p>
        </p:txBody>
      </p:sp>
      <p:sp>
        <p:nvSpPr>
          <p:cNvPr id="57" name="Google Shape;57;p6"/>
          <p:cNvSpPr/>
          <p:nvPr/>
        </p:nvSpPr>
        <p:spPr>
          <a:xfrm>
            <a:off x="8223218" y="2843308"/>
            <a:ext cx="1612868" cy="26241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58" name="Google Shape;58;p6"/>
          <p:cNvSpPr/>
          <p:nvPr/>
        </p:nvSpPr>
        <p:spPr>
          <a:xfrm>
            <a:off x="4317111"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Accumulate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sample contributions into one batch gradient.</a:t>
            </a:r>
            <a:endParaRPr b="0" i="0" sz="1400" u="none" cap="none" strike="noStrike">
              <a:solidFill>
                <a:srgbClr val="000000"/>
              </a:solidFill>
              <a:latin typeface="Arial"/>
              <a:ea typeface="Arial"/>
              <a:cs typeface="Arial"/>
              <a:sym typeface="Arial"/>
            </a:endParaRPr>
          </a:p>
        </p:txBody>
      </p:sp>
      <p:sp>
        <p:nvSpPr>
          <p:cNvPr id="59" name="Google Shape;59;p6"/>
          <p:cNvSpPr/>
          <p:nvPr/>
        </p:nvSpPr>
        <p:spPr>
          <a:xfrm>
            <a:off x="39985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Predict</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Run the current batch through the two-layer network.</a:t>
            </a:r>
            <a:endParaRPr b="0" i="0" sz="1400" u="none" cap="none" strike="noStrike">
              <a:solidFill>
                <a:srgbClr val="000000"/>
              </a:solidFill>
              <a:latin typeface="Arial"/>
              <a:ea typeface="Arial"/>
              <a:cs typeface="Arial"/>
              <a:sym typeface="Arial"/>
            </a:endParaRPr>
          </a:p>
        </p:txBody>
      </p:sp>
      <p:sp>
        <p:nvSpPr>
          <p:cNvPr id="60" name="Google Shape;60;p6"/>
          <p:cNvSpPr/>
          <p:nvPr/>
        </p:nvSpPr>
        <p:spPr>
          <a:xfrm>
            <a:off x="8177879" y="3822668"/>
            <a:ext cx="3156109" cy="158629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Helvetica Neue"/>
              <a:buNone/>
            </a:pPr>
            <a:r>
              <a:rPr b="1" i="0" lang="en-US" sz="1950" u="none" cap="none" strike="noStrike">
                <a:solidFill>
                  <a:srgbClr val="000000"/>
                </a:solidFill>
                <a:latin typeface="Helvetica Neue"/>
                <a:ea typeface="Helvetica Neue"/>
                <a:cs typeface="Helvetica Neue"/>
                <a:sym typeface="Helvetica Neue"/>
              </a:rPr>
              <a:t>Change the model</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70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Apply one update, then move to the next batch.</a:t>
            </a:r>
            <a:endParaRPr b="0" i="0" sz="1400" u="none" cap="none" strike="noStrike">
              <a:solidFill>
                <a:srgbClr val="000000"/>
              </a:solidFill>
              <a:latin typeface="Arial"/>
              <a:ea typeface="Arial"/>
              <a:cs typeface="Arial"/>
              <a:sym typeface="Arial"/>
            </a:endParaRPr>
          </a:p>
        </p:txBody>
      </p:sp>
      <p:sp>
        <p:nvSpPr>
          <p:cNvPr id="61" name="Google Shape;61;p6"/>
          <p:cNvSpPr/>
          <p:nvPr/>
        </p:nvSpPr>
        <p:spPr>
          <a:xfrm>
            <a:off x="400050" y="1381125"/>
            <a:ext cx="142875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5B616B"/>
                </a:solidFill>
                <a:latin typeface="Helvetica Neue"/>
                <a:ea typeface="Helvetica Neue"/>
                <a:cs typeface="Helvetica Neue"/>
                <a:sym typeface="Helvetica Neue"/>
              </a:rPr>
              <a:t>One epoch</a:t>
            </a:r>
            <a:endParaRPr b="0" i="0" sz="1400" u="none" cap="none" strike="noStrike">
              <a:solidFill>
                <a:srgbClr val="000000"/>
              </a:solidFill>
              <a:latin typeface="Arial"/>
              <a:ea typeface="Arial"/>
              <a:cs typeface="Arial"/>
              <a:sym typeface="Arial"/>
            </a:endParaRPr>
          </a:p>
        </p:txBody>
      </p:sp>
      <p:sp>
        <p:nvSpPr>
          <p:cNvPr id="62" name="Google Shape;62;p6"/>
          <p:cNvSpPr/>
          <p:nvPr/>
        </p:nvSpPr>
        <p:spPr>
          <a:xfrm>
            <a:off x="1733550" y="1352550"/>
            <a:ext cx="2076450" cy="552450"/>
          </a:xfrm>
          <a:prstGeom prst="roundRect">
            <a:avLst>
              <a:gd fmla="val 10345" name="adj"/>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6"/>
          <p:cNvSpPr/>
          <p:nvPr/>
        </p:nvSpPr>
        <p:spPr>
          <a:xfrm>
            <a:off x="18097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FFFFFF"/>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4" name="Google Shape;64;p6"/>
          <p:cNvSpPr/>
          <p:nvPr/>
        </p:nvSpPr>
        <p:spPr>
          <a:xfrm>
            <a:off x="3943350" y="1352550"/>
            <a:ext cx="2076450" cy="552450"/>
          </a:xfrm>
          <a:prstGeom prst="roundRect">
            <a:avLst>
              <a:gd fmla="val 10345" name="adj"/>
            </a:avLst>
          </a:prstGeom>
          <a:solidFill>
            <a:srgbClr val="6DCBF4"/>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6"/>
          <p:cNvSpPr/>
          <p:nvPr/>
        </p:nvSpPr>
        <p:spPr>
          <a:xfrm>
            <a:off x="40195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6" name="Google Shape;66;p6"/>
          <p:cNvSpPr/>
          <p:nvPr/>
        </p:nvSpPr>
        <p:spPr>
          <a:xfrm>
            <a:off x="6153150" y="1352550"/>
            <a:ext cx="2076450" cy="552450"/>
          </a:xfrm>
          <a:prstGeom prst="roundRect">
            <a:avLst>
              <a:gd fmla="val 10345" name="adj"/>
            </a:avLst>
          </a:prstGeom>
          <a:solidFill>
            <a:srgbClr val="D0EDFA"/>
          </a:solidFill>
          <a:ln cap="flat" cmpd="sng" w="9525">
            <a:solidFill>
              <a:srgbClr val="D0EDF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6"/>
          <p:cNvSpPr/>
          <p:nvPr/>
        </p:nvSpPr>
        <p:spPr>
          <a:xfrm>
            <a:off x="6229350" y="1524000"/>
            <a:ext cx="19240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64 samples</a:t>
            </a:r>
            <a:endParaRPr b="0" i="0" sz="1400" u="none" cap="none" strike="noStrike">
              <a:solidFill>
                <a:srgbClr val="000000"/>
              </a:solidFill>
              <a:latin typeface="Arial"/>
              <a:ea typeface="Arial"/>
              <a:cs typeface="Arial"/>
              <a:sym typeface="Arial"/>
            </a:endParaRPr>
          </a:p>
        </p:txBody>
      </p:sp>
      <p:sp>
        <p:nvSpPr>
          <p:cNvPr id="68" name="Google Shape;68;p6"/>
          <p:cNvSpPr/>
          <p:nvPr/>
        </p:nvSpPr>
        <p:spPr>
          <a:xfrm>
            <a:off x="8362950" y="1352550"/>
            <a:ext cx="704850" cy="552450"/>
          </a:xfrm>
          <a:prstGeom prst="roundRect">
            <a:avLst>
              <a:gd fmla="val 10345" name="adj"/>
            </a:avLst>
          </a:prstGeom>
          <a:solidFill>
            <a:srgbClr val="F2F2F2"/>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6"/>
          <p:cNvSpPr/>
          <p:nvPr/>
        </p:nvSpPr>
        <p:spPr>
          <a:xfrm>
            <a:off x="8439150" y="1524000"/>
            <a:ext cx="5524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a:t>
            </a:r>
            <a:endParaRPr b="0" i="0" sz="1400" u="none" cap="none" strike="noStrike">
              <a:solidFill>
                <a:srgbClr val="000000"/>
              </a:solidFill>
              <a:latin typeface="Arial"/>
              <a:ea typeface="Arial"/>
              <a:cs typeface="Arial"/>
              <a:sym typeface="Arial"/>
            </a:endParaRPr>
          </a:p>
        </p:txBody>
      </p:sp>
      <p:sp>
        <p:nvSpPr>
          <p:cNvPr id="70" name="Google Shape;70;p6"/>
          <p:cNvSpPr/>
          <p:nvPr/>
        </p:nvSpPr>
        <p:spPr>
          <a:xfrm>
            <a:off x="9201150" y="1352550"/>
            <a:ext cx="1619250" cy="552450"/>
          </a:xfrm>
          <a:prstGeom prst="roundRect">
            <a:avLst>
              <a:gd fmla="val 10345" name="adj"/>
            </a:avLst>
          </a:prstGeom>
          <a:solidFill>
            <a:srgbClr val="EAF5FB"/>
          </a:solidFill>
          <a:ln cap="flat" cmpd="sng" w="9525">
            <a:solidFill>
              <a:srgbClr val="EAF5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6"/>
          <p:cNvSpPr/>
          <p:nvPr/>
        </p:nvSpPr>
        <p:spPr>
          <a:xfrm>
            <a:off x="9277350" y="1524000"/>
            <a:ext cx="1466850" cy="22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0" i="0" lang="en-US" sz="1275" u="none" cap="none" strike="noStrike">
                <a:solidFill>
                  <a:srgbClr val="000000"/>
                </a:solidFill>
                <a:latin typeface="Helvetica Neue"/>
                <a:ea typeface="Helvetica Neue"/>
                <a:cs typeface="Helvetica Neue"/>
                <a:sym typeface="Helvetica Neue"/>
              </a:rPr>
              <a:t>final batch</a:t>
            </a:r>
            <a:endParaRPr b="0" i="0" sz="1400" u="none" cap="none" strike="noStrike">
              <a:solidFill>
                <a:srgbClr val="000000"/>
              </a:solidFill>
              <a:latin typeface="Arial"/>
              <a:ea typeface="Arial"/>
              <a:cs typeface="Arial"/>
              <a:sym typeface="Arial"/>
            </a:endParaRPr>
          </a:p>
        </p:txBody>
      </p:sp>
      <p:sp>
        <p:nvSpPr>
          <p:cNvPr id="72" name="Google Shape;72;p6"/>
          <p:cNvSpPr/>
          <p:nvPr/>
        </p:nvSpPr>
        <p:spPr>
          <a:xfrm>
            <a:off x="1733550" y="2076450"/>
            <a:ext cx="9086850" cy="419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500"/>
              <a:buFont typeface="Arial"/>
              <a:buNone/>
            </a:pPr>
            <a:r>
              <a:rPr b="0" i="0" lang="en-US" sz="1500" u="none" cap="none" strike="noStrike">
                <a:solidFill>
                  <a:srgbClr val="5B616B"/>
                </a:solidFill>
                <a:latin typeface="Helvetica Neue"/>
                <a:ea typeface="Helvetica Neue"/>
                <a:cs typeface="Helvetica Neue"/>
                <a:sym typeface="Helvetica Neue"/>
              </a:rPr>
              <a:t>Batches stay sequential because every update changes the weights used by the next batch.</a:t>
            </a:r>
            <a:endParaRPr b="0" i="0" sz="1500" u="none" cap="none" strike="noStrike">
              <a:solidFill>
                <a:srgbClr val="5B616B"/>
              </a:solidFill>
              <a:latin typeface="Helvetica Neue"/>
              <a:ea typeface="Helvetica Neue"/>
              <a:cs typeface="Helvetica Neue"/>
              <a:sym typeface="Helvetica Neue"/>
            </a:endParaRPr>
          </a:p>
          <a:p>
            <a:pPr indent="0" lvl="0" marL="0" marR="0" rtl="0" algn="ctr">
              <a:lnSpc>
                <a:spcPct val="100000"/>
              </a:lnSpc>
              <a:spcBef>
                <a:spcPts val="0"/>
              </a:spcBef>
              <a:spcAft>
                <a:spcPts val="0"/>
              </a:spcAft>
              <a:buClr>
                <a:srgbClr val="000000"/>
              </a:buClr>
              <a:buSzPts val="1500"/>
              <a:buFont typeface="Arial"/>
              <a:buNone/>
            </a:pPr>
            <a:r>
              <a:rPr lang="en-US" sz="1500">
                <a:solidFill>
                  <a:srgbClr val="5B616B"/>
                </a:solidFill>
                <a:latin typeface="Helvetica Neue"/>
                <a:ea typeface="Helvetica Neue"/>
                <a:cs typeface="Helvetica Neue"/>
                <a:sym typeface="Helvetica Neue"/>
              </a:rPr>
              <a:t>(Besides MPI)</a:t>
            </a:r>
            <a:endParaRPr sz="1500">
              <a:solidFill>
                <a:srgbClr val="5B616B"/>
              </a:solidFill>
              <a:latin typeface="Helvetica Neue"/>
              <a:ea typeface="Helvetica Neue"/>
              <a:cs typeface="Helvetica Neue"/>
              <a:sym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sp>
        <p:nvSpPr>
          <p:cNvPr id="78" name="Google Shape;78;p7"/>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Tiling improves locality; OpenMP divides work inside each batch</a:t>
            </a:r>
            <a:endParaRPr b="0" i="0" sz="1400" u="none" cap="none" strike="noStrike">
              <a:solidFill>
                <a:srgbClr val="000000"/>
              </a:solidFill>
              <a:latin typeface="Arial"/>
              <a:ea typeface="Arial"/>
              <a:cs typeface="Arial"/>
              <a:sym typeface="Arial"/>
            </a:endParaRPr>
          </a:p>
        </p:txBody>
      </p:sp>
      <p:sp>
        <p:nvSpPr>
          <p:cNvPr id="79" name="Google Shape;79;p7"/>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80" name="Google Shape;80;p7"/>
          <p:cNvSpPr/>
          <p:nvPr/>
        </p:nvSpPr>
        <p:spPr>
          <a:xfrm>
            <a:off x="400050" y="1581150"/>
            <a:ext cx="4667250" cy="742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The optimized kernel assigns each output tile to one thread owner.</a:t>
            </a:r>
            <a:endParaRPr b="0" i="0" sz="1400" u="none" cap="none" strike="noStrike">
              <a:solidFill>
                <a:srgbClr val="000000"/>
              </a:solidFill>
              <a:latin typeface="Arial"/>
              <a:ea typeface="Arial"/>
              <a:cs typeface="Arial"/>
              <a:sym typeface="Arial"/>
            </a:endParaRPr>
          </a:p>
        </p:txBody>
      </p:sp>
      <p:sp>
        <p:nvSpPr>
          <p:cNvPr id="81" name="Google Shape;81;p7"/>
          <p:cNvSpPr/>
          <p:nvPr/>
        </p:nvSpPr>
        <p:spPr>
          <a:xfrm>
            <a:off x="400050" y="2686050"/>
            <a:ext cx="4762500" cy="2381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Packed logical transposes improve contiguous access.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Static scheduling distributes regular output tiles.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75"/>
              <a:buFont typeface="Arial"/>
              <a:buNone/>
            </a:pPr>
            <a:r>
              <a:t/>
            </a:r>
            <a:endParaRPr b="0" i="0" sz="1575" u="none" cap="none" strike="noStrike">
              <a:solidFill>
                <a:srgbClr val="5B616B"/>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1575"/>
              <a:buFont typeface="Arial"/>
              <a:buNone/>
            </a:pPr>
            <a:r>
              <a:rPr b="0" i="0" lang="en-US" sz="1575" u="none" cap="none" strike="noStrike">
                <a:solidFill>
                  <a:srgbClr val="5B616B"/>
                </a:solidFill>
                <a:latin typeface="Helvetica Neue"/>
                <a:ea typeface="Helvetica Neue"/>
                <a:cs typeface="Helvetica Neue"/>
                <a:sym typeface="Helvetica Neue"/>
              </a:rPr>
              <a:t>• The tile owner covers the full reduction dimension—no atomics are needed.</a:t>
            </a:r>
            <a:endParaRPr b="0" i="0" sz="1400" u="none" cap="none" strike="noStrike">
              <a:solidFill>
                <a:srgbClr val="000000"/>
              </a:solidFill>
              <a:latin typeface="Arial"/>
              <a:ea typeface="Arial"/>
              <a:cs typeface="Arial"/>
              <a:sym typeface="Arial"/>
            </a:endParaRPr>
          </a:p>
        </p:txBody>
      </p:sp>
      <p:sp>
        <p:nvSpPr>
          <p:cNvPr id="82" name="Google Shape;82;p7"/>
          <p:cNvSpPr/>
          <p:nvPr/>
        </p:nvSpPr>
        <p:spPr>
          <a:xfrm>
            <a:off x="400050" y="5334000"/>
            <a:ext cx="4762500" cy="666750"/>
          </a:xfrm>
          <a:prstGeom prst="roundRect">
            <a:avLst>
              <a:gd fmla="val 11429"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7"/>
          <p:cNvSpPr/>
          <p:nvPr/>
        </p:nvSpPr>
        <p:spPr>
          <a:xfrm>
            <a:off x="609600" y="5534025"/>
            <a:ext cx="4343400" cy="3238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55"/>
              <a:buFont typeface="Arial"/>
              <a:buNone/>
            </a:pPr>
            <a:r>
              <a:rPr b="1" i="0" lang="en-US" sz="1155" u="none" cap="none" strike="noStrike">
                <a:solidFill>
                  <a:srgbClr val="3D8DFF"/>
                </a:solidFill>
                <a:latin typeface="Helvetica Neue"/>
                <a:ea typeface="Helvetica Neue"/>
                <a:cs typeface="Helvetica Neue"/>
                <a:sym typeface="Helvetica Neue"/>
              </a:rPr>
              <a:t>OpenMP parallelizes matrix work—not separate mini-batches.</a:t>
            </a:r>
            <a:endParaRPr b="0" i="0" sz="1400" u="none" cap="none" strike="noStrike">
              <a:solidFill>
                <a:srgbClr val="000000"/>
              </a:solidFill>
              <a:latin typeface="Arial"/>
              <a:ea typeface="Arial"/>
              <a:cs typeface="Arial"/>
              <a:sym typeface="Arial"/>
            </a:endParaRPr>
          </a:p>
        </p:txBody>
      </p:sp>
      <p:sp>
        <p:nvSpPr>
          <p:cNvPr id="84" name="Google Shape;84;p7"/>
          <p:cNvSpPr/>
          <p:nvPr/>
        </p:nvSpPr>
        <p:spPr>
          <a:xfrm>
            <a:off x="5638800" y="1381125"/>
            <a:ext cx="6153150" cy="4619625"/>
          </a:xfrm>
          <a:prstGeom prst="roundRect">
            <a:avLst>
              <a:gd fmla="val 1649" name="adj"/>
            </a:avLst>
          </a:prstGeom>
          <a:solidFill>
            <a:srgbClr val="FAFAFA"/>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7"/>
          <p:cNvSpPr/>
          <p:nvPr/>
        </p:nvSpPr>
        <p:spPr>
          <a:xfrm>
            <a:off x="5905500" y="1581150"/>
            <a:ext cx="2190750" cy="3238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Arial"/>
              <a:buNone/>
            </a:pPr>
            <a:r>
              <a:rPr b="1" i="0" lang="en-US" sz="1650" u="none" cap="none" strike="noStrike">
                <a:solidFill>
                  <a:srgbClr val="000000"/>
                </a:solidFill>
                <a:latin typeface="Helvetica Neue"/>
                <a:ea typeface="Helvetica Neue"/>
                <a:cs typeface="Helvetica Neue"/>
                <a:sym typeface="Helvetica Neue"/>
              </a:rPr>
              <a:t>Output matrix C</a:t>
            </a:r>
            <a:endParaRPr b="0" i="0" sz="1400" u="none" cap="none" strike="noStrike">
              <a:solidFill>
                <a:srgbClr val="000000"/>
              </a:solidFill>
              <a:latin typeface="Arial"/>
              <a:ea typeface="Arial"/>
              <a:cs typeface="Arial"/>
              <a:sym typeface="Arial"/>
            </a:endParaRPr>
          </a:p>
        </p:txBody>
      </p:sp>
      <p:sp>
        <p:nvSpPr>
          <p:cNvPr id="86" name="Google Shape;86;p7"/>
          <p:cNvSpPr/>
          <p:nvPr/>
        </p:nvSpPr>
        <p:spPr>
          <a:xfrm>
            <a:off x="8763000" y="1600200"/>
            <a:ext cx="2571750" cy="2857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one tile → one owner</a:t>
            </a:r>
            <a:endParaRPr b="0" i="0" sz="1400" u="none" cap="none" strike="noStrike">
              <a:solidFill>
                <a:srgbClr val="000000"/>
              </a:solidFill>
              <a:latin typeface="Arial"/>
              <a:ea typeface="Arial"/>
              <a:cs typeface="Arial"/>
              <a:sym typeface="Arial"/>
            </a:endParaRPr>
          </a:p>
        </p:txBody>
      </p:sp>
      <p:sp>
        <p:nvSpPr>
          <p:cNvPr id="87" name="Google Shape;87;p7"/>
          <p:cNvSpPr/>
          <p:nvPr/>
        </p:nvSpPr>
        <p:spPr>
          <a:xfrm>
            <a:off x="6096000"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7"/>
          <p:cNvSpPr/>
          <p:nvPr/>
        </p:nvSpPr>
        <p:spPr>
          <a:xfrm>
            <a:off x="6943725" y="20955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7"/>
          <p:cNvSpPr/>
          <p:nvPr/>
        </p:nvSpPr>
        <p:spPr>
          <a:xfrm>
            <a:off x="7791450"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7"/>
          <p:cNvSpPr/>
          <p:nvPr/>
        </p:nvSpPr>
        <p:spPr>
          <a:xfrm>
            <a:off x="8639175" y="20955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7"/>
          <p:cNvSpPr/>
          <p:nvPr/>
        </p:nvSpPr>
        <p:spPr>
          <a:xfrm>
            <a:off x="9486900"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7"/>
          <p:cNvSpPr/>
          <p:nvPr/>
        </p:nvSpPr>
        <p:spPr>
          <a:xfrm>
            <a:off x="10334625" y="20955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7"/>
          <p:cNvSpPr/>
          <p:nvPr/>
        </p:nvSpPr>
        <p:spPr>
          <a:xfrm>
            <a:off x="6096000"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7"/>
          <p:cNvSpPr/>
          <p:nvPr/>
        </p:nvSpPr>
        <p:spPr>
          <a:xfrm>
            <a:off x="6943725" y="275272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 name="Google Shape;95;p7"/>
          <p:cNvSpPr/>
          <p:nvPr/>
        </p:nvSpPr>
        <p:spPr>
          <a:xfrm>
            <a:off x="7791450"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7"/>
          <p:cNvSpPr/>
          <p:nvPr/>
        </p:nvSpPr>
        <p:spPr>
          <a:xfrm>
            <a:off x="8639175" y="2752725"/>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7"/>
          <p:cNvSpPr/>
          <p:nvPr/>
        </p:nvSpPr>
        <p:spPr>
          <a:xfrm>
            <a:off x="9486900"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7"/>
          <p:cNvSpPr/>
          <p:nvPr/>
        </p:nvSpPr>
        <p:spPr>
          <a:xfrm>
            <a:off x="10334625" y="275272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7"/>
          <p:cNvSpPr/>
          <p:nvPr/>
        </p:nvSpPr>
        <p:spPr>
          <a:xfrm>
            <a:off x="6096000"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7"/>
          <p:cNvSpPr/>
          <p:nvPr/>
        </p:nvSpPr>
        <p:spPr>
          <a:xfrm>
            <a:off x="6943725" y="340995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p7"/>
          <p:cNvSpPr/>
          <p:nvPr/>
        </p:nvSpPr>
        <p:spPr>
          <a:xfrm>
            <a:off x="7791450" y="3409950"/>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7"/>
          <p:cNvSpPr/>
          <p:nvPr/>
        </p:nvSpPr>
        <p:spPr>
          <a:xfrm>
            <a:off x="8639175" y="3409950"/>
            <a:ext cx="781050" cy="590550"/>
          </a:xfrm>
          <a:prstGeom prst="roundRect">
            <a:avLst>
              <a:gd fmla="val 3226" name="adj"/>
            </a:avLst>
          </a:prstGeom>
          <a:solidFill>
            <a:srgbClr val="E4E7EB"/>
          </a:solid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7"/>
          <p:cNvSpPr/>
          <p:nvPr/>
        </p:nvSpPr>
        <p:spPr>
          <a:xfrm>
            <a:off x="9486900"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7"/>
          <p:cNvSpPr/>
          <p:nvPr/>
        </p:nvSpPr>
        <p:spPr>
          <a:xfrm>
            <a:off x="10334625" y="340995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7"/>
          <p:cNvSpPr/>
          <p:nvPr/>
        </p:nvSpPr>
        <p:spPr>
          <a:xfrm>
            <a:off x="6096000"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7"/>
          <p:cNvSpPr/>
          <p:nvPr/>
        </p:nvSpPr>
        <p:spPr>
          <a:xfrm>
            <a:off x="6943725" y="4067175"/>
            <a:ext cx="781050" cy="590550"/>
          </a:xfrm>
          <a:prstGeom prst="roundRect">
            <a:avLst>
              <a:gd fmla="val 3226" name="adj"/>
            </a:avLst>
          </a:prstGeom>
          <a:solidFill>
            <a:srgbClr val="E4E7EB"/>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7"/>
          <p:cNvSpPr/>
          <p:nvPr/>
        </p:nvSpPr>
        <p:spPr>
          <a:xfrm>
            <a:off x="7791450"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8639175" y="4067175"/>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7"/>
          <p:cNvSpPr/>
          <p:nvPr/>
        </p:nvSpPr>
        <p:spPr>
          <a:xfrm>
            <a:off x="9486900"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7"/>
          <p:cNvSpPr/>
          <p:nvPr/>
        </p:nvSpPr>
        <p:spPr>
          <a:xfrm>
            <a:off x="10334625" y="4067175"/>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7"/>
          <p:cNvSpPr/>
          <p:nvPr/>
        </p:nvSpPr>
        <p:spPr>
          <a:xfrm>
            <a:off x="6096000"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7"/>
          <p:cNvSpPr/>
          <p:nvPr/>
        </p:nvSpPr>
        <p:spPr>
          <a:xfrm>
            <a:off x="6943725" y="4724400"/>
            <a:ext cx="781050" cy="590550"/>
          </a:xfrm>
          <a:prstGeom prst="roundRect">
            <a:avLst>
              <a:gd fmla="val 3226" name="adj"/>
            </a:avLst>
          </a:prstGeom>
          <a:solidFill>
            <a:srgbClr val="3D8D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7"/>
          <p:cNvSpPr/>
          <p:nvPr/>
        </p:nvSpPr>
        <p:spPr>
          <a:xfrm>
            <a:off x="7791450"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7"/>
          <p:cNvSpPr/>
          <p:nvPr/>
        </p:nvSpPr>
        <p:spPr>
          <a:xfrm>
            <a:off x="8639175" y="4724400"/>
            <a:ext cx="781050" cy="590550"/>
          </a:xfrm>
          <a:prstGeom prst="roundRect">
            <a:avLst>
              <a:gd fmla="val 3226" name="adj"/>
            </a:avLst>
          </a:prstGeom>
          <a:solidFill>
            <a:srgbClr val="6DCBF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7"/>
          <p:cNvSpPr/>
          <p:nvPr/>
        </p:nvSpPr>
        <p:spPr>
          <a:xfrm>
            <a:off x="9486900"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7"/>
          <p:cNvSpPr/>
          <p:nvPr/>
        </p:nvSpPr>
        <p:spPr>
          <a:xfrm>
            <a:off x="10334625" y="4724400"/>
            <a:ext cx="781050" cy="590550"/>
          </a:xfrm>
          <a:prstGeom prst="roundRect">
            <a:avLst>
              <a:gd fmla="val 3226" name="adj"/>
            </a:avLst>
          </a:prstGeom>
          <a:solidFill>
            <a:srgbClr val="D0EDFA"/>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7"/>
          <p:cNvSpPr/>
          <p:nvPr/>
        </p:nvSpPr>
        <p:spPr>
          <a:xfrm>
            <a:off x="6115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T0</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7258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T1</a:t>
            </a:r>
            <a:endParaRPr b="0" i="0" sz="1400" u="none" cap="none" strike="noStrike">
              <a:solidFill>
                <a:srgbClr val="000000"/>
              </a:solidFill>
              <a:latin typeface="Arial"/>
              <a:ea typeface="Arial"/>
              <a:cs typeface="Arial"/>
              <a:sym typeface="Arial"/>
            </a:endParaRPr>
          </a:p>
        </p:txBody>
      </p:sp>
      <p:sp>
        <p:nvSpPr>
          <p:cNvPr id="119" name="Google Shape;119;p7"/>
          <p:cNvSpPr/>
          <p:nvPr/>
        </p:nvSpPr>
        <p:spPr>
          <a:xfrm>
            <a:off x="8401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T2</a:t>
            </a:r>
            <a:endParaRPr b="0" i="0" sz="1400" u="none" cap="none" strike="noStrike">
              <a:solidFill>
                <a:srgbClr val="000000"/>
              </a:solidFill>
              <a:latin typeface="Arial"/>
              <a:ea typeface="Arial"/>
              <a:cs typeface="Arial"/>
              <a:sym typeface="Arial"/>
            </a:endParaRPr>
          </a:p>
        </p:txBody>
      </p:sp>
      <p:sp>
        <p:nvSpPr>
          <p:cNvPr id="120" name="Google Shape;120;p7"/>
          <p:cNvSpPr/>
          <p:nvPr/>
        </p:nvSpPr>
        <p:spPr>
          <a:xfrm>
            <a:off x="9544050" y="5534025"/>
            <a:ext cx="85725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75"/>
              <a:buFont typeface="Arial"/>
              <a:buNone/>
            </a:pPr>
            <a:r>
              <a:rPr b="1" i="0" lang="en-US" sz="1275" u="none" cap="none" strike="noStrike">
                <a:solidFill>
                  <a:srgbClr val="3D8DFF"/>
                </a:solidFill>
                <a:latin typeface="Helvetica Neue"/>
                <a:ea typeface="Helvetica Neue"/>
                <a:cs typeface="Helvetica Neue"/>
                <a:sym typeface="Helvetica Neue"/>
              </a:rPr>
              <a:t>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8"/>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27" name="Google Shape;127;p8"/>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MPI combines local mini-batches into one global update</a:t>
            </a:r>
            <a:endParaRPr b="0" i="0" sz="1400" u="none" cap="none" strike="noStrike">
              <a:solidFill>
                <a:srgbClr val="000000"/>
              </a:solidFill>
              <a:latin typeface="Arial"/>
              <a:ea typeface="Arial"/>
              <a:cs typeface="Arial"/>
              <a:sym typeface="Arial"/>
            </a:endParaRPr>
          </a:p>
        </p:txBody>
      </p:sp>
      <p:cxnSp>
        <p:nvCxnSpPr>
          <p:cNvPr id="128" name="Google Shape;128;p8"/>
          <p:cNvCxnSpPr/>
          <p:nvPr/>
        </p:nvCxnSpPr>
        <p:spPr>
          <a:xfrm>
            <a:off x="337757" y="5341620"/>
            <a:ext cx="12245435" cy="286"/>
          </a:xfrm>
          <a:prstGeom prst="straightConnector1">
            <a:avLst/>
          </a:prstGeom>
          <a:noFill/>
          <a:ln cap="flat" cmpd="sng" w="9525">
            <a:solidFill>
              <a:srgbClr val="000000"/>
            </a:solidFill>
            <a:prstDash val="solid"/>
            <a:round/>
            <a:headEnd len="sm" w="sm" type="none"/>
            <a:tailEnd len="sm" w="sm" type="none"/>
          </a:ln>
        </p:spPr>
      </p:cxnSp>
      <p:sp>
        <p:nvSpPr>
          <p:cNvPr id="129" name="Google Shape;129;p8"/>
          <p:cNvSpPr/>
          <p:nvPr/>
        </p:nvSpPr>
        <p:spPr>
          <a:xfrm>
            <a:off x="337757"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8"/>
          <p:cNvSpPr/>
          <p:nvPr/>
        </p:nvSpPr>
        <p:spPr>
          <a:xfrm>
            <a:off x="42517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8"/>
          <p:cNvSpPr/>
          <p:nvPr/>
        </p:nvSpPr>
        <p:spPr>
          <a:xfrm>
            <a:off x="8176070" y="5288089"/>
            <a:ext cx="107061" cy="107061"/>
          </a:xfrm>
          <a:prstGeom prst="ellipse">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8"/>
          <p:cNvSpPr/>
          <p:nvPr/>
        </p:nvSpPr>
        <p:spPr>
          <a:xfrm>
            <a:off x="393668"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8"/>
          <p:cNvSpPr/>
          <p:nvPr/>
        </p:nvSpPr>
        <p:spPr>
          <a:xfrm>
            <a:off x="703421"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Local compute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Each rank owns a data slice and a complete model.</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Forward and backward produce local gradient sums.</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4308443"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4618196"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Allreduce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Sum the sample count and four gradient arrays.</a:t>
            </a:r>
            <a:br>
              <a:rPr b="0" i="0" lang="en-US" sz="1350" u="none" cap="none" strike="noStrike">
                <a:solidFill>
                  <a:srgbClr val="5B616B"/>
                </a:solidFill>
                <a:latin typeface="Helvetica Neue"/>
                <a:ea typeface="Helvetica Neue"/>
                <a:cs typeface="Helvetica Neue"/>
                <a:sym typeface="Helvetica Neue"/>
              </a:rPr>
            </a:br>
            <a:br>
              <a:rPr b="0" i="0" lang="en-US" sz="1350" u="none" cap="none" strike="noStrike">
                <a:solidFill>
                  <a:srgbClr val="5B616B"/>
                </a:solidFill>
                <a:latin typeface="Helvetica Neue"/>
                <a:ea typeface="Helvetica Neue"/>
                <a:cs typeface="Helvetica Neue"/>
                <a:sym typeface="Helvetica Neue"/>
              </a:rPr>
            </a:br>
            <a:r>
              <a:rPr b="0" i="0" lang="en-US" sz="1350" u="none" cap="none" strike="noStrike">
                <a:solidFill>
                  <a:srgbClr val="5B616B"/>
                </a:solidFill>
                <a:latin typeface="Helvetica Neue"/>
                <a:ea typeface="Helvetica Neue"/>
                <a:cs typeface="Helvetica Neue"/>
                <a:sym typeface="Helvetica Neue"/>
              </a:rPr>
              <a:t>Every rank receives the same global results.</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8237506" y="1401794"/>
            <a:ext cx="3568732" cy="3619500"/>
          </a:xfrm>
          <a:prstGeom prst="roundRect">
            <a:avLst>
              <a:gd fmla="val 2135"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8547259" y="1806797"/>
            <a:ext cx="2949321" cy="256679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25"/>
              <a:buFont typeface="Helvetica Neue"/>
              <a:buNone/>
            </a:pPr>
            <a:r>
              <a:rPr b="1" i="0" lang="en-US" sz="2025" u="none" cap="none" strike="noStrike">
                <a:solidFill>
                  <a:srgbClr val="000000"/>
                </a:solidFill>
                <a:latin typeface="Helvetica Neue"/>
                <a:ea typeface="Helvetica Neue"/>
                <a:cs typeface="Helvetica Neue"/>
                <a:sym typeface="Helvetica Neue"/>
              </a:rPr>
              <a:t>Identical update</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850"/>
              </a:spcBef>
              <a:spcAft>
                <a:spcPts val="0"/>
              </a:spcAft>
              <a:buClr>
                <a:srgbClr val="5B616B"/>
              </a:buClr>
              <a:buSzPts val="1350"/>
              <a:buFont typeface="Helvetica Neue"/>
              <a:buNone/>
            </a:pPr>
            <a:r>
              <a:t/>
            </a:r>
            <a:endParaRPr sz="1350">
              <a:solidFill>
                <a:srgbClr val="5B616B"/>
              </a:solidFill>
              <a:latin typeface="Helvetica Neue"/>
              <a:ea typeface="Helvetica Neue"/>
              <a:cs typeface="Helvetica Neue"/>
              <a:sym typeface="Helvetica Neue"/>
            </a:endParaRPr>
          </a:p>
          <a:p>
            <a:pPr indent="0" lvl="0" marL="0" marR="0" rtl="0" algn="l">
              <a:lnSpc>
                <a:spcPct val="112000"/>
              </a:lnSpc>
              <a:spcBef>
                <a:spcPts val="850"/>
              </a:spcBef>
              <a:spcAft>
                <a:spcPts val="0"/>
              </a:spcAft>
              <a:buClr>
                <a:srgbClr val="5B616B"/>
              </a:buClr>
              <a:buSzPts val="1350"/>
              <a:buFont typeface="Helvetica Neue"/>
              <a:buNone/>
            </a:pPr>
            <a:r>
              <a:rPr b="0" i="0" lang="en-US" sz="1350" u="none" cap="none" strike="noStrike">
                <a:solidFill>
                  <a:srgbClr val="5B616B"/>
                </a:solidFill>
                <a:latin typeface="Helvetica Neue"/>
                <a:ea typeface="Helvetica Neue"/>
                <a:cs typeface="Helvetica Neue"/>
                <a:sym typeface="Helvetica Neue"/>
              </a:rPr>
              <a:t>The model replicas remain synchronized.</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4251770"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2 · SYNCHRONIZE</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390906"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1 · LOCAL BATCH</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8225409" y="5602414"/>
            <a:ext cx="2595944" cy="39195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3 · UPDATE</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6191250" y="1066800"/>
            <a:ext cx="5524500" cy="266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4 ranks × local batch 64 = global batch 256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9"/>
          <p:cNvSpPr/>
          <p:nvPr/>
        </p:nvSpPr>
        <p:spPr>
          <a:xfrm>
            <a:off x="393668"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4311682"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8232267" y="3022568"/>
            <a:ext cx="3568732" cy="2971800"/>
          </a:xfrm>
          <a:prstGeom prst="roundRect">
            <a:avLst>
              <a:gd fmla="val 256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6</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393668" y="344043"/>
            <a:ext cx="11404568" cy="10474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525 runs test optimization, scaling and configuration choices</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70237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timed runs</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8541830"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repeats each</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4621244" y="4900613"/>
            <a:ext cx="2949607" cy="8191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configurations</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70237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3D8DFF"/>
              </a:buClr>
              <a:buSzPts val="4950"/>
              <a:buFont typeface="Helvetica Neue"/>
              <a:buNone/>
            </a:pPr>
            <a:r>
              <a:rPr b="1" i="0" lang="en-US" sz="4950" u="none" cap="none" strike="noStrike">
                <a:solidFill>
                  <a:srgbClr val="3D8DFF"/>
                </a:solidFill>
                <a:latin typeface="Helvetica Neue"/>
                <a:ea typeface="Helvetica Neue"/>
                <a:cs typeface="Helvetica Neue"/>
                <a:sym typeface="Helvetica Neue"/>
              </a:rPr>
              <a:t>525</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4612958"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105</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8562404" y="3429000"/>
            <a:ext cx="2940082" cy="1359313"/>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4950"/>
              <a:buFont typeface="Helvetica Neue"/>
              <a:buNone/>
            </a:pPr>
            <a:r>
              <a:rPr b="1" i="0" lang="en-US" sz="4950" u="none" cap="none" strike="noStrike">
                <a:solidFill>
                  <a:srgbClr val="000000"/>
                </a:solidFill>
                <a:latin typeface="Helvetica Neue"/>
                <a:ea typeface="Helvetica Neue"/>
                <a:cs typeface="Helvetica Neue"/>
                <a:sym typeface="Helvetica Neue"/>
              </a:rPr>
              <a:t>5</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393668" y="1138333"/>
            <a:ext cx="11404568" cy="15994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Experimental design</a:t>
            </a:r>
            <a:endParaRPr b="0" i="0" sz="1400" u="none" cap="none" strike="noStrike">
              <a:solidFill>
                <a:srgbClr val="000000"/>
              </a:solidFill>
              <a:latin typeface="Arial"/>
              <a:ea typeface="Arial"/>
              <a:cs typeface="Arial"/>
              <a:sym typeface="Arial"/>
            </a:endParaRPr>
          </a:p>
          <a:p>
            <a:pPr indent="0" lvl="0" marL="0" marR="0" rtl="0" algn="l">
              <a:lnSpc>
                <a:spcPct val="112000"/>
              </a:lnSpc>
              <a:spcBef>
                <a:spcPts val="65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Two network shapes on individual HPC3 compute nodes. The seven experiments cover sequential optimization, fixed-problem scaling, two weak-scaling rules, tile sensitivity and batch sensitivity.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10"/>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7</a:t>
            </a:r>
            <a:endParaRPr b="0" i="0" sz="1400" u="none" cap="none" strike="noStrike">
              <a:solidFill>
                <a:srgbClr val="000000"/>
              </a:solidFill>
              <a:latin typeface="Arial"/>
              <a:ea typeface="Arial"/>
              <a:cs typeface="Arial"/>
              <a:sym typeface="Arial"/>
            </a:endParaRPr>
          </a:p>
        </p:txBody>
      </p:sp>
      <p:sp>
        <p:nvSpPr>
          <p:cNvPr id="165" name="Google Shape;165;p10"/>
          <p:cNvSpPr/>
          <p:nvPr/>
        </p:nvSpPr>
        <p:spPr>
          <a:xfrm>
            <a:off x="393668" y="344519"/>
            <a:ext cx="11404568" cy="64427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Helvetica Neue"/>
              <a:buNone/>
            </a:pPr>
            <a:r>
              <a:rPr b="0" i="0" lang="en-US" sz="3000" u="none" cap="none" strike="noStrike">
                <a:solidFill>
                  <a:srgbClr val="000000"/>
                </a:solidFill>
                <a:latin typeface="Helvetica Neue"/>
                <a:ea typeface="Helvetica Neue"/>
                <a:cs typeface="Helvetica Neue"/>
                <a:sym typeface="Helvetica Neue"/>
              </a:rPr>
              <a:t>Locality produces roughly 3× improvement before parallelism</a:t>
            </a:r>
            <a:endParaRPr b="0" i="0" sz="1400" u="none" cap="none" strike="noStrike">
              <a:solidFill>
                <a:srgbClr val="000000"/>
              </a:solidFill>
              <a:latin typeface="Arial"/>
              <a:ea typeface="Arial"/>
              <a:cs typeface="Arial"/>
              <a:sym typeface="Arial"/>
            </a:endParaRPr>
          </a:p>
        </p:txBody>
      </p:sp>
      <p:sp>
        <p:nvSpPr>
          <p:cNvPr id="166" name="Google Shape;166;p10"/>
          <p:cNvSpPr/>
          <p:nvPr/>
        </p:nvSpPr>
        <p:spPr>
          <a:xfrm>
            <a:off x="397002"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0"/>
          <p:cNvSpPr/>
          <p:nvPr/>
        </p:nvSpPr>
        <p:spPr>
          <a:xfrm>
            <a:off x="694277"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3.08×</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694277"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269.184 s → 87.423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69" name="Google Shape;169;p10"/>
          <p:cNvSpPr/>
          <p:nvPr/>
        </p:nvSpPr>
        <p:spPr>
          <a:xfrm>
            <a:off x="6260783" y="3339084"/>
            <a:ext cx="5533930" cy="1320832"/>
          </a:xfrm>
          <a:prstGeom prst="roundRect">
            <a:avLst>
              <a:gd fmla="val 5769"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10"/>
          <p:cNvSpPr/>
          <p:nvPr/>
        </p:nvSpPr>
        <p:spPr>
          <a:xfrm>
            <a:off x="6558058" y="3587972"/>
            <a:ext cx="4986909" cy="877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3900"/>
              <a:buFont typeface="Helvetica Neue"/>
              <a:buNone/>
            </a:pPr>
            <a:r>
              <a:rPr b="1" i="0" lang="en-US" sz="3900" u="none" cap="none" strike="noStrike">
                <a:solidFill>
                  <a:srgbClr val="3D8DFF"/>
                </a:solidFill>
                <a:latin typeface="Helvetica Neue"/>
                <a:ea typeface="Helvetica Neue"/>
                <a:cs typeface="Helvetica Neue"/>
                <a:sym typeface="Helvetica Neue"/>
              </a:rPr>
              <a:t>3.00×</a:t>
            </a:r>
            <a:endParaRPr b="0" i="0" sz="1400" u="none" cap="none" strike="noStrike">
              <a:solidFill>
                <a:srgbClr val="000000"/>
              </a:solidFill>
              <a:latin typeface="Arial"/>
              <a:ea typeface="Arial"/>
              <a:cs typeface="Arial"/>
              <a:sym typeface="Arial"/>
            </a:endParaRPr>
          </a:p>
        </p:txBody>
      </p:sp>
      <p:sp>
        <p:nvSpPr>
          <p:cNvPr id="171" name="Google Shape;171;p10"/>
          <p:cNvSpPr/>
          <p:nvPr/>
        </p:nvSpPr>
        <p:spPr>
          <a:xfrm>
            <a:off x="6558058" y="4828604"/>
            <a:ext cx="5236655" cy="9779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Helvetica Neue"/>
              <a:buNone/>
            </a:pPr>
            <a:r>
              <a:rPr b="1" i="0" lang="en-US" sz="150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500"/>
              <a:buFont typeface="Helvetica Neue"/>
              <a:buNone/>
            </a:pPr>
            <a:r>
              <a:rPr b="0" i="0" lang="en-US" sz="1500" u="none" cap="none" strike="noStrike">
                <a:solidFill>
                  <a:srgbClr val="5B616B"/>
                </a:solidFill>
                <a:latin typeface="Helvetica Neue"/>
                <a:ea typeface="Helvetica Neue"/>
                <a:cs typeface="Helvetica Neue"/>
                <a:sym typeface="Helvetica Neue"/>
              </a:rPr>
              <a:t>1114.349 s → 371.809 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5B616B"/>
              </a:buClr>
              <a:buSzPts val="1275"/>
              <a:buFont typeface="Helvetica Neue"/>
              <a:buNone/>
            </a:pPr>
            <a:r>
              <a:rPr b="0" i="0" lang="en-US" sz="1275" u="none" cap="none" strike="noStrike">
                <a:solidFill>
                  <a:srgbClr val="5B616B"/>
                </a:solidFill>
                <a:latin typeface="Helvetica Neue"/>
                <a:ea typeface="Helvetica Neue"/>
                <a:cs typeface="Helvetica Neue"/>
                <a:sym typeface="Helvetica Neue"/>
              </a:rPr>
              <a:t>direct → tiled sequential</a:t>
            </a:r>
            <a:endParaRPr b="0" i="0" sz="1400" u="none" cap="none" strike="noStrike">
              <a:solidFill>
                <a:srgbClr val="000000"/>
              </a:solidFill>
              <a:latin typeface="Arial"/>
              <a:ea typeface="Arial"/>
              <a:cs typeface="Arial"/>
              <a:sym typeface="Arial"/>
            </a:endParaRPr>
          </a:p>
        </p:txBody>
      </p:sp>
      <p:sp>
        <p:nvSpPr>
          <p:cNvPr id="172" name="Google Shape;172;p10"/>
          <p:cNvSpPr/>
          <p:nvPr/>
        </p:nvSpPr>
        <p:spPr>
          <a:xfrm>
            <a:off x="400907" y="1157478"/>
            <a:ext cx="11404568" cy="16292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75"/>
              <a:buFont typeface="Helvetica Neue"/>
              <a:buNone/>
            </a:pPr>
            <a:r>
              <a:rPr b="1" i="0" lang="en-US" sz="1875" u="none" cap="none" strike="noStrike">
                <a:solidFill>
                  <a:srgbClr val="000000"/>
                </a:solidFill>
                <a:latin typeface="Helvetica Neue"/>
                <a:ea typeface="Helvetica Neue"/>
                <a:cs typeface="Helvetica Neue"/>
                <a:sym typeface="Helvetica Neue"/>
              </a:rPr>
              <a:t>The optimized local kernel lowers the cost inherited by every parallel backend.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50"/>
              </a:spcBef>
              <a:spcAft>
                <a:spcPts val="0"/>
              </a:spcAft>
              <a:buClr>
                <a:srgbClr val="5B616B"/>
              </a:buClr>
              <a:buSzPts val="1425"/>
              <a:buFont typeface="Helvetica Neue"/>
              <a:buNone/>
            </a:pPr>
            <a:r>
              <a:rPr b="0" i="0" lang="en-US" sz="1425" u="none" cap="none" strike="noStrike">
                <a:solidFill>
                  <a:srgbClr val="5B616B"/>
                </a:solidFill>
                <a:latin typeface="Helvetica Neue"/>
                <a:ea typeface="Helvetica Neue"/>
                <a:cs typeface="Helvetica Neue"/>
                <a:sym typeface="Helvetica Neue"/>
              </a:rPr>
              <a:t>Tiling and packed-transpose handling were introduced together, so this experiment measures their combined effect.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25"/>
              <a:buFont typeface="Helvetica Neue"/>
              <a:buNone/>
            </a:pPr>
            <a:r>
              <a:t/>
            </a:r>
            <a:endParaRPr b="0" i="0" sz="1425" u="none" cap="none" strike="noStrike">
              <a:solidFill>
                <a:srgbClr val="5B616B"/>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p11"/>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OpenMP’s best thread count depends on matrix shape</a:t>
            </a:r>
            <a:endParaRPr b="0" i="0" sz="1400" u="none" cap="none" strike="noStrike">
              <a:solidFill>
                <a:srgbClr val="000000"/>
              </a:solidFill>
              <a:latin typeface="Arial"/>
              <a:ea typeface="Arial"/>
              <a:cs typeface="Arial"/>
              <a:sym typeface="Arial"/>
            </a:endParaRPr>
          </a:p>
        </p:txBody>
      </p:sp>
      <p:sp>
        <p:nvSpPr>
          <p:cNvPr id="179" name="Google Shape;179;p11"/>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180" name="Google Shape;180;p11"/>
          <p:cNvSpPr/>
          <p:nvPr/>
        </p:nvSpPr>
        <p:spPr>
          <a:xfrm>
            <a:off x="323850" y="1181100"/>
            <a:ext cx="8343900" cy="4819650"/>
          </a:xfrm>
          <a:prstGeom prst="roundRect">
            <a:avLst>
              <a:gd fmla="val 1581"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81" name="Google Shape;181;p11"/>
          <p:cNvPicPr preferRelativeResize="0"/>
          <p:nvPr/>
        </p:nvPicPr>
        <p:blipFill rotWithShape="1">
          <a:blip r:embed="rId3">
            <a:alphaModFix/>
          </a:blip>
          <a:srcRect b="0" l="0" r="0" t="0"/>
          <a:stretch/>
        </p:blipFill>
        <p:spPr>
          <a:xfrm>
            <a:off x="400050" y="2000201"/>
            <a:ext cx="8191500" cy="3181448"/>
          </a:xfrm>
          <a:prstGeom prst="rect">
            <a:avLst/>
          </a:prstGeom>
          <a:noFill/>
          <a:ln>
            <a:noFill/>
          </a:ln>
        </p:spPr>
      </p:pic>
      <p:sp>
        <p:nvSpPr>
          <p:cNvPr id="182" name="Google Shape;182;p11"/>
          <p:cNvSpPr/>
          <p:nvPr/>
        </p:nvSpPr>
        <p:spPr>
          <a:xfrm>
            <a:off x="8953500" y="14287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1"/>
          <p:cNvSpPr/>
          <p:nvPr/>
        </p:nvSpPr>
        <p:spPr>
          <a:xfrm>
            <a:off x="9182100" y="16002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10.58×</a:t>
            </a:r>
            <a:endParaRPr b="0" i="0" sz="1400" u="none" cap="none" strike="noStrike">
              <a:solidFill>
                <a:srgbClr val="000000"/>
              </a:solidFill>
              <a:latin typeface="Arial"/>
              <a:ea typeface="Arial"/>
              <a:cs typeface="Arial"/>
              <a:sym typeface="Arial"/>
            </a:endParaRPr>
          </a:p>
        </p:txBody>
      </p:sp>
      <p:sp>
        <p:nvSpPr>
          <p:cNvPr id="184" name="Google Shape;184;p11"/>
          <p:cNvSpPr/>
          <p:nvPr/>
        </p:nvSpPr>
        <p:spPr>
          <a:xfrm>
            <a:off x="9182100" y="22669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best at 32 threads</a:t>
            </a:r>
            <a:endParaRPr b="0" i="0" sz="1400" u="none" cap="none" strike="noStrike">
              <a:solidFill>
                <a:srgbClr val="000000"/>
              </a:solidFill>
              <a:latin typeface="Arial"/>
              <a:ea typeface="Arial"/>
              <a:cs typeface="Arial"/>
              <a:sym typeface="Arial"/>
            </a:endParaRPr>
          </a:p>
        </p:txBody>
      </p:sp>
      <p:sp>
        <p:nvSpPr>
          <p:cNvPr id="185" name="Google Shape;185;p11"/>
          <p:cNvSpPr/>
          <p:nvPr/>
        </p:nvSpPr>
        <p:spPr>
          <a:xfrm>
            <a:off x="8953500" y="3486150"/>
            <a:ext cx="2838450" cy="1809750"/>
          </a:xfrm>
          <a:prstGeom prst="roundRect">
            <a:avLst>
              <a:gd fmla="val 4211"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1"/>
          <p:cNvSpPr/>
          <p:nvPr/>
        </p:nvSpPr>
        <p:spPr>
          <a:xfrm>
            <a:off x="9182100" y="3657600"/>
            <a:ext cx="23812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3D8DFF"/>
                </a:solidFill>
                <a:latin typeface="Helvetica Neue"/>
                <a:ea typeface="Helvetica Neue"/>
                <a:cs typeface="Helvetica Neue"/>
                <a:sym typeface="Helvetica Neue"/>
              </a:rPr>
              <a:t>24.43×</a:t>
            </a:r>
            <a:endParaRPr b="0" i="0" sz="1400" u="none" cap="none" strike="noStrike">
              <a:solidFill>
                <a:srgbClr val="000000"/>
              </a:solidFill>
              <a:latin typeface="Arial"/>
              <a:ea typeface="Arial"/>
              <a:cs typeface="Arial"/>
              <a:sym typeface="Arial"/>
            </a:endParaRPr>
          </a:p>
        </p:txBody>
      </p:sp>
      <p:sp>
        <p:nvSpPr>
          <p:cNvPr id="187" name="Google Shape;187;p11"/>
          <p:cNvSpPr/>
          <p:nvPr/>
        </p:nvSpPr>
        <p:spPr>
          <a:xfrm>
            <a:off x="9182100" y="4324350"/>
            <a:ext cx="238125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continues through 64 threads</a:t>
            </a:r>
            <a:endParaRPr b="0" i="0" sz="1400" u="none" cap="none" strike="noStrike">
              <a:solidFill>
                <a:srgbClr val="000000"/>
              </a:solidFill>
              <a:latin typeface="Arial"/>
              <a:ea typeface="Arial"/>
              <a:cs typeface="Arial"/>
              <a:sym typeface="Arial"/>
            </a:endParaRPr>
          </a:p>
        </p:txBody>
      </p:sp>
      <p:sp>
        <p:nvSpPr>
          <p:cNvPr id="188" name="Google Shape;188;p11"/>
          <p:cNvSpPr/>
          <p:nvPr/>
        </p:nvSpPr>
        <p:spPr>
          <a:xfrm>
            <a:off x="8953500" y="5543550"/>
            <a:ext cx="2838450" cy="5143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Output-tile shape determines how much useful work can be shared.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2"/>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The two network shapes expose radically different tile counts</a:t>
            </a:r>
            <a:endParaRPr b="0" i="0" sz="1400" u="none" cap="none" strike="noStrike">
              <a:solidFill>
                <a:srgbClr val="000000"/>
              </a:solidFill>
              <a:latin typeface="Arial"/>
              <a:ea typeface="Arial"/>
              <a:cs typeface="Arial"/>
              <a:sym typeface="Arial"/>
            </a:endParaRPr>
          </a:p>
        </p:txBody>
      </p:sp>
      <p:sp>
        <p:nvSpPr>
          <p:cNvPr id="195" name="Google Shape;195;p12"/>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9</a:t>
            </a:r>
            <a:endParaRPr b="0" i="0" sz="1400" u="none" cap="none" strike="noStrike">
              <a:solidFill>
                <a:srgbClr val="000000"/>
              </a:solidFill>
              <a:latin typeface="Arial"/>
              <a:ea typeface="Arial"/>
              <a:cs typeface="Arial"/>
              <a:sym typeface="Arial"/>
            </a:endParaRPr>
          </a:p>
        </p:txBody>
      </p:sp>
      <p:sp>
        <p:nvSpPr>
          <p:cNvPr id="196" name="Google Shape;196;p12"/>
          <p:cNvSpPr/>
          <p:nvPr/>
        </p:nvSpPr>
        <p:spPr>
          <a:xfrm>
            <a:off x="7905750" y="1066800"/>
            <a:ext cx="3886200" cy="24765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Full mini-batch B = 64 · tile width T = 64</a:t>
            </a:r>
            <a:endParaRPr b="0" i="0" sz="1400" u="none" cap="none" strike="noStrike">
              <a:solidFill>
                <a:srgbClr val="000000"/>
              </a:solidFill>
              <a:latin typeface="Arial"/>
              <a:ea typeface="Arial"/>
              <a:cs typeface="Arial"/>
              <a:sym typeface="Arial"/>
            </a:endParaRPr>
          </a:p>
        </p:txBody>
      </p:sp>
      <p:sp>
        <p:nvSpPr>
          <p:cNvPr id="197" name="Google Shape;197;p12"/>
          <p:cNvSpPr/>
          <p:nvPr/>
        </p:nvSpPr>
        <p:spPr>
          <a:xfrm>
            <a:off x="40005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Canonical workload</a:t>
            </a:r>
            <a:endParaRPr b="0" i="0" sz="1400" u="none" cap="none" strike="noStrike">
              <a:solidFill>
                <a:srgbClr val="000000"/>
              </a:solidFill>
              <a:latin typeface="Arial"/>
              <a:ea typeface="Arial"/>
              <a:cs typeface="Arial"/>
              <a:sym typeface="Arial"/>
            </a:endParaRPr>
          </a:p>
        </p:txBody>
      </p:sp>
      <p:sp>
        <p:nvSpPr>
          <p:cNvPr id="198" name="Google Shape;198;p12"/>
          <p:cNvSpPr/>
          <p:nvPr/>
        </p:nvSpPr>
        <p:spPr>
          <a:xfrm>
            <a:off x="40005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1024 → 1536 → 10</a:t>
            </a:r>
            <a:endParaRPr b="0" i="0" sz="1400" u="none" cap="none" strike="noStrike">
              <a:solidFill>
                <a:srgbClr val="000000"/>
              </a:solidFill>
              <a:latin typeface="Arial"/>
              <a:ea typeface="Arial"/>
              <a:cs typeface="Arial"/>
              <a:sym typeface="Arial"/>
            </a:endParaRPr>
          </a:p>
        </p:txBody>
      </p:sp>
      <p:graphicFrame>
        <p:nvGraphicFramePr>
          <p:cNvPr id="199" name="Google Shape;199;p12"/>
          <p:cNvGraphicFramePr/>
          <p:nvPr/>
        </p:nvGraphicFramePr>
        <p:xfrm>
          <a:off x="400050" y="2209800"/>
          <a:ext cx="3000000" cy="3000000"/>
        </p:xfrm>
        <a:graphic>
          <a:graphicData uri="http://schemas.openxmlformats.org/drawingml/2006/table">
            <a:tbl>
              <a:tblPr>
                <a:noFill/>
                <a:tableStyleId>{8A91943F-CF74-4FE7-8ED7-1DBE6B88E614}</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1536</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1536</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24</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1536 × 1024</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384</a:t>
                      </a:r>
                      <a:endParaRPr sz="1400" u="none" cap="none" strike="noStrike"/>
                    </a:p>
                  </a:txBody>
                  <a:tcPr marT="66675" marB="66675" marR="95250" marL="95250" anchor="ctr">
                    <a:solidFill>
                      <a:srgbClr val="EAF5FB"/>
                    </a:solidFill>
                  </a:tcPr>
                </a:tc>
              </a:tr>
            </a:tbl>
          </a:graphicData>
        </a:graphic>
      </p:graphicFrame>
      <p:sp>
        <p:nvSpPr>
          <p:cNvPr id="200" name="Google Shape;200;p12"/>
          <p:cNvSpPr/>
          <p:nvPr/>
        </p:nvSpPr>
        <p:spPr>
          <a:xfrm>
            <a:off x="6362700" y="1428750"/>
            <a:ext cx="5429250"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50"/>
              <a:buFont typeface="Arial"/>
              <a:buNone/>
            </a:pPr>
            <a:r>
              <a:rPr b="1" i="0" lang="en-US" sz="1950" u="none" cap="none" strike="noStrike">
                <a:solidFill>
                  <a:srgbClr val="000000"/>
                </a:solidFill>
                <a:latin typeface="Helvetica Neue"/>
                <a:ea typeface="Helvetica Neue"/>
                <a:cs typeface="Helvetica Neue"/>
                <a:sym typeface="Helvetica Neue"/>
              </a:rPr>
              <a:t>Large-input workload</a:t>
            </a:r>
            <a:endParaRPr b="0" i="0" sz="1400" u="none" cap="none" strike="noStrike">
              <a:solidFill>
                <a:srgbClr val="000000"/>
              </a:solidFill>
              <a:latin typeface="Arial"/>
              <a:ea typeface="Arial"/>
              <a:cs typeface="Arial"/>
              <a:sym typeface="Arial"/>
            </a:endParaRPr>
          </a:p>
        </p:txBody>
      </p:sp>
      <p:sp>
        <p:nvSpPr>
          <p:cNvPr id="201" name="Google Shape;201;p12"/>
          <p:cNvSpPr/>
          <p:nvPr/>
        </p:nvSpPr>
        <p:spPr>
          <a:xfrm>
            <a:off x="6362700" y="1790700"/>
            <a:ext cx="5429250" cy="266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0" i="0" lang="en-US" sz="1350" u="none" cap="none" strike="noStrike">
                <a:solidFill>
                  <a:srgbClr val="5B616B"/>
                </a:solidFill>
                <a:latin typeface="Helvetica Neue"/>
                <a:ea typeface="Helvetica Neue"/>
                <a:cs typeface="Helvetica Neue"/>
                <a:sym typeface="Helvetica Neue"/>
              </a:rPr>
              <a:t>178608 → 448 → 10</a:t>
            </a:r>
            <a:endParaRPr b="0" i="0" sz="1400" u="none" cap="none" strike="noStrike">
              <a:solidFill>
                <a:srgbClr val="000000"/>
              </a:solidFill>
              <a:latin typeface="Arial"/>
              <a:ea typeface="Arial"/>
              <a:cs typeface="Arial"/>
              <a:sym typeface="Arial"/>
            </a:endParaRPr>
          </a:p>
        </p:txBody>
      </p:sp>
      <p:graphicFrame>
        <p:nvGraphicFramePr>
          <p:cNvPr id="202" name="Google Shape;202;p12"/>
          <p:cNvGraphicFramePr/>
          <p:nvPr/>
        </p:nvGraphicFramePr>
        <p:xfrm>
          <a:off x="6362700" y="2209800"/>
          <a:ext cx="3000000" cy="3000000"/>
        </p:xfrm>
        <a:graphic>
          <a:graphicData uri="http://schemas.openxmlformats.org/drawingml/2006/table">
            <a:tbl>
              <a:tblPr>
                <a:noFill/>
                <a:tableStyleId>{8A91943F-CF74-4FE7-8ED7-1DBE6B88E614}</a:tableStyleId>
              </a:tblPr>
              <a:tblGrid>
                <a:gridCol w="2571750"/>
                <a:gridCol w="1676400"/>
                <a:gridCol w="1181100"/>
              </a:tblGrid>
              <a:tr h="457200">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Operation</a:t>
                      </a:r>
                      <a:endParaRPr sz="1400" u="none" cap="none" strike="noStrike"/>
                    </a:p>
                  </a:txBody>
                  <a:tcPr marT="76200" marB="76200" marR="95250" marL="95250" anchor="ctr">
                    <a:solidFill>
                      <a:srgbClr val="000000"/>
                    </a:solidFill>
                  </a:tcPr>
                </a:tc>
                <a:tc>
                  <a:txBody>
                    <a:bodyPr/>
                    <a:lstStyle/>
                    <a:p>
                      <a:pPr indent="0" lvl="0" marL="0" marR="0" rtl="0" algn="l">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Output shape</a:t>
                      </a:r>
                      <a:endParaRPr sz="1400" u="none" cap="none" strike="noStrike"/>
                    </a:p>
                  </a:txBody>
                  <a:tcPr marT="76200" marB="76200" marR="95250" marL="95250" anchor="ctr">
                    <a:solidFill>
                      <a:srgbClr val="000000"/>
                    </a:solidFill>
                  </a:tcPr>
                </a:tc>
                <a:tc>
                  <a:txBody>
                    <a:bodyPr/>
                    <a:lstStyle/>
                    <a:p>
                      <a:pPr indent="0" lvl="0" marL="0" marR="0" rtl="0" algn="ctr">
                        <a:lnSpc>
                          <a:spcPct val="100000"/>
                        </a:lnSpc>
                        <a:spcBef>
                          <a:spcPts val="0"/>
                        </a:spcBef>
                        <a:spcAft>
                          <a:spcPts val="0"/>
                        </a:spcAft>
                        <a:buClr>
                          <a:srgbClr val="FFFFFF"/>
                        </a:buClr>
                        <a:buSzPts val="1275"/>
                        <a:buFont typeface="Helvetica Neue"/>
                        <a:buNone/>
                      </a:pPr>
                      <a:r>
                        <a:rPr b="1" lang="en-US" sz="1275" u="none" cap="none" strike="noStrike">
                          <a:solidFill>
                            <a:srgbClr val="FFFFFF"/>
                          </a:solidFill>
                          <a:latin typeface="Helvetica Neue"/>
                          <a:ea typeface="Helvetica Neue"/>
                          <a:cs typeface="Helvetica Neue"/>
                          <a:sym typeface="Helvetica Neue"/>
                        </a:rPr>
                        <a:t>Tiles</a:t>
                      </a:r>
                      <a:endParaRPr sz="1400" u="none" cap="none" strike="noStrike"/>
                    </a:p>
                  </a:txBody>
                  <a:tcPr marT="76200" marB="76200" marR="95250" marL="95250" anchor="ctr">
                    <a:solidFill>
                      <a:srgbClr val="000000"/>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 forward</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 forward</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10</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Hidden-delta calculation</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64 × 448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Output-weight gradient</a:t>
                      </a:r>
                      <a:endParaRPr sz="1400" u="none" cap="none" strike="noStrike"/>
                    </a:p>
                  </a:txBody>
                  <a:tcPr marT="66675" marB="66675" marR="95250" marL="95250" anchor="ctr">
                    <a:solidFill>
                      <a:srgbClr val="F5F6F7"/>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10 × 448</a:t>
                      </a:r>
                      <a:endParaRPr sz="1400" u="none" cap="none" strike="noStrike"/>
                    </a:p>
                  </a:txBody>
                  <a:tcPr marT="66675" marB="66675" marR="95250" marL="95250" anchor="ctr">
                    <a:solidFill>
                      <a:srgbClr val="F5F6F7"/>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7</a:t>
                      </a:r>
                      <a:endParaRPr sz="1400" u="none" cap="none" strike="noStrike"/>
                    </a:p>
                  </a:txBody>
                  <a:tcPr marT="66675" marB="66675" marR="95250" marL="95250" anchor="ctr">
                    <a:solidFill>
                      <a:srgbClr val="EAF5FB"/>
                    </a:solidFill>
                  </a:tcPr>
                </a:tc>
              </a:tr>
              <a:tr h="533400">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Hidden-weight gradient</a:t>
                      </a:r>
                      <a:endParaRPr sz="1400" u="none" cap="none" strike="noStrike"/>
                    </a:p>
                  </a:txBody>
                  <a:tcPr marT="66675" marB="66675" marR="95250" marL="95250" anchor="ctr">
                    <a:solidFill>
                      <a:srgbClr val="FFFFFF"/>
                    </a:solidFill>
                  </a:tcPr>
                </a:tc>
                <a:tc>
                  <a:txBody>
                    <a:bodyPr/>
                    <a:lstStyle/>
                    <a:p>
                      <a:pPr indent="0" lvl="0" marL="0" marR="0" rtl="0" algn="l">
                        <a:lnSpc>
                          <a:spcPct val="100000"/>
                        </a:lnSpc>
                        <a:spcBef>
                          <a:spcPts val="0"/>
                        </a:spcBef>
                        <a:spcAft>
                          <a:spcPts val="0"/>
                        </a:spcAft>
                        <a:buClr>
                          <a:srgbClr val="000000"/>
                        </a:buClr>
                        <a:buSzPts val="1200"/>
                        <a:buFont typeface="Helvetica Neue"/>
                        <a:buNone/>
                      </a:pPr>
                      <a:r>
                        <a:rPr lang="en-US" sz="1200" u="none" cap="none" strike="noStrike">
                          <a:solidFill>
                            <a:srgbClr val="000000"/>
                          </a:solidFill>
                          <a:latin typeface="Helvetica Neue"/>
                          <a:ea typeface="Helvetica Neue"/>
                          <a:cs typeface="Helvetica Neue"/>
                          <a:sym typeface="Helvetica Neue"/>
                        </a:rPr>
                        <a:t>448 × 178608</a:t>
                      </a:r>
                      <a:endParaRPr sz="1400" u="none" cap="none" strike="noStrike"/>
                    </a:p>
                  </a:txBody>
                  <a:tcPr marT="66675" marB="66675" marR="95250" marL="95250" anchor="ctr">
                    <a:solidFill>
                      <a:srgbClr val="FFFFFF"/>
                    </a:solidFill>
                  </a:tcPr>
                </a:tc>
                <a:tc>
                  <a:txBody>
                    <a:bodyPr/>
                    <a:lstStyle/>
                    <a:p>
                      <a:pPr indent="0" lvl="0" marL="0" marR="0" rtl="0" algn="ctr">
                        <a:lnSpc>
                          <a:spcPct val="100000"/>
                        </a:lnSpc>
                        <a:spcBef>
                          <a:spcPts val="0"/>
                        </a:spcBef>
                        <a:spcAft>
                          <a:spcPts val="0"/>
                        </a:spcAft>
                        <a:buClr>
                          <a:srgbClr val="3D8DFF"/>
                        </a:buClr>
                        <a:buSzPts val="1275"/>
                        <a:buFont typeface="Helvetica Neue"/>
                        <a:buNone/>
                      </a:pPr>
                      <a:r>
                        <a:rPr b="1" lang="en-US" sz="1275" u="none" cap="none" strike="noStrike">
                          <a:solidFill>
                            <a:srgbClr val="3D8DFF"/>
                          </a:solidFill>
                          <a:latin typeface="Helvetica Neue"/>
                          <a:ea typeface="Helvetica Neue"/>
                          <a:cs typeface="Helvetica Neue"/>
                          <a:sym typeface="Helvetica Neue"/>
                        </a:rPr>
                        <a:t>19,537</a:t>
                      </a:r>
                      <a:endParaRPr sz="1400" u="none" cap="none" strike="noStrike"/>
                    </a:p>
                  </a:txBody>
                  <a:tcPr marT="66675" marB="66675" marR="95250" marL="95250" anchor="ctr">
                    <a:solidFill>
                      <a:srgbClr val="EAF5FB"/>
                    </a:solidFill>
                  </a:tcPr>
                </a:tc>
              </a:tr>
            </a:tbl>
          </a:graphicData>
        </a:graphic>
      </p:graphicFrame>
      <p:sp>
        <p:nvSpPr>
          <p:cNvPr id="203" name="Google Shape;203;p12"/>
          <p:cNvSpPr/>
          <p:nvPr/>
        </p:nvSpPr>
        <p:spPr>
          <a:xfrm>
            <a:off x="400050" y="5619750"/>
            <a:ext cx="11391900" cy="552450"/>
          </a:xfrm>
          <a:prstGeom prst="roundRect">
            <a:avLst>
              <a:gd fmla="val 10345"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2"/>
          <p:cNvSpPr/>
          <p:nvPr/>
        </p:nvSpPr>
        <p:spPr>
          <a:xfrm>
            <a:off x="647700" y="5772150"/>
            <a:ext cx="10896600" cy="266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425"/>
              <a:buFont typeface="Arial"/>
              <a:buNone/>
            </a:pPr>
            <a:r>
              <a:rPr b="1" i="0" lang="en-US" sz="1425" u="none" cap="none" strike="noStrike">
                <a:solidFill>
                  <a:srgbClr val="3D8DFF"/>
                </a:solidFill>
                <a:latin typeface="Helvetica Neue"/>
                <a:ea typeface="Helvetica Neue"/>
                <a:cs typeface="Helvetica Neue"/>
                <a:sym typeface="Helvetica Neue"/>
              </a:rPr>
              <a:t>The largest gradient operation exposes 384 tiles versus 19,537—enough extra parallel work to keep the larger team useful.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3"/>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MPI reaches 20.55× while also changing the update schedule</a:t>
            </a:r>
            <a:endParaRPr b="0" i="0" sz="1400" u="none" cap="none" strike="noStrike">
              <a:solidFill>
                <a:srgbClr val="000000"/>
              </a:solidFill>
              <a:latin typeface="Arial"/>
              <a:ea typeface="Arial"/>
              <a:cs typeface="Arial"/>
              <a:sym typeface="Arial"/>
            </a:endParaRPr>
          </a:p>
        </p:txBody>
      </p:sp>
      <p:sp>
        <p:nvSpPr>
          <p:cNvPr id="211" name="Google Shape;211;p13"/>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10</a:t>
            </a:r>
            <a:endParaRPr b="0" i="0" sz="1400" u="none" cap="none" strike="noStrike">
              <a:solidFill>
                <a:srgbClr val="000000"/>
              </a:solidFill>
              <a:latin typeface="Arial"/>
              <a:ea typeface="Arial"/>
              <a:cs typeface="Arial"/>
              <a:sym typeface="Arial"/>
            </a:endParaRPr>
          </a:p>
        </p:txBody>
      </p:sp>
      <p:sp>
        <p:nvSpPr>
          <p:cNvPr id="212" name="Google Shape;212;p13"/>
          <p:cNvSpPr/>
          <p:nvPr/>
        </p:nvSpPr>
        <p:spPr>
          <a:xfrm>
            <a:off x="323850" y="1181100"/>
            <a:ext cx="8105775" cy="4914900"/>
          </a:xfrm>
          <a:prstGeom prst="roundRect">
            <a:avLst>
              <a:gd fmla="val 1550"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3" name="Google Shape;213;p13"/>
          <p:cNvPicPr preferRelativeResize="0"/>
          <p:nvPr/>
        </p:nvPicPr>
        <p:blipFill rotWithShape="1">
          <a:blip r:embed="rId3">
            <a:alphaModFix/>
          </a:blip>
          <a:srcRect b="0" l="0" r="0" t="0"/>
          <a:stretch/>
        </p:blipFill>
        <p:spPr>
          <a:xfrm>
            <a:off x="400050" y="1930184"/>
            <a:ext cx="7953375" cy="3416732"/>
          </a:xfrm>
          <a:prstGeom prst="rect">
            <a:avLst/>
          </a:prstGeom>
          <a:noFill/>
          <a:ln>
            <a:noFill/>
          </a:ln>
        </p:spPr>
      </p:pic>
      <p:sp>
        <p:nvSpPr>
          <p:cNvPr id="214" name="Google Shape;214;p13"/>
          <p:cNvSpPr/>
          <p:nvPr/>
        </p:nvSpPr>
        <p:spPr>
          <a:xfrm>
            <a:off x="8715375" y="1295400"/>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13"/>
          <p:cNvSpPr/>
          <p:nvPr/>
        </p:nvSpPr>
        <p:spPr>
          <a:xfrm>
            <a:off x="8943975" y="146685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rPr b="1" i="0" lang="en-US" sz="2850" u="none" cap="none" strike="noStrike">
                <a:solidFill>
                  <a:srgbClr val="3D8DFF"/>
                </a:solidFill>
                <a:latin typeface="Helvetica Neue"/>
                <a:ea typeface="Helvetica Neue"/>
                <a:cs typeface="Helvetica Neue"/>
                <a:sym typeface="Helvetica Neue"/>
              </a:rPr>
              <a:t>20.55×</a:t>
            </a:r>
            <a:endParaRPr b="0" i="0" sz="1400" u="none" cap="none" strike="noStrike">
              <a:solidFill>
                <a:srgbClr val="000000"/>
              </a:solidFill>
              <a:latin typeface="Arial"/>
              <a:ea typeface="Arial"/>
              <a:cs typeface="Arial"/>
              <a:sym typeface="Arial"/>
            </a:endParaRPr>
          </a:p>
        </p:txBody>
      </p:sp>
      <p:sp>
        <p:nvSpPr>
          <p:cNvPr id="216" name="Google Shape;216;p13"/>
          <p:cNvSpPr/>
          <p:nvPr/>
        </p:nvSpPr>
        <p:spPr>
          <a:xfrm>
            <a:off x="8943975" y="213360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MPI self-speedup at 64 ranks</a:t>
            </a:r>
            <a:endParaRPr b="0" i="0" sz="1400" u="none" cap="none" strike="noStrike">
              <a:solidFill>
                <a:srgbClr val="000000"/>
              </a:solidFill>
              <a:latin typeface="Arial"/>
              <a:ea typeface="Arial"/>
              <a:cs typeface="Arial"/>
              <a:sym typeface="Arial"/>
            </a:endParaRPr>
          </a:p>
        </p:txBody>
      </p:sp>
      <p:sp>
        <p:nvSpPr>
          <p:cNvPr id="217" name="Google Shape;217;p13"/>
          <p:cNvSpPr/>
          <p:nvPr/>
        </p:nvSpPr>
        <p:spPr>
          <a:xfrm>
            <a:off x="8715375" y="2847975"/>
            <a:ext cx="3076575" cy="1371600"/>
          </a:xfrm>
          <a:prstGeom prst="roundRect">
            <a:avLst>
              <a:gd fmla="val 555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13"/>
          <p:cNvSpPr/>
          <p:nvPr/>
        </p:nvSpPr>
        <p:spPr>
          <a:xfrm>
            <a:off x="8943975" y="3019425"/>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00000"/>
                </a:solidFill>
                <a:latin typeface="Helvetica Neue"/>
                <a:ea typeface="Helvetica Neue"/>
                <a:cs typeface="Helvetica Neue"/>
                <a:sym typeface="Helvetica Neue"/>
              </a:rPr>
              <a:t>79 → 2</a:t>
            </a:r>
            <a:endParaRPr b="0" i="0" sz="1400" u="none" cap="none" strike="noStrike">
              <a:solidFill>
                <a:srgbClr val="000000"/>
              </a:solidFill>
              <a:latin typeface="Arial"/>
              <a:ea typeface="Arial"/>
              <a:cs typeface="Arial"/>
              <a:sym typeface="Arial"/>
            </a:endParaRPr>
          </a:p>
        </p:txBody>
      </p:sp>
      <p:sp>
        <p:nvSpPr>
          <p:cNvPr id="219" name="Google Shape;219;p13"/>
          <p:cNvSpPr/>
          <p:nvPr/>
        </p:nvSpPr>
        <p:spPr>
          <a:xfrm>
            <a:off x="8943975" y="3686175"/>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updates per epoch</a:t>
            </a:r>
            <a:endParaRPr b="0" i="0" sz="1400" u="none" cap="none" strike="noStrike">
              <a:solidFill>
                <a:srgbClr val="000000"/>
              </a:solidFill>
              <a:latin typeface="Arial"/>
              <a:ea typeface="Arial"/>
              <a:cs typeface="Arial"/>
              <a:sym typeface="Arial"/>
            </a:endParaRPr>
          </a:p>
        </p:txBody>
      </p:sp>
      <p:sp>
        <p:nvSpPr>
          <p:cNvPr id="220" name="Google Shape;220;p13"/>
          <p:cNvSpPr/>
          <p:nvPr/>
        </p:nvSpPr>
        <p:spPr>
          <a:xfrm>
            <a:off x="8715375" y="4400550"/>
            <a:ext cx="3076575" cy="1371600"/>
          </a:xfrm>
          <a:prstGeom prst="roundRect">
            <a:avLst>
              <a:gd fmla="val 5556"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3"/>
          <p:cNvSpPr/>
          <p:nvPr/>
        </p:nvSpPr>
        <p:spPr>
          <a:xfrm>
            <a:off x="8943975" y="4572000"/>
            <a:ext cx="2619375"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550"/>
              <a:buFont typeface="Arial"/>
              <a:buNone/>
            </a:pPr>
            <a:r>
              <a:rPr b="1" i="0" lang="en-US" sz="2550" u="none" cap="none" strike="noStrike">
                <a:solidFill>
                  <a:srgbClr val="000000"/>
                </a:solidFill>
                <a:latin typeface="Helvetica Neue"/>
                <a:ea typeface="Helvetica Neue"/>
                <a:cs typeface="Helvetica Neue"/>
                <a:sym typeface="Helvetica Neue"/>
              </a:rPr>
              <a:t>64 → 4096</a:t>
            </a:r>
            <a:endParaRPr b="0" i="0" sz="1400" u="none" cap="none" strike="noStrike">
              <a:solidFill>
                <a:srgbClr val="000000"/>
              </a:solidFill>
              <a:latin typeface="Arial"/>
              <a:ea typeface="Arial"/>
              <a:cs typeface="Arial"/>
              <a:sym typeface="Arial"/>
            </a:endParaRPr>
          </a:p>
        </p:txBody>
      </p:sp>
      <p:sp>
        <p:nvSpPr>
          <p:cNvPr id="222" name="Google Shape;222;p13"/>
          <p:cNvSpPr/>
          <p:nvPr/>
        </p:nvSpPr>
        <p:spPr>
          <a:xfrm>
            <a:off x="8943975" y="5238750"/>
            <a:ext cx="2619375" cy="361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effective global batch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14"/>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Weak scaling uses two different workload-growth rules</a:t>
            </a:r>
            <a:endParaRPr b="0" i="0" sz="1400" u="none" cap="none" strike="noStrike">
              <a:solidFill>
                <a:srgbClr val="000000"/>
              </a:solidFill>
              <a:latin typeface="Arial"/>
              <a:ea typeface="Arial"/>
              <a:cs typeface="Arial"/>
              <a:sym typeface="Arial"/>
            </a:endParaRPr>
          </a:p>
        </p:txBody>
      </p:sp>
      <p:sp>
        <p:nvSpPr>
          <p:cNvPr id="229" name="Google Shape;229;p14"/>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11</a:t>
            </a:r>
            <a:endParaRPr b="0" i="0" sz="1400" u="none" cap="none" strike="noStrike">
              <a:solidFill>
                <a:srgbClr val="000000"/>
              </a:solidFill>
              <a:latin typeface="Arial"/>
              <a:ea typeface="Arial"/>
              <a:cs typeface="Arial"/>
              <a:sym typeface="Arial"/>
            </a:endParaRPr>
          </a:p>
        </p:txBody>
      </p:sp>
      <p:sp>
        <p:nvSpPr>
          <p:cNvPr id="230" name="Google Shape;230;p14"/>
          <p:cNvSpPr/>
          <p:nvPr/>
        </p:nvSpPr>
        <p:spPr>
          <a:xfrm>
            <a:off x="40005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OpenMP · wider model</a:t>
            </a:r>
            <a:endParaRPr b="0" i="0" sz="1400" u="none" cap="none" strike="noStrike">
              <a:solidFill>
                <a:srgbClr val="000000"/>
              </a:solidFill>
              <a:latin typeface="Arial"/>
              <a:ea typeface="Arial"/>
              <a:cs typeface="Arial"/>
              <a:sym typeface="Arial"/>
            </a:endParaRPr>
          </a:p>
        </p:txBody>
      </p:sp>
      <p:sp>
        <p:nvSpPr>
          <p:cNvPr id="231" name="Google Shape;231;p14"/>
          <p:cNvSpPr/>
          <p:nvPr/>
        </p:nvSpPr>
        <p:spPr>
          <a:xfrm>
            <a:off x="6362700" y="1266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0000"/>
                </a:solidFill>
                <a:latin typeface="Helvetica Neue"/>
                <a:ea typeface="Helvetica Neue"/>
                <a:cs typeface="Helvetica Neue"/>
                <a:sym typeface="Helvetica Neue"/>
              </a:rPr>
              <a:t>MPI · larger dataset</a:t>
            </a:r>
            <a:endParaRPr b="0" i="0" sz="1400" u="none" cap="none" strike="noStrike">
              <a:solidFill>
                <a:srgbClr val="000000"/>
              </a:solidFill>
              <a:latin typeface="Arial"/>
              <a:ea typeface="Arial"/>
              <a:cs typeface="Arial"/>
              <a:sym typeface="Arial"/>
            </a:endParaRPr>
          </a:p>
        </p:txBody>
      </p:sp>
      <p:sp>
        <p:nvSpPr>
          <p:cNvPr id="232" name="Google Shape;232;p14"/>
          <p:cNvSpPr/>
          <p:nvPr/>
        </p:nvSpPr>
        <p:spPr>
          <a:xfrm>
            <a:off x="40005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33" name="Google Shape;233;p14"/>
          <p:cNvCxnSpPr/>
          <p:nvPr/>
        </p:nvCxnSpPr>
        <p:spPr>
          <a:xfrm>
            <a:off x="99060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34" name="Google Shape;234;p14"/>
          <p:cNvSpPr/>
          <p:nvPr/>
        </p:nvSpPr>
        <p:spPr>
          <a:xfrm>
            <a:off x="49530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35" name="Google Shape;235;p14"/>
          <p:cNvCxnSpPr/>
          <p:nvPr/>
        </p:nvCxnSpPr>
        <p:spPr>
          <a:xfrm>
            <a:off x="99060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36" name="Google Shape;236;p14"/>
          <p:cNvSpPr/>
          <p:nvPr/>
        </p:nvSpPr>
        <p:spPr>
          <a:xfrm>
            <a:off x="49530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37" name="Google Shape;237;p14"/>
          <p:cNvCxnSpPr/>
          <p:nvPr/>
        </p:nvCxnSpPr>
        <p:spPr>
          <a:xfrm>
            <a:off x="99060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38" name="Google Shape;238;p14"/>
          <p:cNvSpPr/>
          <p:nvPr/>
        </p:nvSpPr>
        <p:spPr>
          <a:xfrm>
            <a:off x="49530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39" name="Google Shape;239;p14"/>
          <p:cNvCxnSpPr/>
          <p:nvPr/>
        </p:nvCxnSpPr>
        <p:spPr>
          <a:xfrm>
            <a:off x="99060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40" name="Google Shape;240;p14"/>
          <p:cNvSpPr/>
          <p:nvPr/>
        </p:nvSpPr>
        <p:spPr>
          <a:xfrm>
            <a:off x="49530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41" name="Google Shape;241;p14"/>
          <p:cNvCxnSpPr/>
          <p:nvPr/>
        </p:nvCxnSpPr>
        <p:spPr>
          <a:xfrm>
            <a:off x="99060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42" name="Google Shape;242;p14"/>
          <p:cNvSpPr/>
          <p:nvPr/>
        </p:nvSpPr>
        <p:spPr>
          <a:xfrm>
            <a:off x="49530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43" name="Google Shape;243;p14"/>
          <p:cNvCxnSpPr/>
          <p:nvPr/>
        </p:nvCxnSpPr>
        <p:spPr>
          <a:xfrm>
            <a:off x="99060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44" name="Google Shape;244;p14"/>
          <p:cNvSpPr/>
          <p:nvPr/>
        </p:nvSpPr>
        <p:spPr>
          <a:xfrm>
            <a:off x="49530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45" name="Google Shape;245;p14"/>
          <p:cNvSpPr/>
          <p:nvPr/>
        </p:nvSpPr>
        <p:spPr>
          <a:xfrm>
            <a:off x="990600" y="1981200"/>
            <a:ext cx="4686300" cy="2514600"/>
          </a:xfrm>
          <a:custGeom>
            <a:rect b="b" l="l" r="r" t="t"/>
            <a:pathLst>
              <a:path extrusionOk="0" h="2514600" w="4686300">
                <a:moveTo>
                  <a:pt x="0" y="0"/>
                </a:moveTo>
                <a:lnTo>
                  <a:pt x="781050" y="1459977"/>
                </a:lnTo>
                <a:lnTo>
                  <a:pt x="1562100" y="748093"/>
                </a:lnTo>
                <a:lnTo>
                  <a:pt x="2343150" y="924618"/>
                </a:lnTo>
                <a:lnTo>
                  <a:pt x="3124200" y="1216815"/>
                </a:lnTo>
                <a:lnTo>
                  <a:pt x="3905250" y="1503228"/>
                </a:lnTo>
                <a:lnTo>
                  <a:pt x="4686300" y="2084100"/>
                </a:lnTo>
              </a:path>
            </a:pathLst>
          </a:custGeom>
          <a:noFill/>
          <a:ln cap="flat" cmpd="sng" w="28575">
            <a:solidFill>
              <a:srgbClr val="3D8DFF"/>
            </a:solidFill>
            <a:prstDash val="solid"/>
            <a:round/>
            <a:headEnd len="sm" w="sm" type="none"/>
            <a:tailEnd len="sm" w="sm" type="none"/>
          </a:ln>
        </p:spPr>
      </p:sp>
      <p:sp>
        <p:nvSpPr>
          <p:cNvPr id="246" name="Google Shape;246;p14"/>
          <p:cNvSpPr/>
          <p:nvPr/>
        </p:nvSpPr>
        <p:spPr>
          <a:xfrm>
            <a:off x="94297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4"/>
          <p:cNvSpPr/>
          <p:nvPr/>
        </p:nvSpPr>
        <p:spPr>
          <a:xfrm>
            <a:off x="8191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48" name="Google Shape;248;p14"/>
          <p:cNvSpPr/>
          <p:nvPr/>
        </p:nvSpPr>
        <p:spPr>
          <a:xfrm>
            <a:off x="1724025" y="339355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14"/>
          <p:cNvSpPr/>
          <p:nvPr/>
        </p:nvSpPr>
        <p:spPr>
          <a:xfrm>
            <a:off x="16002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50" name="Google Shape;250;p14"/>
          <p:cNvSpPr/>
          <p:nvPr/>
        </p:nvSpPr>
        <p:spPr>
          <a:xfrm>
            <a:off x="2505075" y="268166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4"/>
          <p:cNvSpPr/>
          <p:nvPr/>
        </p:nvSpPr>
        <p:spPr>
          <a:xfrm>
            <a:off x="23812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52" name="Google Shape;252;p14"/>
          <p:cNvSpPr/>
          <p:nvPr/>
        </p:nvSpPr>
        <p:spPr>
          <a:xfrm>
            <a:off x="3286125" y="285819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4"/>
          <p:cNvSpPr/>
          <p:nvPr/>
        </p:nvSpPr>
        <p:spPr>
          <a:xfrm>
            <a:off x="31623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54" name="Google Shape;254;p14"/>
          <p:cNvSpPr/>
          <p:nvPr/>
        </p:nvSpPr>
        <p:spPr>
          <a:xfrm>
            <a:off x="4067175" y="3150390"/>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4"/>
          <p:cNvSpPr/>
          <p:nvPr/>
        </p:nvSpPr>
        <p:spPr>
          <a:xfrm>
            <a:off x="39433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56" name="Google Shape;256;p14"/>
          <p:cNvSpPr/>
          <p:nvPr/>
        </p:nvSpPr>
        <p:spPr>
          <a:xfrm>
            <a:off x="4848225" y="343680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4"/>
          <p:cNvSpPr/>
          <p:nvPr/>
        </p:nvSpPr>
        <p:spPr>
          <a:xfrm>
            <a:off x="47244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58" name="Google Shape;258;p14"/>
          <p:cNvSpPr/>
          <p:nvPr/>
        </p:nvSpPr>
        <p:spPr>
          <a:xfrm>
            <a:off x="5629275" y="40176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14"/>
          <p:cNvSpPr/>
          <p:nvPr/>
        </p:nvSpPr>
        <p:spPr>
          <a:xfrm>
            <a:off x="55054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60" name="Google Shape;260;p14"/>
          <p:cNvSpPr/>
          <p:nvPr/>
        </p:nvSpPr>
        <p:spPr>
          <a:xfrm>
            <a:off x="280987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61" name="Google Shape;261;p14"/>
          <p:cNvSpPr/>
          <p:nvPr/>
        </p:nvSpPr>
        <p:spPr>
          <a:xfrm>
            <a:off x="6362700" y="1733550"/>
            <a:ext cx="1066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75"/>
              <a:buFont typeface="Arial"/>
              <a:buNone/>
            </a:pPr>
            <a:r>
              <a:rPr b="1" i="0" lang="en-US" sz="975" u="none" cap="none" strike="noStrike">
                <a:solidFill>
                  <a:srgbClr val="5B616B"/>
                </a:solidFill>
                <a:latin typeface="Helvetica Neue"/>
                <a:ea typeface="Helvetica Neue"/>
                <a:cs typeface="Helvetica Neue"/>
                <a:sym typeface="Helvetica Neue"/>
              </a:rPr>
              <a:t>Efficiency (%)</a:t>
            </a:r>
            <a:endParaRPr b="0" i="0" sz="1400" u="none" cap="none" strike="noStrike">
              <a:solidFill>
                <a:srgbClr val="000000"/>
              </a:solidFill>
              <a:latin typeface="Arial"/>
              <a:ea typeface="Arial"/>
              <a:cs typeface="Arial"/>
              <a:sym typeface="Arial"/>
            </a:endParaRPr>
          </a:p>
        </p:txBody>
      </p:sp>
      <p:cxnSp>
        <p:nvCxnSpPr>
          <p:cNvPr id="262" name="Google Shape;262;p14"/>
          <p:cNvCxnSpPr/>
          <p:nvPr/>
        </p:nvCxnSpPr>
        <p:spPr>
          <a:xfrm>
            <a:off x="6953250" y="4495800"/>
            <a:ext cx="4686300" cy="0"/>
          </a:xfrm>
          <a:prstGeom prst="straightConnector1">
            <a:avLst/>
          </a:prstGeom>
          <a:noFill/>
          <a:ln cap="flat" cmpd="sng" w="9525">
            <a:solidFill>
              <a:srgbClr val="B8BCC4"/>
            </a:solidFill>
            <a:prstDash val="solid"/>
            <a:round/>
            <a:headEnd len="sm" w="sm" type="none"/>
            <a:tailEnd len="sm" w="sm" type="none"/>
          </a:ln>
        </p:spPr>
      </p:cxnSp>
      <p:sp>
        <p:nvSpPr>
          <p:cNvPr id="263" name="Google Shape;263;p14"/>
          <p:cNvSpPr/>
          <p:nvPr/>
        </p:nvSpPr>
        <p:spPr>
          <a:xfrm>
            <a:off x="6457950" y="44005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0</a:t>
            </a:r>
            <a:endParaRPr b="0" i="0" sz="1400" u="none" cap="none" strike="noStrike">
              <a:solidFill>
                <a:srgbClr val="000000"/>
              </a:solidFill>
              <a:latin typeface="Arial"/>
              <a:ea typeface="Arial"/>
              <a:cs typeface="Arial"/>
              <a:sym typeface="Arial"/>
            </a:endParaRPr>
          </a:p>
        </p:txBody>
      </p:sp>
      <p:cxnSp>
        <p:nvCxnSpPr>
          <p:cNvPr id="264" name="Google Shape;264;p14"/>
          <p:cNvCxnSpPr/>
          <p:nvPr/>
        </p:nvCxnSpPr>
        <p:spPr>
          <a:xfrm>
            <a:off x="6953250" y="3992880"/>
            <a:ext cx="4686300" cy="0"/>
          </a:xfrm>
          <a:prstGeom prst="straightConnector1">
            <a:avLst/>
          </a:prstGeom>
          <a:noFill/>
          <a:ln cap="flat" cmpd="sng" w="9525">
            <a:solidFill>
              <a:srgbClr val="E8E8E8"/>
            </a:solidFill>
            <a:prstDash val="solid"/>
            <a:round/>
            <a:headEnd len="sm" w="sm" type="none"/>
            <a:tailEnd len="sm" w="sm" type="none"/>
          </a:ln>
        </p:spPr>
      </p:cxnSp>
      <p:sp>
        <p:nvSpPr>
          <p:cNvPr id="265" name="Google Shape;265;p14"/>
          <p:cNvSpPr/>
          <p:nvPr/>
        </p:nvSpPr>
        <p:spPr>
          <a:xfrm>
            <a:off x="6457950" y="389763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20</a:t>
            </a:r>
            <a:endParaRPr b="0" i="0" sz="1400" u="none" cap="none" strike="noStrike">
              <a:solidFill>
                <a:srgbClr val="000000"/>
              </a:solidFill>
              <a:latin typeface="Arial"/>
              <a:ea typeface="Arial"/>
              <a:cs typeface="Arial"/>
              <a:sym typeface="Arial"/>
            </a:endParaRPr>
          </a:p>
        </p:txBody>
      </p:sp>
      <p:cxnSp>
        <p:nvCxnSpPr>
          <p:cNvPr id="266" name="Google Shape;266;p14"/>
          <p:cNvCxnSpPr/>
          <p:nvPr/>
        </p:nvCxnSpPr>
        <p:spPr>
          <a:xfrm>
            <a:off x="6953250" y="3489960"/>
            <a:ext cx="4686300" cy="0"/>
          </a:xfrm>
          <a:prstGeom prst="straightConnector1">
            <a:avLst/>
          </a:prstGeom>
          <a:noFill/>
          <a:ln cap="flat" cmpd="sng" w="9525">
            <a:solidFill>
              <a:srgbClr val="E8E8E8"/>
            </a:solidFill>
            <a:prstDash val="solid"/>
            <a:round/>
            <a:headEnd len="sm" w="sm" type="none"/>
            <a:tailEnd len="sm" w="sm" type="none"/>
          </a:ln>
        </p:spPr>
      </p:cxnSp>
      <p:sp>
        <p:nvSpPr>
          <p:cNvPr id="267" name="Google Shape;267;p14"/>
          <p:cNvSpPr/>
          <p:nvPr/>
        </p:nvSpPr>
        <p:spPr>
          <a:xfrm>
            <a:off x="6457950" y="339471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40</a:t>
            </a:r>
            <a:endParaRPr b="0" i="0" sz="1400" u="none" cap="none" strike="noStrike">
              <a:solidFill>
                <a:srgbClr val="000000"/>
              </a:solidFill>
              <a:latin typeface="Arial"/>
              <a:ea typeface="Arial"/>
              <a:cs typeface="Arial"/>
              <a:sym typeface="Arial"/>
            </a:endParaRPr>
          </a:p>
        </p:txBody>
      </p:sp>
      <p:cxnSp>
        <p:nvCxnSpPr>
          <p:cNvPr id="268" name="Google Shape;268;p14"/>
          <p:cNvCxnSpPr/>
          <p:nvPr/>
        </p:nvCxnSpPr>
        <p:spPr>
          <a:xfrm>
            <a:off x="6953250" y="2987040"/>
            <a:ext cx="4686300" cy="0"/>
          </a:xfrm>
          <a:prstGeom prst="straightConnector1">
            <a:avLst/>
          </a:prstGeom>
          <a:noFill/>
          <a:ln cap="flat" cmpd="sng" w="9525">
            <a:solidFill>
              <a:srgbClr val="E8E8E8"/>
            </a:solidFill>
            <a:prstDash val="solid"/>
            <a:round/>
            <a:headEnd len="sm" w="sm" type="none"/>
            <a:tailEnd len="sm" w="sm" type="none"/>
          </a:ln>
        </p:spPr>
      </p:cxnSp>
      <p:sp>
        <p:nvSpPr>
          <p:cNvPr id="269" name="Google Shape;269;p14"/>
          <p:cNvSpPr/>
          <p:nvPr/>
        </p:nvSpPr>
        <p:spPr>
          <a:xfrm>
            <a:off x="6457950" y="289179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60</a:t>
            </a:r>
            <a:endParaRPr b="0" i="0" sz="1400" u="none" cap="none" strike="noStrike">
              <a:solidFill>
                <a:srgbClr val="000000"/>
              </a:solidFill>
              <a:latin typeface="Arial"/>
              <a:ea typeface="Arial"/>
              <a:cs typeface="Arial"/>
              <a:sym typeface="Arial"/>
            </a:endParaRPr>
          </a:p>
        </p:txBody>
      </p:sp>
      <p:cxnSp>
        <p:nvCxnSpPr>
          <p:cNvPr id="270" name="Google Shape;270;p14"/>
          <p:cNvCxnSpPr/>
          <p:nvPr/>
        </p:nvCxnSpPr>
        <p:spPr>
          <a:xfrm>
            <a:off x="6953250" y="2484120"/>
            <a:ext cx="4686300" cy="0"/>
          </a:xfrm>
          <a:prstGeom prst="straightConnector1">
            <a:avLst/>
          </a:prstGeom>
          <a:noFill/>
          <a:ln cap="flat" cmpd="sng" w="9525">
            <a:solidFill>
              <a:srgbClr val="E8E8E8"/>
            </a:solidFill>
            <a:prstDash val="solid"/>
            <a:round/>
            <a:headEnd len="sm" w="sm" type="none"/>
            <a:tailEnd len="sm" w="sm" type="none"/>
          </a:ln>
        </p:spPr>
      </p:cxnSp>
      <p:sp>
        <p:nvSpPr>
          <p:cNvPr id="271" name="Google Shape;271;p14"/>
          <p:cNvSpPr/>
          <p:nvPr/>
        </p:nvSpPr>
        <p:spPr>
          <a:xfrm>
            <a:off x="6457950" y="238887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80</a:t>
            </a:r>
            <a:endParaRPr b="0" i="0" sz="1400" u="none" cap="none" strike="noStrike">
              <a:solidFill>
                <a:srgbClr val="000000"/>
              </a:solidFill>
              <a:latin typeface="Arial"/>
              <a:ea typeface="Arial"/>
              <a:cs typeface="Arial"/>
              <a:sym typeface="Arial"/>
            </a:endParaRPr>
          </a:p>
        </p:txBody>
      </p:sp>
      <p:cxnSp>
        <p:nvCxnSpPr>
          <p:cNvPr id="272" name="Google Shape;272;p14"/>
          <p:cNvCxnSpPr/>
          <p:nvPr/>
        </p:nvCxnSpPr>
        <p:spPr>
          <a:xfrm>
            <a:off x="6953250" y="1981200"/>
            <a:ext cx="4686300" cy="0"/>
          </a:xfrm>
          <a:prstGeom prst="straightConnector1">
            <a:avLst/>
          </a:prstGeom>
          <a:noFill/>
          <a:ln cap="flat" cmpd="sng" w="9525">
            <a:solidFill>
              <a:srgbClr val="E8E8E8"/>
            </a:solidFill>
            <a:prstDash val="solid"/>
            <a:round/>
            <a:headEnd len="sm" w="sm" type="none"/>
            <a:tailEnd len="sm" w="sm" type="none"/>
          </a:ln>
        </p:spPr>
      </p:cxnSp>
      <p:sp>
        <p:nvSpPr>
          <p:cNvPr id="273" name="Google Shape;273;p14"/>
          <p:cNvSpPr/>
          <p:nvPr/>
        </p:nvSpPr>
        <p:spPr>
          <a:xfrm>
            <a:off x="6457950" y="1885950"/>
            <a:ext cx="381000" cy="190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100</a:t>
            </a:r>
            <a:endParaRPr b="0" i="0" sz="1400" u="none" cap="none" strike="noStrike">
              <a:solidFill>
                <a:srgbClr val="000000"/>
              </a:solidFill>
              <a:latin typeface="Arial"/>
              <a:ea typeface="Arial"/>
              <a:cs typeface="Arial"/>
              <a:sym typeface="Arial"/>
            </a:endParaRPr>
          </a:p>
        </p:txBody>
      </p:sp>
      <p:sp>
        <p:nvSpPr>
          <p:cNvPr id="274" name="Google Shape;274;p14"/>
          <p:cNvSpPr/>
          <p:nvPr/>
        </p:nvSpPr>
        <p:spPr>
          <a:xfrm>
            <a:off x="6953250" y="1981200"/>
            <a:ext cx="4686300" cy="2514600"/>
          </a:xfrm>
          <a:custGeom>
            <a:rect b="b" l="l" r="r" t="t"/>
            <a:pathLst>
              <a:path extrusionOk="0" h="2514600" w="4686300">
                <a:moveTo>
                  <a:pt x="0" y="0"/>
                </a:moveTo>
                <a:lnTo>
                  <a:pt x="781050" y="227823"/>
                </a:lnTo>
                <a:lnTo>
                  <a:pt x="1562100" y="502417"/>
                </a:lnTo>
                <a:lnTo>
                  <a:pt x="2343150" y="730491"/>
                </a:lnTo>
                <a:lnTo>
                  <a:pt x="3124200" y="1043056"/>
                </a:lnTo>
                <a:lnTo>
                  <a:pt x="3905250" y="1412199"/>
                </a:lnTo>
                <a:lnTo>
                  <a:pt x="4686300" y="1489398"/>
                </a:lnTo>
              </a:path>
            </a:pathLst>
          </a:custGeom>
          <a:noFill/>
          <a:ln cap="flat" cmpd="sng" w="28575">
            <a:solidFill>
              <a:srgbClr val="3D8DFF"/>
            </a:solidFill>
            <a:prstDash val="solid"/>
            <a:round/>
            <a:headEnd len="sm" w="sm" type="none"/>
            <a:tailEnd len="sm" w="sm" type="none"/>
          </a:ln>
        </p:spPr>
      </p:sp>
      <p:sp>
        <p:nvSpPr>
          <p:cNvPr id="275" name="Google Shape;275;p14"/>
          <p:cNvSpPr/>
          <p:nvPr/>
        </p:nvSpPr>
        <p:spPr>
          <a:xfrm>
            <a:off x="6905625" y="1933575"/>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4"/>
          <p:cNvSpPr/>
          <p:nvPr/>
        </p:nvSpPr>
        <p:spPr>
          <a:xfrm>
            <a:off x="67818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a:t>
            </a:r>
            <a:endParaRPr b="0" i="0" sz="1400" u="none" cap="none" strike="noStrike">
              <a:solidFill>
                <a:srgbClr val="000000"/>
              </a:solidFill>
              <a:latin typeface="Arial"/>
              <a:ea typeface="Arial"/>
              <a:cs typeface="Arial"/>
              <a:sym typeface="Arial"/>
            </a:endParaRPr>
          </a:p>
        </p:txBody>
      </p:sp>
      <p:sp>
        <p:nvSpPr>
          <p:cNvPr id="277" name="Google Shape;277;p14"/>
          <p:cNvSpPr/>
          <p:nvPr/>
        </p:nvSpPr>
        <p:spPr>
          <a:xfrm>
            <a:off x="7686675" y="2161398"/>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4"/>
          <p:cNvSpPr/>
          <p:nvPr/>
        </p:nvSpPr>
        <p:spPr>
          <a:xfrm>
            <a:off x="75628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2</a:t>
            </a:r>
            <a:endParaRPr b="0" i="0" sz="1400" u="none" cap="none" strike="noStrike">
              <a:solidFill>
                <a:srgbClr val="000000"/>
              </a:solidFill>
              <a:latin typeface="Arial"/>
              <a:ea typeface="Arial"/>
              <a:cs typeface="Arial"/>
              <a:sym typeface="Arial"/>
            </a:endParaRPr>
          </a:p>
        </p:txBody>
      </p:sp>
      <p:sp>
        <p:nvSpPr>
          <p:cNvPr id="279" name="Google Shape;279;p14"/>
          <p:cNvSpPr/>
          <p:nvPr/>
        </p:nvSpPr>
        <p:spPr>
          <a:xfrm>
            <a:off x="8467725" y="2435992"/>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4"/>
          <p:cNvSpPr/>
          <p:nvPr/>
        </p:nvSpPr>
        <p:spPr>
          <a:xfrm>
            <a:off x="83439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4</a:t>
            </a:r>
            <a:endParaRPr b="0" i="0" sz="1400" u="none" cap="none" strike="noStrike">
              <a:solidFill>
                <a:srgbClr val="000000"/>
              </a:solidFill>
              <a:latin typeface="Arial"/>
              <a:ea typeface="Arial"/>
              <a:cs typeface="Arial"/>
              <a:sym typeface="Arial"/>
            </a:endParaRPr>
          </a:p>
        </p:txBody>
      </p:sp>
      <p:sp>
        <p:nvSpPr>
          <p:cNvPr id="281" name="Google Shape;281;p14"/>
          <p:cNvSpPr/>
          <p:nvPr/>
        </p:nvSpPr>
        <p:spPr>
          <a:xfrm>
            <a:off x="9248775" y="2664066"/>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4"/>
          <p:cNvSpPr/>
          <p:nvPr/>
        </p:nvSpPr>
        <p:spPr>
          <a:xfrm>
            <a:off x="91249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8</a:t>
            </a:r>
            <a:endParaRPr b="0" i="0" sz="1400" u="none" cap="none" strike="noStrike">
              <a:solidFill>
                <a:srgbClr val="000000"/>
              </a:solidFill>
              <a:latin typeface="Arial"/>
              <a:ea typeface="Arial"/>
              <a:cs typeface="Arial"/>
              <a:sym typeface="Arial"/>
            </a:endParaRPr>
          </a:p>
        </p:txBody>
      </p:sp>
      <p:sp>
        <p:nvSpPr>
          <p:cNvPr id="283" name="Google Shape;283;p14"/>
          <p:cNvSpPr/>
          <p:nvPr/>
        </p:nvSpPr>
        <p:spPr>
          <a:xfrm>
            <a:off x="10029825" y="2976631"/>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4"/>
          <p:cNvSpPr/>
          <p:nvPr/>
        </p:nvSpPr>
        <p:spPr>
          <a:xfrm>
            <a:off x="99060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16</a:t>
            </a:r>
            <a:endParaRPr b="0" i="0" sz="1400" u="none" cap="none" strike="noStrike">
              <a:solidFill>
                <a:srgbClr val="000000"/>
              </a:solidFill>
              <a:latin typeface="Arial"/>
              <a:ea typeface="Arial"/>
              <a:cs typeface="Arial"/>
              <a:sym typeface="Arial"/>
            </a:endParaRPr>
          </a:p>
        </p:txBody>
      </p:sp>
      <p:sp>
        <p:nvSpPr>
          <p:cNvPr id="285" name="Google Shape;285;p14"/>
          <p:cNvSpPr/>
          <p:nvPr/>
        </p:nvSpPr>
        <p:spPr>
          <a:xfrm>
            <a:off x="10810875" y="3345774"/>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4"/>
          <p:cNvSpPr/>
          <p:nvPr/>
        </p:nvSpPr>
        <p:spPr>
          <a:xfrm>
            <a:off x="1068705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32</a:t>
            </a:r>
            <a:endParaRPr b="0" i="0" sz="1400" u="none" cap="none" strike="noStrike">
              <a:solidFill>
                <a:srgbClr val="000000"/>
              </a:solidFill>
              <a:latin typeface="Arial"/>
              <a:ea typeface="Arial"/>
              <a:cs typeface="Arial"/>
              <a:sym typeface="Arial"/>
            </a:endParaRPr>
          </a:p>
        </p:txBody>
      </p:sp>
      <p:sp>
        <p:nvSpPr>
          <p:cNvPr id="287" name="Google Shape;287;p14"/>
          <p:cNvSpPr/>
          <p:nvPr/>
        </p:nvSpPr>
        <p:spPr>
          <a:xfrm>
            <a:off x="11591925" y="3422973"/>
            <a:ext cx="95250" cy="95250"/>
          </a:xfrm>
          <a:prstGeom prst="ellipse">
            <a:avLst/>
          </a:prstGeom>
          <a:solidFill>
            <a:srgbClr val="3D8DFF"/>
          </a:solidFill>
          <a:ln cap="flat" cmpd="sng" w="9525">
            <a:solidFill>
              <a:srgbClr val="3D8D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4"/>
          <p:cNvSpPr/>
          <p:nvPr/>
        </p:nvSpPr>
        <p:spPr>
          <a:xfrm>
            <a:off x="11468100" y="4591050"/>
            <a:ext cx="342900" cy="190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000000"/>
                </a:solidFill>
                <a:latin typeface="Helvetica Neue"/>
                <a:ea typeface="Helvetica Neue"/>
                <a:cs typeface="Helvetica Neue"/>
                <a:sym typeface="Helvetica Neue"/>
              </a:rPr>
              <a:t>64</a:t>
            </a:r>
            <a:endParaRPr b="0" i="0" sz="1400" u="none" cap="none" strike="noStrike">
              <a:solidFill>
                <a:srgbClr val="000000"/>
              </a:solidFill>
              <a:latin typeface="Arial"/>
              <a:ea typeface="Arial"/>
              <a:cs typeface="Arial"/>
              <a:sym typeface="Arial"/>
            </a:endParaRPr>
          </a:p>
        </p:txBody>
      </p:sp>
      <p:sp>
        <p:nvSpPr>
          <p:cNvPr id="289" name="Google Shape;289;p14"/>
          <p:cNvSpPr/>
          <p:nvPr/>
        </p:nvSpPr>
        <p:spPr>
          <a:xfrm>
            <a:off x="8772525" y="4857750"/>
            <a:ext cx="104775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75"/>
              <a:buFont typeface="Arial"/>
              <a:buNone/>
            </a:pPr>
            <a:r>
              <a:rPr b="1" i="0" lang="en-US" sz="975" u="none" cap="none" strike="noStrike">
                <a:solidFill>
                  <a:srgbClr val="000000"/>
                </a:solidFill>
                <a:latin typeface="Helvetica Neue"/>
                <a:ea typeface="Helvetica Neue"/>
                <a:cs typeface="Helvetica Neue"/>
                <a:sym typeface="Helvetica Neue"/>
              </a:rPr>
              <a:t>Workers</a:t>
            </a:r>
            <a:endParaRPr b="0" i="0" sz="1400" u="none" cap="none" strike="noStrike">
              <a:solidFill>
                <a:srgbClr val="000000"/>
              </a:solidFill>
              <a:latin typeface="Arial"/>
              <a:ea typeface="Arial"/>
              <a:cs typeface="Arial"/>
              <a:sym typeface="Arial"/>
            </a:endParaRPr>
          </a:p>
        </p:txBody>
      </p:sp>
      <p:sp>
        <p:nvSpPr>
          <p:cNvPr id="290" name="Google Shape;290;p14"/>
          <p:cNvSpPr/>
          <p:nvPr/>
        </p:nvSpPr>
        <p:spPr>
          <a:xfrm>
            <a:off x="40005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14"/>
          <p:cNvSpPr/>
          <p:nvPr/>
        </p:nvSpPr>
        <p:spPr>
          <a:xfrm>
            <a:off x="60960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17.12%</a:t>
            </a:r>
            <a:endParaRPr b="0" i="0" sz="1400" u="none" cap="none" strike="noStrike">
              <a:solidFill>
                <a:srgbClr val="000000"/>
              </a:solidFill>
              <a:latin typeface="Arial"/>
              <a:ea typeface="Arial"/>
              <a:cs typeface="Arial"/>
              <a:sym typeface="Arial"/>
            </a:endParaRPr>
          </a:p>
        </p:txBody>
      </p:sp>
      <p:sp>
        <p:nvSpPr>
          <p:cNvPr id="292" name="Google Shape;292;p14"/>
          <p:cNvSpPr/>
          <p:nvPr/>
        </p:nvSpPr>
        <p:spPr>
          <a:xfrm>
            <a:off x="215265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5.764 → 33.661 s · hidden width = 128p</a:t>
            </a:r>
            <a:endParaRPr b="0" i="0" sz="1400" u="none" cap="none" strike="noStrike">
              <a:solidFill>
                <a:srgbClr val="000000"/>
              </a:solidFill>
              <a:latin typeface="Arial"/>
              <a:ea typeface="Arial"/>
              <a:cs typeface="Arial"/>
              <a:sym typeface="Arial"/>
            </a:endParaRPr>
          </a:p>
        </p:txBody>
      </p:sp>
      <p:sp>
        <p:nvSpPr>
          <p:cNvPr id="293" name="Google Shape;293;p14"/>
          <p:cNvSpPr/>
          <p:nvPr/>
        </p:nvSpPr>
        <p:spPr>
          <a:xfrm>
            <a:off x="6362700" y="5191125"/>
            <a:ext cx="5429250" cy="800100"/>
          </a:xfrm>
          <a:prstGeom prst="roundRect">
            <a:avLst>
              <a:gd fmla="val 952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4"/>
          <p:cNvSpPr/>
          <p:nvPr/>
        </p:nvSpPr>
        <p:spPr>
          <a:xfrm>
            <a:off x="6572250" y="5324475"/>
            <a:ext cx="14287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000000"/>
                </a:solidFill>
                <a:latin typeface="Helvetica Neue"/>
                <a:ea typeface="Helvetica Neue"/>
                <a:cs typeface="Helvetica Neue"/>
                <a:sym typeface="Helvetica Neue"/>
              </a:rPr>
              <a:t>40.77%</a:t>
            </a:r>
            <a:endParaRPr b="0" i="0" sz="1400" u="none" cap="none" strike="noStrike">
              <a:solidFill>
                <a:srgbClr val="000000"/>
              </a:solidFill>
              <a:latin typeface="Arial"/>
              <a:ea typeface="Arial"/>
              <a:cs typeface="Arial"/>
              <a:sym typeface="Arial"/>
            </a:endParaRPr>
          </a:p>
        </p:txBody>
      </p:sp>
      <p:sp>
        <p:nvSpPr>
          <p:cNvPr id="295" name="Google Shape;295;p14"/>
          <p:cNvSpPr/>
          <p:nvPr/>
        </p:nvSpPr>
        <p:spPr>
          <a:xfrm>
            <a:off x="8115300" y="5324475"/>
            <a:ext cx="3448050" cy="53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7.458 → 18.294 s · 500 samples per rank</a:t>
            </a:r>
            <a:endParaRPr b="0" i="0" sz="1400" u="none" cap="none" strike="noStrike">
              <a:solidFill>
                <a:srgbClr val="000000"/>
              </a:solidFill>
              <a:latin typeface="Arial"/>
              <a:ea typeface="Arial"/>
              <a:cs typeface="Arial"/>
              <a:sym typeface="Arial"/>
            </a:endParaRPr>
          </a:p>
        </p:txBody>
      </p:sp>
      <p:sp>
        <p:nvSpPr>
          <p:cNvPr id="296" name="Google Shape;296;p14"/>
          <p:cNvSpPr/>
          <p:nvPr/>
        </p:nvSpPr>
        <p:spPr>
          <a:xfrm>
            <a:off x="3429000" y="6115050"/>
            <a:ext cx="5334000" cy="2476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Different workload-growth rules → not a backend ranking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5"/>
          <p:cNvSpPr/>
          <p:nvPr/>
        </p:nvSpPr>
        <p:spPr>
          <a:xfrm>
            <a:off x="393668" y="344043"/>
            <a:ext cx="11404568"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0" i="0" lang="en-US" sz="3000" u="none" cap="none" strike="noStrike">
                <a:solidFill>
                  <a:srgbClr val="000000"/>
                </a:solidFill>
                <a:latin typeface="Helvetica Neue"/>
                <a:ea typeface="Helvetica Neue"/>
                <a:cs typeface="Helvetica Neue"/>
                <a:sym typeface="Helvetica Neue"/>
              </a:rPr>
              <a:t>Tile and batch choices reshape runtime</a:t>
            </a:r>
            <a:endParaRPr b="0" i="0" sz="1400" u="none" cap="none" strike="noStrike">
              <a:solidFill>
                <a:srgbClr val="000000"/>
              </a:solidFill>
              <a:latin typeface="Arial"/>
              <a:ea typeface="Arial"/>
              <a:cs typeface="Arial"/>
              <a:sym typeface="Arial"/>
            </a:endParaRPr>
          </a:p>
        </p:txBody>
      </p:sp>
      <p:sp>
        <p:nvSpPr>
          <p:cNvPr id="303" name="Google Shape;303;p15"/>
          <p:cNvSpPr/>
          <p:nvPr/>
        </p:nvSpPr>
        <p:spPr>
          <a:xfrm>
            <a:off x="11279315" y="6279261"/>
            <a:ext cx="518922" cy="241268"/>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z="1000" u="none" cap="none" strike="noStrike">
                <a:solidFill>
                  <a:srgbClr val="000000"/>
                </a:solidFill>
                <a:latin typeface="Helvetica Neue"/>
                <a:ea typeface="Helvetica Neue"/>
                <a:cs typeface="Helvetica Neue"/>
                <a:sym typeface="Helvetica Neue"/>
              </a:rPr>
              <a:t>12</a:t>
            </a:r>
            <a:endParaRPr b="0" i="0" sz="1400" u="none" cap="none" strike="noStrike">
              <a:solidFill>
                <a:srgbClr val="000000"/>
              </a:solidFill>
              <a:latin typeface="Arial"/>
              <a:ea typeface="Arial"/>
              <a:cs typeface="Arial"/>
              <a:sym typeface="Arial"/>
            </a:endParaRPr>
          </a:p>
        </p:txBody>
      </p:sp>
      <p:sp>
        <p:nvSpPr>
          <p:cNvPr id="304" name="Google Shape;304;p15"/>
          <p:cNvSpPr/>
          <p:nvPr/>
        </p:nvSpPr>
        <p:spPr>
          <a:xfrm>
            <a:off x="323850" y="1352550"/>
            <a:ext cx="7343775" cy="4248150"/>
          </a:xfrm>
          <a:prstGeom prst="roundRect">
            <a:avLst>
              <a:gd fmla="val 1794" name="adj"/>
            </a:avLst>
          </a:prstGeom>
          <a:solidFill>
            <a:srgbClr val="FFFFFF"/>
          </a:solidFill>
          <a:ln cap="flat" cmpd="sng" w="9525">
            <a:solidFill>
              <a:srgbClr val="B8BCC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5" name="Google Shape;305;p15"/>
          <p:cNvPicPr preferRelativeResize="0"/>
          <p:nvPr/>
        </p:nvPicPr>
        <p:blipFill rotWithShape="1">
          <a:blip r:embed="rId3">
            <a:alphaModFix/>
          </a:blip>
          <a:srcRect b="0" l="0" r="0" t="0"/>
          <a:stretch/>
        </p:blipFill>
        <p:spPr>
          <a:xfrm>
            <a:off x="682440" y="1428750"/>
            <a:ext cx="6626594" cy="4095750"/>
          </a:xfrm>
          <a:prstGeom prst="rect">
            <a:avLst/>
          </a:prstGeom>
          <a:noFill/>
          <a:ln>
            <a:noFill/>
          </a:ln>
        </p:spPr>
      </p:pic>
      <p:sp>
        <p:nvSpPr>
          <p:cNvPr id="306" name="Google Shape;306;p15"/>
          <p:cNvSpPr/>
          <p:nvPr/>
        </p:nvSpPr>
        <p:spPr>
          <a:xfrm>
            <a:off x="8001000" y="142875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5"/>
          <p:cNvSpPr/>
          <p:nvPr/>
        </p:nvSpPr>
        <p:spPr>
          <a:xfrm>
            <a:off x="8229600" y="16002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3D8DFF"/>
                </a:solidFill>
                <a:latin typeface="Helvetica Neue"/>
                <a:ea typeface="Helvetica Neue"/>
                <a:cs typeface="Helvetica Neue"/>
                <a:sym typeface="Helvetica Neue"/>
              </a:rPr>
              <a:t>tile 256</a:t>
            </a:r>
            <a:endParaRPr b="0" i="0" sz="1400" u="none" cap="none" strike="noStrike">
              <a:solidFill>
                <a:srgbClr val="000000"/>
              </a:solidFill>
              <a:latin typeface="Arial"/>
              <a:ea typeface="Arial"/>
              <a:cs typeface="Arial"/>
              <a:sym typeface="Arial"/>
            </a:endParaRPr>
          </a:p>
        </p:txBody>
      </p:sp>
      <p:sp>
        <p:nvSpPr>
          <p:cNvPr id="308" name="Google Shape;308;p15"/>
          <p:cNvSpPr/>
          <p:nvPr/>
        </p:nvSpPr>
        <p:spPr>
          <a:xfrm>
            <a:off x="8229600" y="22669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fastest tested at 1, 16 and 64 ranks</a:t>
            </a:r>
            <a:endParaRPr b="0" i="0" sz="1400" u="none" cap="none" strike="noStrike">
              <a:solidFill>
                <a:srgbClr val="000000"/>
              </a:solidFill>
              <a:latin typeface="Arial"/>
              <a:ea typeface="Arial"/>
              <a:cs typeface="Arial"/>
              <a:sym typeface="Arial"/>
            </a:endParaRPr>
          </a:p>
        </p:txBody>
      </p:sp>
      <p:sp>
        <p:nvSpPr>
          <p:cNvPr id="309" name="Google Shape;309;p15"/>
          <p:cNvSpPr/>
          <p:nvPr/>
        </p:nvSpPr>
        <p:spPr>
          <a:xfrm>
            <a:off x="8001000" y="2857500"/>
            <a:ext cx="3790950" cy="1238250"/>
          </a:xfrm>
          <a:prstGeom prst="roundRect">
            <a:avLst>
              <a:gd fmla="val 6154"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15"/>
          <p:cNvSpPr/>
          <p:nvPr/>
        </p:nvSpPr>
        <p:spPr>
          <a:xfrm>
            <a:off x="8229600" y="302895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000000"/>
                </a:solidFill>
                <a:latin typeface="Helvetica Neue"/>
                <a:ea typeface="Helvetica Neue"/>
                <a:cs typeface="Helvetica Neue"/>
                <a:sym typeface="Helvetica Neue"/>
              </a:rPr>
              <a:t>8.66–13.37%</a:t>
            </a:r>
            <a:endParaRPr b="0" i="0" sz="1400" u="none" cap="none" strike="noStrike">
              <a:solidFill>
                <a:srgbClr val="000000"/>
              </a:solidFill>
              <a:latin typeface="Arial"/>
              <a:ea typeface="Arial"/>
              <a:cs typeface="Arial"/>
              <a:sym typeface="Arial"/>
            </a:endParaRPr>
          </a:p>
        </p:txBody>
      </p:sp>
      <p:sp>
        <p:nvSpPr>
          <p:cNvPr id="311" name="Google Shape;311;p15"/>
          <p:cNvSpPr/>
          <p:nvPr/>
        </p:nvSpPr>
        <p:spPr>
          <a:xfrm>
            <a:off x="8229600" y="369570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faster than tile 64</a:t>
            </a:r>
            <a:endParaRPr b="0" i="0" sz="1400" u="none" cap="none" strike="noStrike">
              <a:solidFill>
                <a:srgbClr val="000000"/>
              </a:solidFill>
              <a:latin typeface="Arial"/>
              <a:ea typeface="Arial"/>
              <a:cs typeface="Arial"/>
              <a:sym typeface="Arial"/>
            </a:endParaRPr>
          </a:p>
        </p:txBody>
      </p:sp>
      <p:sp>
        <p:nvSpPr>
          <p:cNvPr id="312" name="Google Shape;312;p15"/>
          <p:cNvSpPr/>
          <p:nvPr/>
        </p:nvSpPr>
        <p:spPr>
          <a:xfrm>
            <a:off x="8001000" y="4286250"/>
            <a:ext cx="3790950" cy="1238250"/>
          </a:xfrm>
          <a:prstGeom prst="roundRect">
            <a:avLst>
              <a:gd fmla="val 6154" name="adj"/>
            </a:avLst>
          </a:prstGeom>
          <a:solidFill>
            <a:srgbClr val="EAF5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5"/>
          <p:cNvSpPr/>
          <p:nvPr/>
        </p:nvSpPr>
        <p:spPr>
          <a:xfrm>
            <a:off x="8229600" y="4457700"/>
            <a:ext cx="3333750" cy="59055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325"/>
              <a:buFont typeface="Arial"/>
              <a:buNone/>
            </a:pPr>
            <a:r>
              <a:rPr b="1" i="0" lang="en-US" sz="2325" u="none" cap="none" strike="noStrike">
                <a:solidFill>
                  <a:srgbClr val="000000"/>
                </a:solidFill>
                <a:latin typeface="Helvetica Neue"/>
                <a:ea typeface="Helvetica Neue"/>
                <a:cs typeface="Helvetica Neue"/>
                <a:sym typeface="Helvetica Neue"/>
              </a:rPr>
              <a:t>larger batch</a:t>
            </a:r>
            <a:endParaRPr b="0" i="0" sz="1400" u="none" cap="none" strike="noStrike">
              <a:solidFill>
                <a:srgbClr val="000000"/>
              </a:solidFill>
              <a:latin typeface="Arial"/>
              <a:ea typeface="Arial"/>
              <a:cs typeface="Arial"/>
              <a:sym typeface="Arial"/>
            </a:endParaRPr>
          </a:p>
        </p:txBody>
      </p:sp>
      <p:sp>
        <p:nvSpPr>
          <p:cNvPr id="314" name="Google Shape;314;p15"/>
          <p:cNvSpPr/>
          <p:nvPr/>
        </p:nvSpPr>
        <p:spPr>
          <a:xfrm>
            <a:off x="8229600" y="5124450"/>
            <a:ext cx="33337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5B616B"/>
                </a:solidFill>
                <a:latin typeface="Helvetica Neue"/>
                <a:ea typeface="Helvetica Neue"/>
                <a:cs typeface="Helvetica Neue"/>
                <a:sym typeface="Helvetica Neue"/>
              </a:rPr>
              <a:t>fewer update and synchronization rounds</a:t>
            </a:r>
            <a:endParaRPr b="0" i="0" sz="1400" u="none" cap="none" strike="noStrike">
              <a:solidFill>
                <a:srgbClr val="000000"/>
              </a:solidFill>
              <a:latin typeface="Arial"/>
              <a:ea typeface="Arial"/>
              <a:cs typeface="Arial"/>
              <a:sym typeface="Arial"/>
            </a:endParaRPr>
          </a:p>
        </p:txBody>
      </p:sp>
      <p:sp>
        <p:nvSpPr>
          <p:cNvPr id="315" name="Google Shape;315;p15"/>
          <p:cNvSpPr/>
          <p:nvPr/>
        </p:nvSpPr>
        <p:spPr>
          <a:xfrm>
            <a:off x="400050" y="5772150"/>
            <a:ext cx="11391900" cy="400050"/>
          </a:xfrm>
          <a:prstGeom prst="roundRect">
            <a:avLst>
              <a:gd fmla="val 14286" name="adj"/>
            </a:avLst>
          </a:pr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5"/>
          <p:cNvSpPr/>
          <p:nvPr/>
        </p:nvSpPr>
        <p:spPr>
          <a:xfrm>
            <a:off x="609600" y="5876925"/>
            <a:ext cx="10972800" cy="20955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50"/>
              <a:buFont typeface="Arial"/>
              <a:buNone/>
            </a:pPr>
            <a:r>
              <a:rPr b="1" i="0" lang="en-US" sz="1350" u="none" cap="none" strike="noStrike">
                <a:solidFill>
                  <a:srgbClr val="000000"/>
                </a:solidFill>
                <a:latin typeface="Helvetica Neue"/>
                <a:ea typeface="Helvetica Neue"/>
                <a:cs typeface="Helvetica Neue"/>
                <a:sym typeface="Helvetica Neue"/>
              </a:rPr>
              <a:t>Configuration choices are part of the experiment—not neutral implementation details.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1" name="Shape 321"/>
        <p:cNvGrpSpPr/>
        <p:nvPr/>
      </p:nvGrpSpPr>
      <p:grpSpPr>
        <a:xfrm>
          <a:off x="0" y="0"/>
          <a:ext cx="0" cy="0"/>
          <a:chOff x="0" y="0"/>
          <a:chExt cx="0" cy="0"/>
        </a:xfrm>
      </p:grpSpPr>
      <p:sp>
        <p:nvSpPr>
          <p:cNvPr id="322" name="Google Shape;322;p16"/>
          <p:cNvSpPr/>
          <p:nvPr/>
        </p:nvSpPr>
        <p:spPr>
          <a:xfrm>
            <a:off x="393668" y="1738789"/>
            <a:ext cx="9448800" cy="2491454"/>
          </a:xfrm>
          <a:prstGeom prst="rect">
            <a:avLst/>
          </a:prstGeom>
          <a:noFill/>
          <a:ln>
            <a:noFill/>
          </a:ln>
        </p:spPr>
        <p:txBody>
          <a:bodyPr anchorCtr="0" anchor="b" bIns="0" lIns="0" spcFirstLastPara="1" rIns="0" wrap="square" tIns="0">
            <a:noAutofit/>
          </a:bodyPr>
          <a:lstStyle/>
          <a:p>
            <a:pPr indent="0" lvl="0" marL="0" marR="0" rtl="0" algn="l">
              <a:lnSpc>
                <a:spcPct val="90000"/>
              </a:lnSpc>
              <a:spcBef>
                <a:spcPts val="0"/>
              </a:spcBef>
              <a:spcAft>
                <a:spcPts val="0"/>
              </a:spcAft>
              <a:buClr>
                <a:srgbClr val="000000"/>
              </a:buClr>
              <a:buSzPts val="5100"/>
              <a:buFont typeface="Helvetica Neue"/>
              <a:buNone/>
            </a:pPr>
            <a:r>
              <a:rPr b="1" lang="en-US" sz="3900">
                <a:latin typeface="Helvetica Neue"/>
                <a:ea typeface="Helvetica Neue"/>
                <a:cs typeface="Helvetica Neue"/>
                <a:sym typeface="Helvetica Neue"/>
              </a:rPr>
              <a:t>The locality provided by tiling leads to speedup, which can be furthered </a:t>
            </a:r>
            <a:r>
              <a:rPr b="1" lang="en-US" sz="3900">
                <a:latin typeface="Helvetica Neue"/>
                <a:ea typeface="Helvetica Neue"/>
                <a:cs typeface="Helvetica Neue"/>
                <a:sym typeface="Helvetica Neue"/>
              </a:rPr>
              <a:t>through</a:t>
            </a:r>
            <a:r>
              <a:rPr b="1" lang="en-US" sz="3900">
                <a:latin typeface="Helvetica Neue"/>
                <a:ea typeface="Helvetica Neue"/>
                <a:cs typeface="Helvetica Neue"/>
                <a:sym typeface="Helvetica Neue"/>
              </a:rPr>
              <a:t> multi-threading</a:t>
            </a:r>
            <a:endParaRPr b="0" i="0" sz="200" u="none" cap="none" strike="noStrike">
              <a:solidFill>
                <a:srgbClr val="000000"/>
              </a:solidFill>
              <a:latin typeface="Arial"/>
              <a:ea typeface="Arial"/>
              <a:cs typeface="Arial"/>
              <a:sym typeface="Arial"/>
            </a:endParaRPr>
          </a:p>
        </p:txBody>
      </p:sp>
      <p:sp>
        <p:nvSpPr>
          <p:cNvPr id="323" name="Google Shape;323;p16"/>
          <p:cNvSpPr/>
          <p:nvPr/>
        </p:nvSpPr>
        <p:spPr>
          <a:xfrm>
            <a:off x="393668" y="4973288"/>
            <a:ext cx="3568732" cy="10802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D8DFF"/>
              </a:buClr>
              <a:buSzPts val="1650"/>
              <a:buFont typeface="Helvetica Neue"/>
              <a:buNone/>
            </a:pPr>
            <a:r>
              <a:rPr b="1" i="0" lang="en-US" sz="1650" u="none" cap="none" strike="noStrike">
                <a:solidFill>
                  <a:srgbClr val="3D8DFF"/>
                </a:solidFill>
                <a:latin typeface="Helvetica Neue"/>
                <a:ea typeface="Helvetica Neue"/>
                <a:cs typeface="Helvetica Neue"/>
                <a:sym typeface="Helvetica Neue"/>
              </a:rPr>
              <a:t>≈3× from locality before parallelism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OpenMP depends on matrix shape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50"/>
              <a:buFont typeface="Helvetica Neue"/>
              <a:buNone/>
            </a:pPr>
            <a:r>
              <a:rPr b="1" i="0" lang="en-US" sz="1650" u="none" cap="none" strike="noStrike">
                <a:solidFill>
                  <a:srgbClr val="000000"/>
                </a:solidFill>
                <a:latin typeface="Helvetica Neue"/>
                <a:ea typeface="Helvetica Neue"/>
                <a:cs typeface="Helvetica Neue"/>
                <a:sym typeface="Helvetica Neue"/>
              </a:rPr>
              <a:t>MPI rank count also changes batch semantics</a:t>
            </a:r>
            <a:endParaRPr b="0" i="0" sz="1400" u="none" cap="none" strike="noStrike">
              <a:solidFill>
                <a:srgbClr val="000000"/>
              </a:solidFill>
              <a:latin typeface="Arial"/>
              <a:ea typeface="Arial"/>
              <a:cs typeface="Arial"/>
              <a:sym typeface="Arial"/>
            </a:endParaRPr>
          </a:p>
        </p:txBody>
      </p:sp>
      <p:sp>
        <p:nvSpPr>
          <p:cNvPr id="324" name="Google Shape;324;p16"/>
          <p:cNvSpPr/>
          <p:nvPr/>
        </p:nvSpPr>
        <p:spPr>
          <a:xfrm>
            <a:off x="393668" y="392240"/>
            <a:ext cx="1612868" cy="6491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16B"/>
              </a:buClr>
              <a:buSzPts val="1350"/>
              <a:buFont typeface="Helvetica Neue"/>
              <a:buNone/>
            </a:pPr>
            <a:r>
              <a:rPr b="1" i="0" lang="en-US" sz="1350" u="none" cap="none" strike="noStrike">
                <a:solidFill>
                  <a:srgbClr val="5B616B"/>
                </a:solidFill>
                <a:latin typeface="Helvetica Neue"/>
                <a:ea typeface="Helvetica Neue"/>
                <a:cs typeface="Helvetica Neue"/>
                <a:sym typeface="Helvetica Neue"/>
              </a:rPr>
              <a:t>CONCLUSION</a:t>
            </a:r>
            <a:endParaRPr b="0" i="0" sz="1400" u="none" cap="none" strike="noStrike">
              <a:solidFill>
                <a:srgbClr val="000000"/>
              </a:solidFill>
              <a:latin typeface="Arial"/>
              <a:ea typeface="Arial"/>
              <a:cs typeface="Arial"/>
              <a:sym typeface="Arial"/>
            </a:endParaRPr>
          </a:p>
        </p:txBody>
      </p:sp>
      <p:sp>
        <p:nvSpPr>
          <p:cNvPr id="325" name="Google Shape;325;p16"/>
          <p:cNvSpPr/>
          <p:nvPr/>
        </p:nvSpPr>
        <p:spPr>
          <a:xfrm>
            <a:off x="7572375" y="4762500"/>
            <a:ext cx="4219575" cy="1238250"/>
          </a:xfrm>
          <a:prstGeom prst="roundRect">
            <a:avLst>
              <a:gd fmla="val 6154" name="adj"/>
            </a:avLst>
          </a:prstGeom>
          <a:solidFill>
            <a:srgbClr val="EAF5FB"/>
          </a:solidFill>
          <a:ln cap="flat" cmpd="sng" w="9525">
            <a:solidFill>
              <a:srgbClr val="6DCB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6"/>
          <p:cNvSpPr/>
          <p:nvPr/>
        </p:nvSpPr>
        <p:spPr>
          <a:xfrm>
            <a:off x="7848600" y="4981575"/>
            <a:ext cx="1714500" cy="2476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3D8DFF"/>
                </a:solidFill>
                <a:latin typeface="Helvetica Neue"/>
                <a:ea typeface="Helvetica Neue"/>
                <a:cs typeface="Helvetica Neue"/>
                <a:sym typeface="Helvetica Neue"/>
              </a:rPr>
              <a:t>Next experiment</a:t>
            </a:r>
            <a:endParaRPr b="0" i="0" sz="1400" u="none" cap="none" strike="noStrike">
              <a:solidFill>
                <a:srgbClr val="000000"/>
              </a:solidFill>
              <a:latin typeface="Arial"/>
              <a:ea typeface="Arial"/>
              <a:cs typeface="Arial"/>
              <a:sym typeface="Arial"/>
            </a:endParaRPr>
          </a:p>
        </p:txBody>
      </p:sp>
      <p:sp>
        <p:nvSpPr>
          <p:cNvPr id="327" name="Google Shape;327;p16"/>
          <p:cNvSpPr/>
          <p:nvPr/>
        </p:nvSpPr>
        <p:spPr>
          <a:xfrm>
            <a:off x="7848600" y="5314950"/>
            <a:ext cx="3638550" cy="4762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25"/>
              <a:buFont typeface="Arial"/>
              <a:buNone/>
            </a:pPr>
            <a:r>
              <a:rPr b="0" i="0" lang="en-US" sz="1425" u="none" cap="none" strike="noStrike">
                <a:solidFill>
                  <a:srgbClr val="5B616B"/>
                </a:solidFill>
                <a:latin typeface="Helvetica Neue"/>
                <a:ea typeface="Helvetica Neue"/>
                <a:cs typeface="Helvetica Neue"/>
                <a:sym typeface="Helvetica Neue"/>
              </a:rPr>
              <a:t>hybrid MPI + OpenMP</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